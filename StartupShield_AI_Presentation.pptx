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Churn</c:v>
                </c:pt>
              </c:strCache>
            </c:strRef>
          </c:tx>
          <c:spPr>
            <a:solidFill>
              <a:srgbClr val="CE4A3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GreenLeaf SaaS</c:v>
                  </c:pt>
                  <c:pt idx="1">
                    <c:v>MixedCo</c:v>
                  </c:pt>
                  <c:pt idx="2">
                    <c:v>RedFlag Analytics</c:v>
                  </c:pt>
                </c:lvl>
              </c:multiLvlStrCache>
            </c:multiLvlStrRef>
          </c:cat>
          <c:val>
            <c:numRef>
              <c:f>Sheet1!$B$2:$B$4</c:f>
              <c:numCache>
                <c:formatCode>General</c:formatCode>
                <c:ptCount val="3"/>
                <c:pt idx="0">
                  <c:v>7.89</c:v>
                </c:pt>
                <c:pt idx="1">
                  <c:v>15.36</c:v>
                </c:pt>
                <c:pt idx="2">
                  <c:v>31.68</c:v>
                </c:pt>
              </c:numCache>
            </c:numRef>
          </c:val>
        </c:ser>
        <c:ser>
          <c:idx val="1"/>
          <c:order val="1"/>
          <c:tx>
            <c:strRef>
              <c:f>Sheet1!$C$1</c:f>
              <c:strCache>
                <c:ptCount val="1"/>
                <c:pt idx="0">
                  <c:v>Sentiment</c:v>
                </c:pt>
              </c:strCache>
            </c:strRef>
          </c:tx>
          <c:spPr>
            <a:solidFill>
              <a:srgbClr val="E39A1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GreenLeaf SaaS</c:v>
                  </c:pt>
                  <c:pt idx="1">
                    <c:v>MixedCo</c:v>
                  </c:pt>
                  <c:pt idx="2">
                    <c:v>RedFlag Analytics</c:v>
                  </c:pt>
                </c:lvl>
              </c:multiLvlStrCache>
            </c:multiLvlStrRef>
          </c:cat>
          <c:val>
            <c:numRef>
              <c:f>Sheet1!$C$2:$C$4</c:f>
              <c:numCache>
                <c:formatCode>General</c:formatCode>
                <c:ptCount val="3"/>
                <c:pt idx="0">
                  <c:v>4.21</c:v>
                </c:pt>
                <c:pt idx="1">
                  <c:v>9.99</c:v>
                </c:pt>
                <c:pt idx="2">
                  <c:v>14.77</c:v>
                </c:pt>
              </c:numCache>
            </c:numRef>
          </c:val>
        </c:ser>
        <c:ser>
          <c:idx val="2"/>
          <c:order val="2"/>
          <c:tx>
            <c:strRef>
              <c:f>Sheet1!$D$1</c:f>
              <c:strCache>
                <c:ptCount val="1"/>
                <c:pt idx="0">
                  <c:v>Anomalies</c:v>
                </c:pt>
              </c:strCache>
            </c:strRef>
          </c:tx>
          <c:spPr>
            <a:solidFill>
              <a:srgbClr val="2E9E6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GreenLeaf SaaS</c:v>
                  </c:pt>
                  <c:pt idx="1">
                    <c:v>MixedCo</c:v>
                  </c:pt>
                  <c:pt idx="2">
                    <c:v>RedFlag Analytics</c:v>
                  </c:pt>
                </c:lvl>
              </c:multiLvlStrCache>
            </c:multiLvlStrRef>
          </c:cat>
          <c:val>
            <c:numRef>
              <c:f>Sheet1!$D$2:$D$4</c:f>
              <c:numCache>
                <c:formatCode>General</c:formatCode>
                <c:ptCount val="3"/>
                <c:pt idx="0">
                  <c:v>6.67</c:v>
                </c:pt>
                <c:pt idx="1">
                  <c:v>0</c:v>
                </c:pt>
                <c:pt idx="2">
                  <c:v>6.67</c:v>
                </c:pt>
              </c:numCache>
            </c:numRef>
          </c:val>
        </c:ser>
        <c:ser>
          <c:idx val="3"/>
          <c:order val="3"/>
          <c:tx>
            <c:strRef>
              <c:f>Sheet1!$E$1</c:f>
              <c:strCache>
                <c:ptCount val="1"/>
                <c:pt idx="0">
                  <c:v>Forecast</c:v>
                </c:pt>
              </c:strCache>
            </c:strRef>
          </c:tx>
          <c:spPr>
            <a:solidFill>
              <a:srgbClr val="5B8DE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GreenLeaf SaaS</c:v>
                  </c:pt>
                  <c:pt idx="1">
                    <c:v>MixedCo</c:v>
                  </c:pt>
                  <c:pt idx="2">
                    <c:v>RedFlag Analytics</c:v>
                  </c:pt>
                </c:lvl>
              </c:multiLvlStrCache>
            </c:multiLvlStrRef>
          </c:cat>
          <c:val>
            <c:numRef>
              <c:f>Sheet1!$E$2:$E$4</c:f>
              <c:numCache>
                <c:formatCode>General</c:formatCode>
                <c:ptCount val="3"/>
                <c:pt idx="0">
                  <c:v>0</c:v>
                </c:pt>
                <c:pt idx="1">
                  <c:v>0</c:v>
                </c:pt>
                <c:pt idx="2">
                  <c:v>4.31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2B3A4A"/>
                </a:solidFill>
                <a:latin typeface="Calibri"/>
              </a:defRPr>
            </a:pPr>
            <a:endParaRPr lang="en-US"/>
          </a:p>
        </c:txPr>
        <c:crossAx val="2094734552"/>
        <c:crosses val="autoZero"/>
        <c:auto val="1"/>
        <c:lblAlgn val="ctr"/>
        <c:noMultiLvlLbl val="1"/>
      </c:catAx>
      <c:valAx>
        <c:axId val="2094734552"/>
        <c:scaling>
          <c:orientation val="minMax"/>
          <c:max val="60"/>
        </c:scaling>
        <c:delete val="0"/>
        <c:axPos val="b"/>
        <c:majorGridlines>
          <c:spPr>
            <a:ln w="12700" cap="flat">
              <a:solidFill>
                <a:srgbClr val="DCE4EC"/>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50" b="0" i="0" u="none" strike="noStrike">
                <a:solidFill>
                  <a:srgbClr val="3E5C76"/>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3A4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0D1B2A"/>
                </a:solidFill>
                <a:latin typeface="Arial"/>
              </a:defRPr>
            </a:pPr>
            <a:r>
              <a:rPr sz="1250" b="0" i="0" u="none" strike="noStrike">
                <a:solidFill>
                  <a:srgbClr val="0D1B2A"/>
                </a:solidFill>
                <a:latin typeface="Arial"/>
              </a:rPr>
              <a:t>Forecast error vs. baseline</a:t>
            </a:r>
          </a:p>
        </c:rich>
      </c:tx>
      <c:layout/>
      <c:overlay val="0"/>
    </c:title>
    <c:autoTitleDeleted val="0"/>
    <c:plotArea>
      <c:layout/>
      <c:barChart>
        <c:barDir val="col"/>
        <c:grouping val="clustered"/>
        <c:varyColors val="0"/>
        <c:ser>
          <c:idx val="0"/>
          <c:order val="0"/>
          <c:tx>
            <c:strRef>
              <c:f>Sheet1!$B$1</c:f>
              <c:strCache>
                <c:ptCount val="1"/>
                <c:pt idx="0">
                  <c:v>Mean MAPE (%)</c:v>
                </c:pt>
              </c:strCache>
            </c:strRef>
          </c:tx>
          <c:spPr>
            <a:solidFill>
              <a:srgbClr val="16324F"/>
            </a:solidFill>
            <a:effectLst/>
          </c:spPr>
          <c:invertIfNegative val="0"/>
          <c:dLbls>
            <c:numFmt formatCode="0.00" sourceLinked="0"/>
            <c:txPr>
              <a:bodyPr/>
              <a:lstStyle/>
              <a:p>
                <a:pPr>
                  <a:defRPr b="0" i="0" strike="noStrike" sz="1000" u="none">
                    <a:solidFill>
                      <a:srgbClr val="2B3A4A"/>
                    </a:solidFill>
                    <a:latin typeface="Calibri"/>
                  </a:defRPr>
                </a:pPr>
              </a:p>
            </c:txPr>
            <c:showLegendKey val="0"/>
            <c:showVal val="1"/>
            <c:showCatName val="0"/>
            <c:showSerName val="0"/>
            <c:showPercent val="0"/>
            <c:showBubbleSize val="0"/>
            <c:showLeaderLines val="0"/>
          </c:dLbls>
          <c:dPt>
            <c:idx val="0"/>
            <c:invertIfNegative val="0"/>
            <c:bubble3D val="0"/>
            <c:spPr>
              <a:solidFill>
                <a:srgbClr val="16324F"/>
              </a:solidFill>
              <a:effectLst/>
            </c:spPr>
          </c:dPt>
          <c:dPt>
            <c:idx val="1"/>
            <c:invertIfNegative val="0"/>
            <c:bubble3D val="0"/>
            <c:spPr>
              <a:solidFill>
                <a:srgbClr val="16324F"/>
              </a:solidFill>
              <a:effectLst/>
            </c:spPr>
          </c:dPt>
          <c:dPt>
            <c:idx val="2"/>
            <c:invertIfNegative val="0"/>
            <c:bubble3D val="0"/>
            <c:spPr>
              <a:solidFill>
                <a:srgbClr val="16324F"/>
              </a:solidFill>
              <a:effectLst/>
            </c:spPr>
          </c:dPt>
          <c:dPt>
            <c:idx val="3"/>
            <c:invertIfNegative val="0"/>
            <c:bubble3D val="0"/>
            <c:spPr>
              <a:solidFill>
                <a:srgbClr val="CE4A3E"/>
              </a:solidFill>
              <a:effectLst/>
            </c:spPr>
          </c:dPt>
          <c:cat>
            <c:multiLvlStrRef>
              <c:f>Sheet1!$A$2:$A$5</c:f>
              <c:multiLvlStrCache>
                <c:ptCount val="4"/>
                <c:lvl>
                  <c:pt idx="0">
                    <c:v>ETS</c:v>
                  </c:pt>
                  <c:pt idx="1">
                    <c:v>Prophet</c:v>
                  </c:pt>
                  <c:pt idx="2">
                    <c:v>Seasonal naive</c:v>
                  </c:pt>
                  <c:pt idx="3">
                    <c:v>Naive baseline</c:v>
                  </c:pt>
                </c:lvl>
              </c:multiLvlStrCache>
            </c:multiLvlStrRef>
          </c:cat>
          <c:val>
            <c:numRef>
              <c:f>Sheet1!$B$2:$B$5</c:f>
              <c:numCache>
                <c:formatCode>General</c:formatCode>
                <c:ptCount val="4"/>
                <c:pt idx="0">
                  <c:v>4.48</c:v>
                </c:pt>
                <c:pt idx="1">
                  <c:v>4.59</c:v>
                </c:pt>
                <c:pt idx="2">
                  <c:v>5.19</c:v>
                </c:pt>
                <c:pt idx="3">
                  <c:v>13.05</c:v>
                </c:pt>
              </c:numCache>
            </c:numRef>
          </c:val>
        </c:ser>
        <c:dLbls>
          <c:numFmt formatCode="0.00" sourceLinked="0"/>
          <c:txPr>
            <a:bodyPr/>
            <a:lstStyle/>
            <a:p>
              <a:pPr>
                <a:defRPr b="0" i="0" strike="noStrike" sz="1000" u="none">
                  <a:solidFill>
                    <a:srgbClr val="2B3A4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50" b="0" i="0" u="none" strike="noStrike">
                <a:solidFill>
                  <a:srgbClr val="2B3A4A"/>
                </a:solidFill>
                <a:latin typeface="Calibri"/>
              </a:defRPr>
            </a:pPr>
            <a:endParaRPr lang="en-US"/>
          </a:p>
        </c:txPr>
        <c:crossAx val="2094734552"/>
        <c:crosses val="autoZero"/>
        <c:auto val="1"/>
        <c:lblAlgn val="ctr"/>
        <c:noMultiLvlLbl val="1"/>
      </c:catAx>
      <c:valAx>
        <c:axId val="2094734552"/>
        <c:scaling>
          <c:orientation val="minMax"/>
          <c:max val="15"/>
          <c:min val="0"/>
        </c:scaling>
        <c:delete val="0"/>
        <c:axPos val="l"/>
        <c:majorGridlines>
          <c:spPr>
            <a:ln w="12700" cap="flat">
              <a:solidFill>
                <a:srgbClr val="DCE4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50" b="0" i="0" u="none" strike="noStrike">
                <a:solidFill>
                  <a:srgbClr val="3E5C7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StartupShield AI is a risk-monitoring dashboard for startups and SaaS companies. Four independent AI models — churn, sentiment, anomaly detection and forecasting — feed a single 0 to 100 risk score. Under 30 is Low, 30 to 60 is Medium, above 60 is High. Every score comes with a plain-language reason and a prioritised action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that predicts trouble already exists — it is just scattered. Churn lives in the CRM, sentiment in the support inbox, revenue in Stripe, growth in analytics. Each tool is individually correct and collectively useless, because no single one of them can tell you that rising support tickets, falling review scores and a soft revenue week are the same story. A larger company pays an analyst to join those dots. An early-stage team has nobody, so the signal is only read in hindsight.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upload what you already have — customers, reviews, daily revenue — and the score comes back in under a second. This is real output from the demo company RedFlag Analytics: 57.4, Medium risk. Crucially it does not stop at the number. SHAP tells you which features drove it, the explanation puts that in plain English, and the recommendation engine returns a prioritised action list. The founder gets one number, one reason, and three things to do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models, each solving a different problem, each independently validated. Churn is a per-customer classifier. Sentiment is a text classifier over reviews. Anomaly detection is unsupervised — it learns what a normal day looks like and flags what isn't. Forecasting projects 30 days ahead with a confidence band. The aggregator combines all four into a score, SHAP explains it, and the recommendation engine turns it into an action list. Every stage is a separate, testable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scoring formula — there is nothing hidden behind it. Churn carries the most weight at 35 percent, forecast downside 25, sentiment and anomalies 20 each, and those weights live in a config file so they can be retuned per company without retraining a thing. Two honest points. First, signals are rescaled to comparable ranges before weighting — churn probability naturally spans a much wider range than the anomaly ratio, so without rescaling churn would swamp the score no matter what the weights said. Second, this is a formula, not a learned meta-model, because there is no labelled dataset of companies that failed to train one on. That is a product judgement, and we document it rather than dress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demo companies, and the point is that they come out genuinely different. RedFlag Analytics scores 57.4 — Medium — with 91 percent churn probability and only 26 percent review positivity. GreenLeaf sits at 18.8, Low. The stacked bars show where each score comes from: churn is the dominant contributor for RedFlag, but GreenLeaf's smaller score is proportionally more about a flagged anomalous day. One thing worth saying — these portfolios are sliced on behavioural features like usage and support tickets, never on model output. The models still have to discover the risk for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module cleared its target. Churn: LightGBM at 0.8535 ROC-AUC, selected by comparing seven candidate models. Anomaly recall of 1.0 — it caught every injected anomaly. Forecasting beats the naive baseline on all three companies, 4.6 percent mean error against 13 percent. Now the part most decks leave out. The sentiment macro-F1 of 1.0 is not a triumph — it is an artifact of template-generated review text, and it will drop on real reviews. Anomaly precision is only 0.15, which is a mechanical consequence of telling the model to flag 3 percent of days. Both are written into the reports rather than buried, because a metric you cannot explain is a metric you cannot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can train a churn model. The reason most of these projects never get used is the last mile — real exports have real column names and nobody wants to rename thirty of them. So smart import detects what each column means, derives tenure from whatever date column exists, and aggregates per-ticket exports into per-customer counts automatically. Missing data degrades instead of crashing: too little history and the forecast term is simply dropped, with the reason shown on screen. And nothing is written to disk or sent anywhere — scoring happens in-session, and the only output is the report you choose to 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codebase, not a notebook. 82 automated tests across 11 suites cover every module and every dashboard page. Scoring stays under a second because models are cached on load. And it is reproducible — models are deliberately not committed as pickles, which break across library versions. Instead the raw data is committed and one command, python dash m src dot train underscore all, rebuilds every model from a fresh clone and regenerates the exact metrics published in the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splits deliberately. Churn and sentiment are pretrained and used for inference only — they are customer-level and text-level classifiers, so a pattern learned on one company transfers reasonably to another, and a new signup would never have enough data to retrain them anyway. Anomaly detection and forecasting go the other way: they are fit fresh on each company's own time series, because there is no useful universal notion of what a normal day looks like. Scoring is stateless, so scaling out means adding processes. Next up is a FastAPI service, Docker and CI — and eventually, real labelled outcome data to replace that weighted formula with a learned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problem was that the signals which predict trouble are scattered across four tools that never talk to each other. StartupShield turns them into one number, one reason, and three things to do about it. It works end to end today — you can upload real data and get scored right now. It is validated rather than asserted: 82 tests, published reports, one-command reproduction. And where a number needs context, the context is written down rather than hidden.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chart" Target="/ppt/charts/chart2.xm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85800" y="777240"/>
            <a:ext cx="5486400" cy="274320"/>
          </a:xfrm>
          <a:prstGeom prst="rect">
            <a:avLst/>
          </a:prstGeom>
          <a:noFill/>
          <a:ln/>
        </p:spPr>
        <p:txBody>
          <a:bodyPr wrap="square" lIns="0" tIns="0" rIns="0" bIns="0" rtlCol="0" anchor="ctr"/>
          <a:lstStyle/>
          <a:p>
            <a:pPr indent="0" marL="0">
              <a:buNone/>
            </a:pPr>
            <a:r>
              <a:rPr lang="en-US" sz="1200" b="1" spc="300" kern="0" dirty="0">
                <a:solidFill>
                  <a:srgbClr val="E39A1C"/>
                </a:solidFill>
                <a:latin typeface="Calibri" pitchFamily="34" charset="0"/>
                <a:ea typeface="Calibri" pitchFamily="34" charset="-122"/>
                <a:cs typeface="Calibri" pitchFamily="34" charset="-120"/>
              </a:rPr>
              <a:t>PROJECT SUBMISSION</a:t>
            </a:r>
            <a:endParaRPr lang="en-US" sz="1200" dirty="0"/>
          </a:p>
        </p:txBody>
      </p:sp>
      <p:sp>
        <p:nvSpPr>
          <p:cNvPr id="3" name="Text 1"/>
          <p:cNvSpPr/>
          <p:nvPr/>
        </p:nvSpPr>
        <p:spPr>
          <a:xfrm>
            <a:off x="685800" y="1234440"/>
            <a:ext cx="6583680" cy="105156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StartupShield AI</a:t>
            </a:r>
            <a:endParaRPr lang="en-US" sz="5400" dirty="0"/>
          </a:p>
        </p:txBody>
      </p:sp>
      <p:sp>
        <p:nvSpPr>
          <p:cNvPr id="4" name="Text 2"/>
          <p:cNvSpPr/>
          <p:nvPr/>
        </p:nvSpPr>
        <p:spPr>
          <a:xfrm>
            <a:off x="685800" y="2377440"/>
            <a:ext cx="6035040" cy="914400"/>
          </a:xfrm>
          <a:prstGeom prst="rect">
            <a:avLst/>
          </a:prstGeom>
          <a:noFill/>
          <a:ln/>
        </p:spPr>
        <p:txBody>
          <a:bodyPr wrap="square" lIns="0" tIns="0" rIns="0" bIns="0" rtlCol="0" anchor="t"/>
          <a:lstStyle/>
          <a:p>
            <a:pPr indent="0" marL="0">
              <a:lnSpc>
                <a:spcPts val="2800"/>
              </a:lnSpc>
              <a:buNone/>
            </a:pPr>
            <a:r>
              <a:rPr lang="en-US" sz="1900" dirty="0">
                <a:solidFill>
                  <a:srgbClr val="93A7BC"/>
                </a:solidFill>
                <a:latin typeface="Calibri" pitchFamily="34" charset="0"/>
                <a:ea typeface="Calibri" pitchFamily="34" charset="-122"/>
                <a:cs typeface="Calibri" pitchFamily="34" charset="-120"/>
              </a:rPr>
              <a:t>Four AI models. One number that tells a founder</a:t>
            </a:r>
            <a:endParaRPr lang="en-US" sz="1900" dirty="0"/>
          </a:p>
          <a:p>
            <a:pPr indent="0" marL="0">
              <a:lnSpc>
                <a:spcPts val="2800"/>
              </a:lnSpc>
              <a:buNone/>
            </a:pPr>
            <a:r>
              <a:rPr lang="en-US" sz="1900" dirty="0">
                <a:solidFill>
                  <a:srgbClr val="93A7BC"/>
                </a:solidFill>
                <a:latin typeface="Calibri" pitchFamily="34" charset="0"/>
                <a:ea typeface="Calibri" pitchFamily="34" charset="-122"/>
                <a:cs typeface="Calibri" pitchFamily="34" charset="-120"/>
              </a:rPr>
              <a:t>if their startup is in trouble.</a:t>
            </a:r>
            <a:endParaRPr lang="en-US" sz="1900" dirty="0"/>
          </a:p>
        </p:txBody>
      </p:sp>
      <p:sp>
        <p:nvSpPr>
          <p:cNvPr id="5" name="Shape 3"/>
          <p:cNvSpPr/>
          <p:nvPr/>
        </p:nvSpPr>
        <p:spPr>
          <a:xfrm>
            <a:off x="685800" y="3703320"/>
            <a:ext cx="1481328" cy="475488"/>
          </a:xfrm>
          <a:prstGeom prst="roundRect">
            <a:avLst>
              <a:gd name="adj" fmla="val 50000"/>
            </a:avLst>
          </a:prstGeom>
          <a:solidFill>
            <a:srgbClr val="16324F"/>
          </a:solidFill>
          <a:ln/>
        </p:spPr>
      </p:sp>
      <p:sp>
        <p:nvSpPr>
          <p:cNvPr id="6" name="Shape 4"/>
          <p:cNvSpPr/>
          <p:nvPr/>
        </p:nvSpPr>
        <p:spPr>
          <a:xfrm>
            <a:off x="905256" y="3867912"/>
            <a:ext cx="146304" cy="146304"/>
          </a:xfrm>
          <a:prstGeom prst="ellipse">
            <a:avLst/>
          </a:prstGeom>
          <a:solidFill>
            <a:srgbClr val="CE4A3E"/>
          </a:solidFill>
          <a:ln/>
        </p:spPr>
      </p:sp>
      <p:sp>
        <p:nvSpPr>
          <p:cNvPr id="7" name="Text 5"/>
          <p:cNvSpPr/>
          <p:nvPr/>
        </p:nvSpPr>
        <p:spPr>
          <a:xfrm>
            <a:off x="1106424" y="3703320"/>
            <a:ext cx="969264" cy="4754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Churn</a:t>
            </a:r>
            <a:endParaRPr lang="en-US" sz="1200" dirty="0"/>
          </a:p>
        </p:txBody>
      </p:sp>
      <p:sp>
        <p:nvSpPr>
          <p:cNvPr id="8" name="Shape 6"/>
          <p:cNvSpPr/>
          <p:nvPr/>
        </p:nvSpPr>
        <p:spPr>
          <a:xfrm>
            <a:off x="2295144" y="3703320"/>
            <a:ext cx="1481328" cy="475488"/>
          </a:xfrm>
          <a:prstGeom prst="roundRect">
            <a:avLst>
              <a:gd name="adj" fmla="val 50000"/>
            </a:avLst>
          </a:prstGeom>
          <a:solidFill>
            <a:srgbClr val="16324F"/>
          </a:solidFill>
          <a:ln/>
        </p:spPr>
      </p:sp>
      <p:sp>
        <p:nvSpPr>
          <p:cNvPr id="9" name="Shape 7"/>
          <p:cNvSpPr/>
          <p:nvPr/>
        </p:nvSpPr>
        <p:spPr>
          <a:xfrm>
            <a:off x="2514600" y="3867912"/>
            <a:ext cx="146304" cy="146304"/>
          </a:xfrm>
          <a:prstGeom prst="ellipse">
            <a:avLst/>
          </a:prstGeom>
          <a:solidFill>
            <a:srgbClr val="E39A1C"/>
          </a:solidFill>
          <a:ln/>
        </p:spPr>
      </p:sp>
      <p:sp>
        <p:nvSpPr>
          <p:cNvPr id="10" name="Text 8"/>
          <p:cNvSpPr/>
          <p:nvPr/>
        </p:nvSpPr>
        <p:spPr>
          <a:xfrm>
            <a:off x="2715768" y="3703320"/>
            <a:ext cx="969264" cy="4754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Sentiment</a:t>
            </a:r>
            <a:endParaRPr lang="en-US" sz="1200" dirty="0"/>
          </a:p>
        </p:txBody>
      </p:sp>
      <p:sp>
        <p:nvSpPr>
          <p:cNvPr id="11" name="Shape 9"/>
          <p:cNvSpPr/>
          <p:nvPr/>
        </p:nvSpPr>
        <p:spPr>
          <a:xfrm>
            <a:off x="3904488" y="3703320"/>
            <a:ext cx="1481328" cy="475488"/>
          </a:xfrm>
          <a:prstGeom prst="roundRect">
            <a:avLst>
              <a:gd name="adj" fmla="val 50000"/>
            </a:avLst>
          </a:prstGeom>
          <a:solidFill>
            <a:srgbClr val="16324F"/>
          </a:solidFill>
          <a:ln/>
        </p:spPr>
      </p:sp>
      <p:sp>
        <p:nvSpPr>
          <p:cNvPr id="12" name="Shape 10"/>
          <p:cNvSpPr/>
          <p:nvPr/>
        </p:nvSpPr>
        <p:spPr>
          <a:xfrm>
            <a:off x="4123944" y="3867912"/>
            <a:ext cx="146304" cy="146304"/>
          </a:xfrm>
          <a:prstGeom prst="ellipse">
            <a:avLst/>
          </a:prstGeom>
          <a:solidFill>
            <a:srgbClr val="2E9E6B"/>
          </a:solidFill>
          <a:ln/>
        </p:spPr>
      </p:sp>
      <p:sp>
        <p:nvSpPr>
          <p:cNvPr id="13" name="Text 11"/>
          <p:cNvSpPr/>
          <p:nvPr/>
        </p:nvSpPr>
        <p:spPr>
          <a:xfrm>
            <a:off x="4325112" y="3703320"/>
            <a:ext cx="969264" cy="4754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Anomalies</a:t>
            </a:r>
            <a:endParaRPr lang="en-US" sz="1200" dirty="0"/>
          </a:p>
        </p:txBody>
      </p:sp>
      <p:sp>
        <p:nvSpPr>
          <p:cNvPr id="14" name="Shape 12"/>
          <p:cNvSpPr/>
          <p:nvPr/>
        </p:nvSpPr>
        <p:spPr>
          <a:xfrm>
            <a:off x="5513832" y="3703320"/>
            <a:ext cx="1481328" cy="475488"/>
          </a:xfrm>
          <a:prstGeom prst="roundRect">
            <a:avLst>
              <a:gd name="adj" fmla="val 50000"/>
            </a:avLst>
          </a:prstGeom>
          <a:solidFill>
            <a:srgbClr val="16324F"/>
          </a:solidFill>
          <a:ln/>
        </p:spPr>
      </p:sp>
      <p:sp>
        <p:nvSpPr>
          <p:cNvPr id="15" name="Shape 13"/>
          <p:cNvSpPr/>
          <p:nvPr/>
        </p:nvSpPr>
        <p:spPr>
          <a:xfrm>
            <a:off x="5733288" y="3867912"/>
            <a:ext cx="146304" cy="146304"/>
          </a:xfrm>
          <a:prstGeom prst="ellipse">
            <a:avLst/>
          </a:prstGeom>
          <a:solidFill>
            <a:srgbClr val="5B8DEF"/>
          </a:solidFill>
          <a:ln/>
        </p:spPr>
      </p:sp>
      <p:sp>
        <p:nvSpPr>
          <p:cNvPr id="16" name="Text 14"/>
          <p:cNvSpPr/>
          <p:nvPr/>
        </p:nvSpPr>
        <p:spPr>
          <a:xfrm>
            <a:off x="5934456" y="3703320"/>
            <a:ext cx="969264" cy="4754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Forecast</a:t>
            </a:r>
            <a:endParaRPr lang="en-US" sz="1200" dirty="0"/>
          </a:p>
        </p:txBody>
      </p:sp>
      <p:sp>
        <p:nvSpPr>
          <p:cNvPr id="17" name="Text 15"/>
          <p:cNvSpPr/>
          <p:nvPr/>
        </p:nvSpPr>
        <p:spPr>
          <a:xfrm>
            <a:off x="685800" y="4526280"/>
            <a:ext cx="6675120" cy="685800"/>
          </a:xfrm>
          <a:prstGeom prst="rect">
            <a:avLst/>
          </a:prstGeom>
          <a:noFill/>
          <a:ln/>
        </p:spPr>
        <p:txBody>
          <a:bodyPr wrap="square" lIns="0" tIns="0" rIns="0" bIns="0" rtlCol="0" anchor="t"/>
          <a:lstStyle/>
          <a:p>
            <a:pPr indent="0" marL="0">
              <a:lnSpc>
                <a:spcPts val="2000"/>
              </a:lnSpc>
              <a:buNone/>
            </a:pPr>
            <a:r>
              <a:rPr lang="en-US" sz="1250" dirty="0">
                <a:solidFill>
                  <a:srgbClr val="7C90A6"/>
                </a:solidFill>
                <a:latin typeface="Calibri" pitchFamily="34" charset="0"/>
                <a:ea typeface="Calibri" pitchFamily="34" charset="-122"/>
                <a:cs typeface="Calibri" pitchFamily="34" charset="-120"/>
              </a:rPr>
              <a:t>Built as a working product, not a prototype — 82 automated tests, published model</a:t>
            </a:r>
            <a:endParaRPr lang="en-US" sz="1250" dirty="0"/>
          </a:p>
          <a:p>
            <a:pPr indent="0" marL="0">
              <a:lnSpc>
                <a:spcPts val="2000"/>
              </a:lnSpc>
              <a:buNone/>
            </a:pPr>
            <a:r>
              <a:rPr lang="en-US" sz="1250" dirty="0">
                <a:solidFill>
                  <a:srgbClr val="7C90A6"/>
                </a:solidFill>
                <a:latin typeface="Calibri" pitchFamily="34" charset="0"/>
                <a:ea typeface="Calibri" pitchFamily="34" charset="-122"/>
                <a:cs typeface="Calibri" pitchFamily="34" charset="-120"/>
              </a:rPr>
              <a:t>reports, and one-command reproduction from a fresh clone.</a:t>
            </a:r>
            <a:endParaRPr lang="en-US" sz="1250" dirty="0"/>
          </a:p>
        </p:txBody>
      </p:sp>
      <p:sp>
        <p:nvSpPr>
          <p:cNvPr id="18" name="Shape 16"/>
          <p:cNvSpPr/>
          <p:nvPr/>
        </p:nvSpPr>
        <p:spPr>
          <a:xfrm>
            <a:off x="7818120" y="1234440"/>
            <a:ext cx="3685032" cy="4160520"/>
          </a:xfrm>
          <a:prstGeom prst="roundRect">
            <a:avLst>
              <a:gd name="adj" fmla="val 3970"/>
            </a:avLst>
          </a:prstGeom>
          <a:solidFill>
            <a:srgbClr val="16324F"/>
          </a:solidFill>
          <a:ln/>
        </p:spPr>
      </p:sp>
      <p:sp>
        <p:nvSpPr>
          <p:cNvPr id="19" name="Text 17"/>
          <p:cNvSpPr/>
          <p:nvPr/>
        </p:nvSpPr>
        <p:spPr>
          <a:xfrm>
            <a:off x="8183880" y="1572768"/>
            <a:ext cx="2953512" cy="274320"/>
          </a:xfrm>
          <a:prstGeom prst="rect">
            <a:avLst/>
          </a:prstGeom>
          <a:noFill/>
          <a:ln/>
        </p:spPr>
        <p:txBody>
          <a:bodyPr wrap="square" lIns="0" tIns="0" rIns="0" bIns="0" rtlCol="0" anchor="ctr"/>
          <a:lstStyle/>
          <a:p>
            <a:pPr indent="0" marL="0">
              <a:buNone/>
            </a:pPr>
            <a:r>
              <a:rPr lang="en-US" sz="1050" b="1" spc="200" kern="0" dirty="0">
                <a:solidFill>
                  <a:srgbClr val="93A7BC"/>
                </a:solidFill>
                <a:latin typeface="Calibri" pitchFamily="34" charset="0"/>
                <a:ea typeface="Calibri" pitchFamily="34" charset="-122"/>
                <a:cs typeface="Calibri" pitchFamily="34" charset="-120"/>
              </a:rPr>
              <a:t>COMPANY RISK SCORE</a:t>
            </a:r>
            <a:endParaRPr lang="en-US" sz="1050" dirty="0"/>
          </a:p>
        </p:txBody>
      </p:sp>
      <p:sp>
        <p:nvSpPr>
          <p:cNvPr id="20" name="Text 18"/>
          <p:cNvSpPr/>
          <p:nvPr/>
        </p:nvSpPr>
        <p:spPr>
          <a:xfrm>
            <a:off x="8183880" y="1874520"/>
            <a:ext cx="2953512" cy="960120"/>
          </a:xfrm>
          <a:prstGeom prst="rect">
            <a:avLst/>
          </a:prstGeom>
          <a:noFill/>
          <a:ln/>
        </p:spPr>
        <p:txBody>
          <a:bodyPr wrap="square" lIns="0" tIns="0" rIns="0" bIns="0" rtlCol="0" anchor="ctr"/>
          <a:lstStyle/>
          <a:p>
            <a:pPr indent="0" marL="0">
              <a:buNone/>
            </a:pPr>
            <a:r>
              <a:rPr lang="en-US" sz="5600" b="1" dirty="0">
                <a:solidFill>
                  <a:srgbClr val="FFFFFF"/>
                </a:solidFill>
                <a:latin typeface="Arial" pitchFamily="34" charset="0"/>
                <a:ea typeface="Arial" pitchFamily="34" charset="-122"/>
                <a:cs typeface="Arial" pitchFamily="34" charset="-120"/>
              </a:rPr>
              <a:t>0–100</a:t>
            </a:r>
            <a:endParaRPr lang="en-US" sz="5600" dirty="0"/>
          </a:p>
        </p:txBody>
      </p:sp>
      <p:sp>
        <p:nvSpPr>
          <p:cNvPr id="21" name="Shape 19"/>
          <p:cNvSpPr/>
          <p:nvPr/>
        </p:nvSpPr>
        <p:spPr>
          <a:xfrm>
            <a:off x="8183880" y="3063240"/>
            <a:ext cx="2953512" cy="621792"/>
          </a:xfrm>
          <a:prstGeom prst="roundRect">
            <a:avLst>
              <a:gd name="adj" fmla="val 11765"/>
            </a:avLst>
          </a:prstGeom>
          <a:solidFill>
            <a:srgbClr val="0D1B2A"/>
          </a:solidFill>
          <a:ln/>
        </p:spPr>
      </p:sp>
      <p:sp>
        <p:nvSpPr>
          <p:cNvPr id="22" name="Shape 20"/>
          <p:cNvSpPr/>
          <p:nvPr/>
        </p:nvSpPr>
        <p:spPr>
          <a:xfrm>
            <a:off x="8385048" y="3300984"/>
            <a:ext cx="155448" cy="155448"/>
          </a:xfrm>
          <a:prstGeom prst="ellipse">
            <a:avLst/>
          </a:prstGeom>
          <a:solidFill>
            <a:srgbClr val="2E9E6B"/>
          </a:solidFill>
          <a:ln/>
        </p:spPr>
      </p:sp>
      <p:sp>
        <p:nvSpPr>
          <p:cNvPr id="23" name="Text 21"/>
          <p:cNvSpPr/>
          <p:nvPr/>
        </p:nvSpPr>
        <p:spPr>
          <a:xfrm>
            <a:off x="8641080" y="3063240"/>
            <a:ext cx="1280160" cy="62179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Low</a:t>
            </a:r>
            <a:endParaRPr lang="en-US" sz="1350" dirty="0"/>
          </a:p>
        </p:txBody>
      </p:sp>
      <p:sp>
        <p:nvSpPr>
          <p:cNvPr id="24" name="Text 22"/>
          <p:cNvSpPr/>
          <p:nvPr/>
        </p:nvSpPr>
        <p:spPr>
          <a:xfrm>
            <a:off x="9902952" y="3063240"/>
            <a:ext cx="1188720" cy="621792"/>
          </a:xfrm>
          <a:prstGeom prst="rect">
            <a:avLst/>
          </a:prstGeom>
          <a:noFill/>
          <a:ln/>
        </p:spPr>
        <p:txBody>
          <a:bodyPr wrap="square" lIns="0" tIns="0" rIns="0" bIns="0" rtlCol="0" anchor="ctr"/>
          <a:lstStyle/>
          <a:p>
            <a:pPr algn="r" indent="0" marL="0">
              <a:buNone/>
            </a:pPr>
            <a:r>
              <a:rPr lang="en-US" sz="1200" dirty="0">
                <a:solidFill>
                  <a:srgbClr val="93A7BC"/>
                </a:solidFill>
                <a:latin typeface="Calibri" pitchFamily="34" charset="0"/>
                <a:ea typeface="Calibri" pitchFamily="34" charset="-122"/>
                <a:cs typeface="Calibri" pitchFamily="34" charset="-120"/>
              </a:rPr>
              <a:t>0 – 29</a:t>
            </a:r>
            <a:endParaRPr lang="en-US" sz="1200" dirty="0"/>
          </a:p>
        </p:txBody>
      </p:sp>
      <p:sp>
        <p:nvSpPr>
          <p:cNvPr id="25" name="Shape 23"/>
          <p:cNvSpPr/>
          <p:nvPr/>
        </p:nvSpPr>
        <p:spPr>
          <a:xfrm>
            <a:off x="8183880" y="3794760"/>
            <a:ext cx="2953512" cy="621792"/>
          </a:xfrm>
          <a:prstGeom prst="roundRect">
            <a:avLst>
              <a:gd name="adj" fmla="val 11765"/>
            </a:avLst>
          </a:prstGeom>
          <a:solidFill>
            <a:srgbClr val="0D1B2A"/>
          </a:solidFill>
          <a:ln/>
        </p:spPr>
      </p:sp>
      <p:sp>
        <p:nvSpPr>
          <p:cNvPr id="26" name="Shape 24"/>
          <p:cNvSpPr/>
          <p:nvPr/>
        </p:nvSpPr>
        <p:spPr>
          <a:xfrm>
            <a:off x="8385048" y="4032504"/>
            <a:ext cx="155448" cy="155448"/>
          </a:xfrm>
          <a:prstGeom prst="ellipse">
            <a:avLst/>
          </a:prstGeom>
          <a:solidFill>
            <a:srgbClr val="E39A1C"/>
          </a:solidFill>
          <a:ln/>
        </p:spPr>
      </p:sp>
      <p:sp>
        <p:nvSpPr>
          <p:cNvPr id="27" name="Text 25"/>
          <p:cNvSpPr/>
          <p:nvPr/>
        </p:nvSpPr>
        <p:spPr>
          <a:xfrm>
            <a:off x="8641080" y="3794760"/>
            <a:ext cx="1280160" cy="62179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Medium</a:t>
            </a:r>
            <a:endParaRPr lang="en-US" sz="1350" dirty="0"/>
          </a:p>
        </p:txBody>
      </p:sp>
      <p:sp>
        <p:nvSpPr>
          <p:cNvPr id="28" name="Text 26"/>
          <p:cNvSpPr/>
          <p:nvPr/>
        </p:nvSpPr>
        <p:spPr>
          <a:xfrm>
            <a:off x="9902952" y="3794760"/>
            <a:ext cx="1188720" cy="621792"/>
          </a:xfrm>
          <a:prstGeom prst="rect">
            <a:avLst/>
          </a:prstGeom>
          <a:noFill/>
          <a:ln/>
        </p:spPr>
        <p:txBody>
          <a:bodyPr wrap="square" lIns="0" tIns="0" rIns="0" bIns="0" rtlCol="0" anchor="ctr"/>
          <a:lstStyle/>
          <a:p>
            <a:pPr algn="r" indent="0" marL="0">
              <a:buNone/>
            </a:pPr>
            <a:r>
              <a:rPr lang="en-US" sz="1200" dirty="0">
                <a:solidFill>
                  <a:srgbClr val="93A7BC"/>
                </a:solidFill>
                <a:latin typeface="Calibri" pitchFamily="34" charset="0"/>
                <a:ea typeface="Calibri" pitchFamily="34" charset="-122"/>
                <a:cs typeface="Calibri" pitchFamily="34" charset="-120"/>
              </a:rPr>
              <a:t>30 – 59</a:t>
            </a:r>
            <a:endParaRPr lang="en-US" sz="1200" dirty="0"/>
          </a:p>
        </p:txBody>
      </p:sp>
      <p:sp>
        <p:nvSpPr>
          <p:cNvPr id="29" name="Shape 27"/>
          <p:cNvSpPr/>
          <p:nvPr/>
        </p:nvSpPr>
        <p:spPr>
          <a:xfrm>
            <a:off x="8183880" y="4526280"/>
            <a:ext cx="2953512" cy="621792"/>
          </a:xfrm>
          <a:prstGeom prst="roundRect">
            <a:avLst>
              <a:gd name="adj" fmla="val 11765"/>
            </a:avLst>
          </a:prstGeom>
          <a:solidFill>
            <a:srgbClr val="0D1B2A"/>
          </a:solidFill>
          <a:ln/>
        </p:spPr>
      </p:sp>
      <p:sp>
        <p:nvSpPr>
          <p:cNvPr id="30" name="Shape 28"/>
          <p:cNvSpPr/>
          <p:nvPr/>
        </p:nvSpPr>
        <p:spPr>
          <a:xfrm>
            <a:off x="8385048" y="4764024"/>
            <a:ext cx="155448" cy="155448"/>
          </a:xfrm>
          <a:prstGeom prst="ellipse">
            <a:avLst/>
          </a:prstGeom>
          <a:solidFill>
            <a:srgbClr val="CE4A3E"/>
          </a:solidFill>
          <a:ln/>
        </p:spPr>
      </p:sp>
      <p:sp>
        <p:nvSpPr>
          <p:cNvPr id="31" name="Text 29"/>
          <p:cNvSpPr/>
          <p:nvPr/>
        </p:nvSpPr>
        <p:spPr>
          <a:xfrm>
            <a:off x="8641080" y="4526280"/>
            <a:ext cx="1280160" cy="62179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High</a:t>
            </a:r>
            <a:endParaRPr lang="en-US" sz="1350" dirty="0"/>
          </a:p>
        </p:txBody>
      </p:sp>
      <p:sp>
        <p:nvSpPr>
          <p:cNvPr id="32" name="Text 30"/>
          <p:cNvSpPr/>
          <p:nvPr/>
        </p:nvSpPr>
        <p:spPr>
          <a:xfrm>
            <a:off x="9902952" y="4526280"/>
            <a:ext cx="1188720" cy="621792"/>
          </a:xfrm>
          <a:prstGeom prst="rect">
            <a:avLst/>
          </a:prstGeom>
          <a:noFill/>
          <a:ln/>
        </p:spPr>
        <p:txBody>
          <a:bodyPr wrap="square" lIns="0" tIns="0" rIns="0" bIns="0" rtlCol="0" anchor="ctr"/>
          <a:lstStyle/>
          <a:p>
            <a:pPr algn="r" indent="0" marL="0">
              <a:buNone/>
            </a:pPr>
            <a:r>
              <a:rPr lang="en-US" sz="1200" dirty="0">
                <a:solidFill>
                  <a:srgbClr val="93A7BC"/>
                </a:solidFill>
                <a:latin typeface="Calibri" pitchFamily="34" charset="0"/>
                <a:ea typeface="Calibri" pitchFamily="34" charset="-122"/>
                <a:cs typeface="Calibri" pitchFamily="34" charset="-120"/>
              </a:rPr>
              <a:t>60 – 100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820095" cy="658368"/>
          </a:xfrm>
          <a:prstGeom prst="rect">
            <a:avLst/>
          </a:prstGeom>
          <a:noFill/>
          <a:ln/>
        </p:spPr>
        <p:txBody>
          <a:bodyPr wrap="square" lIns="0" tIns="0" rIns="0" bIns="0" rtlCol="0" anchor="ctr"/>
          <a:lstStyle/>
          <a:p>
            <a:pPr algn="l" indent="0" marL="0">
              <a:buNone/>
            </a:pPr>
            <a:r>
              <a:rPr lang="en-US" sz="3800" b="1" dirty="0">
                <a:solidFill>
                  <a:srgbClr val="0D1B2A"/>
                </a:solidFill>
                <a:latin typeface="Arial" pitchFamily="34" charset="0"/>
                <a:ea typeface="Arial" pitchFamily="34" charset="-122"/>
                <a:cs typeface="Arial" pitchFamily="34" charset="-120"/>
              </a:rPr>
              <a:t>The Problem</a:t>
            </a:r>
            <a:endParaRPr lang="en-US" sz="3800" dirty="0"/>
          </a:p>
        </p:txBody>
      </p:sp>
      <p:sp>
        <p:nvSpPr>
          <p:cNvPr id="3" name="Text 1"/>
          <p:cNvSpPr/>
          <p:nvPr/>
        </p:nvSpPr>
        <p:spPr>
          <a:xfrm>
            <a:off x="685800" y="1133856"/>
            <a:ext cx="10820095" cy="365760"/>
          </a:xfrm>
          <a:prstGeom prst="rect">
            <a:avLst/>
          </a:prstGeom>
          <a:noFill/>
          <a:ln/>
        </p:spPr>
        <p:txBody>
          <a:bodyPr wrap="square" lIns="0" tIns="0" rIns="0" bIns="0" rtlCol="0" anchor="ctr"/>
          <a:lstStyle/>
          <a:p>
            <a:pPr algn="l" indent="0" marL="0">
              <a:buNone/>
            </a:pPr>
            <a:r>
              <a:rPr lang="en-US" sz="1500" i="1" dirty="0">
                <a:solidFill>
                  <a:srgbClr val="3E5C76"/>
                </a:solidFill>
                <a:latin typeface="Calibri" pitchFamily="34" charset="0"/>
                <a:ea typeface="Calibri" pitchFamily="34" charset="-122"/>
                <a:cs typeface="Calibri" pitchFamily="34" charset="-120"/>
              </a:rPr>
              <a:t>Founders find out too late — from four tools that never talk to each other.</a:t>
            </a:r>
            <a:endParaRPr lang="en-US" sz="1500" dirty="0"/>
          </a:p>
        </p:txBody>
      </p:sp>
      <p:sp>
        <p:nvSpPr>
          <p:cNvPr id="4" name="Text 2"/>
          <p:cNvSpPr/>
          <p:nvPr/>
        </p:nvSpPr>
        <p:spPr>
          <a:xfrm>
            <a:off x="685800" y="1965960"/>
            <a:ext cx="5029200" cy="3017520"/>
          </a:xfrm>
          <a:prstGeom prst="rect">
            <a:avLst/>
          </a:prstGeom>
          <a:noFill/>
          <a:ln/>
        </p:spPr>
        <p:txBody>
          <a:bodyPr wrap="square" lIns="0" tIns="0" rIns="0" bIns="0" rtlCol="0" anchor="t"/>
          <a:lstStyle/>
          <a:p>
            <a:pPr marL="342900" indent="-342900">
              <a:spcAft>
                <a:spcPts val="1400"/>
              </a:spcAft>
              <a:buSzPct val="100000"/>
              <a:buChar char="•"/>
            </a:pPr>
            <a:r>
              <a:rPr lang="en-US" sz="1450" dirty="0">
                <a:solidFill>
                  <a:srgbClr val="2B3A4A"/>
                </a:solidFill>
                <a:latin typeface="Calibri" pitchFamily="34" charset="0"/>
                <a:ea typeface="Calibri" pitchFamily="34" charset="-122"/>
                <a:cs typeface="Calibri" pitchFamily="34" charset="-120"/>
              </a:rPr>
              <a:t>Churn data sits in the CRM. Reviews sit in a support inbox. Revenue sits in Stripe. Growth sits in analytics.</a:t>
            </a:r>
            <a:endParaRPr lang="en-US" sz="1450" dirty="0"/>
          </a:p>
          <a:p>
            <a:pPr marL="342900" indent="-342900">
              <a:spcAft>
                <a:spcPts val="1400"/>
              </a:spcAft>
              <a:buSzPct val="100000"/>
              <a:buChar char="•"/>
            </a:pPr>
            <a:r>
              <a:rPr lang="en-US" sz="1450" dirty="0">
                <a:solidFill>
                  <a:srgbClr val="2B3A4A"/>
                </a:solidFill>
                <a:latin typeface="Calibri" pitchFamily="34" charset="0"/>
                <a:ea typeface="Calibri" pitchFamily="34" charset="-122"/>
                <a:cs typeface="Calibri" pitchFamily="34" charset="-120"/>
              </a:rPr>
              <a:t>Each tool reports its own metric honestly, and none of them owns the combined picture.</a:t>
            </a:r>
            <a:endParaRPr lang="en-US" sz="1450" dirty="0"/>
          </a:p>
          <a:p>
            <a:pPr marL="342900" indent="-342900">
              <a:spcAft>
                <a:spcPts val="1400"/>
              </a:spcAft>
              <a:buSzPct val="100000"/>
              <a:buChar char="•"/>
            </a:pPr>
            <a:r>
              <a:rPr lang="en-US" sz="1450" dirty="0">
                <a:solidFill>
                  <a:srgbClr val="2B3A4A"/>
                </a:solidFill>
                <a:latin typeface="Calibri" pitchFamily="34" charset="0"/>
                <a:ea typeface="Calibri" pitchFamily="34" charset="-122"/>
                <a:cs typeface="Calibri" pitchFamily="34" charset="-120"/>
              </a:rPr>
              <a:t>The warning signs are visible weeks before the damage — but only if someone joins the dots.</a:t>
            </a:r>
            <a:endParaRPr lang="en-US" sz="1450" dirty="0"/>
          </a:p>
          <a:p>
            <a:pPr marL="342900" indent="-342900">
              <a:spcAft>
                <a:spcPts val="1400"/>
              </a:spcAft>
              <a:buSzPct val="100000"/>
              <a:buChar char="•"/>
            </a:pPr>
            <a:r>
              <a:rPr lang="en-US" sz="1450" dirty="0">
                <a:solidFill>
                  <a:srgbClr val="2B3A4A"/>
                </a:solidFill>
                <a:latin typeface="Calibri" pitchFamily="34" charset="0"/>
                <a:ea typeface="Calibri" pitchFamily="34" charset="-122"/>
                <a:cs typeface="Calibri" pitchFamily="34" charset="-120"/>
              </a:rPr>
              <a:t>Early-stage teams have no analyst to do that joining, so nobody does.</a:t>
            </a:r>
            <a:endParaRPr lang="en-US" sz="1450" dirty="0"/>
          </a:p>
        </p:txBody>
      </p:sp>
      <p:sp>
        <p:nvSpPr>
          <p:cNvPr id="5" name="Shape 3"/>
          <p:cNvSpPr/>
          <p:nvPr/>
        </p:nvSpPr>
        <p:spPr>
          <a:xfrm>
            <a:off x="685800" y="5230368"/>
            <a:ext cx="5029200" cy="658368"/>
          </a:xfrm>
          <a:prstGeom prst="roundRect">
            <a:avLst>
              <a:gd name="adj" fmla="val 13889"/>
            </a:avLst>
          </a:prstGeom>
          <a:solidFill>
            <a:srgbClr val="F1F5F9"/>
          </a:solidFill>
          <a:ln/>
        </p:spPr>
      </p:sp>
      <p:sp>
        <p:nvSpPr>
          <p:cNvPr id="6" name="Text 4"/>
          <p:cNvSpPr/>
          <p:nvPr/>
        </p:nvSpPr>
        <p:spPr>
          <a:xfrm>
            <a:off x="941832" y="5230368"/>
            <a:ext cx="4572000" cy="658368"/>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Four dashboards. Zero shared view.</a:t>
            </a:r>
            <a:endParaRPr lang="en-US" sz="1500" dirty="0"/>
          </a:p>
        </p:txBody>
      </p:sp>
      <p:sp>
        <p:nvSpPr>
          <p:cNvPr id="7" name="Shape 5"/>
          <p:cNvSpPr/>
          <p:nvPr/>
        </p:nvSpPr>
        <p:spPr>
          <a:xfrm>
            <a:off x="6263640" y="1965960"/>
            <a:ext cx="2651760" cy="1700784"/>
          </a:xfrm>
          <a:prstGeom prst="roundRect">
            <a:avLst>
              <a:gd name="adj" fmla="val 6452"/>
            </a:avLst>
          </a:prstGeom>
          <a:solidFill>
            <a:srgbClr val="FFFFFF"/>
          </a:solidFill>
          <a:ln w="12700">
            <a:solidFill>
              <a:srgbClr val="DCE4EC"/>
            </a:solidFill>
            <a:prstDash val="solid"/>
          </a:ln>
          <a:effectLst>
            <a:outerShdw sx="100000" sy="100000" kx="0" ky="0" algn="bl" rotWithShape="0" blurRad="127000" dist="25400" dir="5400000">
              <a:srgbClr val="8FA3B8">
                <a:alpha val="22000"/>
              </a:srgbClr>
            </a:outerShdw>
          </a:effectLst>
        </p:spPr>
      </p:sp>
      <p:pic>
        <p:nvPicPr>
          <p:cNvPr id="8" name="Image 0" descr="preencoded.png">    </p:cNvPr>
          <p:cNvPicPr>
            <a:picLocks noChangeAspect="1"/>
          </p:cNvPicPr>
          <p:nvPr/>
        </p:nvPicPr>
        <p:blipFill>
          <a:blip r:embed="rId1"/>
          <a:stretch>
            <a:fillRect/>
          </a:stretch>
        </p:blipFill>
        <p:spPr>
          <a:xfrm>
            <a:off x="6537960" y="2240280"/>
            <a:ext cx="384048" cy="384048"/>
          </a:xfrm>
          <a:prstGeom prst="rect">
            <a:avLst/>
          </a:prstGeom>
        </p:spPr>
      </p:pic>
      <p:sp>
        <p:nvSpPr>
          <p:cNvPr id="9" name="Text 6"/>
          <p:cNvSpPr/>
          <p:nvPr/>
        </p:nvSpPr>
        <p:spPr>
          <a:xfrm>
            <a:off x="6537960" y="2743200"/>
            <a:ext cx="2103120" cy="310896"/>
          </a:xfrm>
          <a:prstGeom prst="rect">
            <a:avLst/>
          </a:prstGeom>
          <a:noFill/>
          <a:ln/>
        </p:spPr>
        <p:txBody>
          <a:bodyPr wrap="square" lIns="0" tIns="0" rIns="0" bIns="0" rtlCol="0" anchor="ctr"/>
          <a:lstStyle/>
          <a:p>
            <a:pPr indent="0" marL="0">
              <a:buNone/>
            </a:pPr>
            <a:r>
              <a:rPr lang="en-US" sz="1500" b="1" dirty="0">
                <a:solidFill>
                  <a:srgbClr val="0D1B2A"/>
                </a:solidFill>
                <a:latin typeface="Arial" pitchFamily="34" charset="0"/>
                <a:ea typeface="Arial" pitchFamily="34" charset="-122"/>
                <a:cs typeface="Arial" pitchFamily="34" charset="-120"/>
              </a:rPr>
              <a:t>CRM</a:t>
            </a:r>
            <a:endParaRPr lang="en-US" sz="1500" dirty="0"/>
          </a:p>
        </p:txBody>
      </p:sp>
      <p:sp>
        <p:nvSpPr>
          <p:cNvPr id="10" name="Text 7"/>
          <p:cNvSpPr/>
          <p:nvPr/>
        </p:nvSpPr>
        <p:spPr>
          <a:xfrm>
            <a:off x="6537960" y="3063240"/>
            <a:ext cx="2103120" cy="292608"/>
          </a:xfrm>
          <a:prstGeom prst="rect">
            <a:avLst/>
          </a:prstGeom>
          <a:noFill/>
          <a:ln/>
        </p:spPr>
        <p:txBody>
          <a:bodyPr wrap="square" lIns="0" tIns="0" rIns="0" bIns="0" rtlCol="0" anchor="ctr"/>
          <a:lstStyle/>
          <a:p>
            <a:pPr indent="0" marL="0">
              <a:buNone/>
            </a:pPr>
            <a:r>
              <a:rPr lang="en-US" sz="1200" dirty="0">
                <a:solidFill>
                  <a:srgbClr val="3E5C76"/>
                </a:solidFill>
                <a:latin typeface="Calibri" pitchFamily="34" charset="0"/>
                <a:ea typeface="Calibri" pitchFamily="34" charset="-122"/>
                <a:cs typeface="Calibri" pitchFamily="34" charset="-120"/>
              </a:rPr>
              <a:t>churn signals</a:t>
            </a:r>
            <a:endParaRPr lang="en-US" sz="1200" dirty="0"/>
          </a:p>
        </p:txBody>
      </p:sp>
      <p:sp>
        <p:nvSpPr>
          <p:cNvPr id="11" name="Shape 8"/>
          <p:cNvSpPr/>
          <p:nvPr/>
        </p:nvSpPr>
        <p:spPr>
          <a:xfrm>
            <a:off x="9171432" y="1965960"/>
            <a:ext cx="2651760" cy="1700784"/>
          </a:xfrm>
          <a:prstGeom prst="roundRect">
            <a:avLst>
              <a:gd name="adj" fmla="val 6452"/>
            </a:avLst>
          </a:prstGeom>
          <a:solidFill>
            <a:srgbClr val="FFFFFF"/>
          </a:solidFill>
          <a:ln w="12700">
            <a:solidFill>
              <a:srgbClr val="DCE4EC"/>
            </a:solidFill>
            <a:prstDash val="solid"/>
          </a:ln>
          <a:effectLst>
            <a:outerShdw sx="100000" sy="100000" kx="0" ky="0" algn="bl" rotWithShape="0" blurRad="127000" dist="25400" dir="5400000">
              <a:srgbClr val="8FA3B8">
                <a:alpha val="22000"/>
              </a:srgbClr>
            </a:outerShdw>
          </a:effectLst>
        </p:spPr>
      </p:sp>
      <p:pic>
        <p:nvPicPr>
          <p:cNvPr id="12" name="Image 1" descr="preencoded.png">    </p:cNvPr>
          <p:cNvPicPr>
            <a:picLocks noChangeAspect="1"/>
          </p:cNvPicPr>
          <p:nvPr/>
        </p:nvPicPr>
        <p:blipFill>
          <a:blip r:embed="rId2"/>
          <a:stretch>
            <a:fillRect/>
          </a:stretch>
        </p:blipFill>
        <p:spPr>
          <a:xfrm>
            <a:off x="9445752" y="2240280"/>
            <a:ext cx="384048" cy="384048"/>
          </a:xfrm>
          <a:prstGeom prst="rect">
            <a:avLst/>
          </a:prstGeom>
        </p:spPr>
      </p:pic>
      <p:sp>
        <p:nvSpPr>
          <p:cNvPr id="13" name="Text 9"/>
          <p:cNvSpPr/>
          <p:nvPr/>
        </p:nvSpPr>
        <p:spPr>
          <a:xfrm>
            <a:off x="9445752" y="2743200"/>
            <a:ext cx="2103120" cy="310896"/>
          </a:xfrm>
          <a:prstGeom prst="rect">
            <a:avLst/>
          </a:prstGeom>
          <a:noFill/>
          <a:ln/>
        </p:spPr>
        <p:txBody>
          <a:bodyPr wrap="square" lIns="0" tIns="0" rIns="0" bIns="0" rtlCol="0" anchor="ctr"/>
          <a:lstStyle/>
          <a:p>
            <a:pPr indent="0" marL="0">
              <a:buNone/>
            </a:pPr>
            <a:r>
              <a:rPr lang="en-US" sz="1500" b="1" dirty="0">
                <a:solidFill>
                  <a:srgbClr val="0D1B2A"/>
                </a:solidFill>
                <a:latin typeface="Arial" pitchFamily="34" charset="0"/>
                <a:ea typeface="Arial" pitchFamily="34" charset="-122"/>
                <a:cs typeface="Arial" pitchFamily="34" charset="-120"/>
              </a:rPr>
              <a:t>Support inbox</a:t>
            </a:r>
            <a:endParaRPr lang="en-US" sz="1500" dirty="0"/>
          </a:p>
        </p:txBody>
      </p:sp>
      <p:sp>
        <p:nvSpPr>
          <p:cNvPr id="14" name="Text 10"/>
          <p:cNvSpPr/>
          <p:nvPr/>
        </p:nvSpPr>
        <p:spPr>
          <a:xfrm>
            <a:off x="9445752" y="3063240"/>
            <a:ext cx="2103120" cy="292608"/>
          </a:xfrm>
          <a:prstGeom prst="rect">
            <a:avLst/>
          </a:prstGeom>
          <a:noFill/>
          <a:ln/>
        </p:spPr>
        <p:txBody>
          <a:bodyPr wrap="square" lIns="0" tIns="0" rIns="0" bIns="0" rtlCol="0" anchor="ctr"/>
          <a:lstStyle/>
          <a:p>
            <a:pPr indent="0" marL="0">
              <a:buNone/>
            </a:pPr>
            <a:r>
              <a:rPr lang="en-US" sz="1200" dirty="0">
                <a:solidFill>
                  <a:srgbClr val="3E5C76"/>
                </a:solidFill>
                <a:latin typeface="Calibri" pitchFamily="34" charset="0"/>
                <a:ea typeface="Calibri" pitchFamily="34" charset="-122"/>
                <a:cs typeface="Calibri" pitchFamily="34" charset="-120"/>
              </a:rPr>
              <a:t>customer sentiment</a:t>
            </a:r>
            <a:endParaRPr lang="en-US" sz="1200" dirty="0"/>
          </a:p>
        </p:txBody>
      </p:sp>
      <p:sp>
        <p:nvSpPr>
          <p:cNvPr id="15" name="Shape 11"/>
          <p:cNvSpPr/>
          <p:nvPr/>
        </p:nvSpPr>
        <p:spPr>
          <a:xfrm>
            <a:off x="6263640" y="3922776"/>
            <a:ext cx="2651760" cy="1700784"/>
          </a:xfrm>
          <a:prstGeom prst="roundRect">
            <a:avLst>
              <a:gd name="adj" fmla="val 6452"/>
            </a:avLst>
          </a:prstGeom>
          <a:solidFill>
            <a:srgbClr val="FFFFFF"/>
          </a:solidFill>
          <a:ln w="12700">
            <a:solidFill>
              <a:srgbClr val="DCE4EC"/>
            </a:solidFill>
            <a:prstDash val="solid"/>
          </a:ln>
          <a:effectLst>
            <a:outerShdw sx="100000" sy="100000" kx="0" ky="0" algn="bl" rotWithShape="0" blurRad="127000" dist="25400" dir="5400000">
              <a:srgbClr val="8FA3B8">
                <a:alpha val="22000"/>
              </a:srgbClr>
            </a:outerShdw>
          </a:effectLst>
        </p:spPr>
      </p:sp>
      <p:pic>
        <p:nvPicPr>
          <p:cNvPr id="16" name="Image 2" descr="preencoded.png">    </p:cNvPr>
          <p:cNvPicPr>
            <a:picLocks noChangeAspect="1"/>
          </p:cNvPicPr>
          <p:nvPr/>
        </p:nvPicPr>
        <p:blipFill>
          <a:blip r:embed="rId3"/>
          <a:stretch>
            <a:fillRect/>
          </a:stretch>
        </p:blipFill>
        <p:spPr>
          <a:xfrm>
            <a:off x="6537960" y="4197096"/>
            <a:ext cx="384048" cy="384048"/>
          </a:xfrm>
          <a:prstGeom prst="rect">
            <a:avLst/>
          </a:prstGeom>
        </p:spPr>
      </p:pic>
      <p:sp>
        <p:nvSpPr>
          <p:cNvPr id="17" name="Text 12"/>
          <p:cNvSpPr/>
          <p:nvPr/>
        </p:nvSpPr>
        <p:spPr>
          <a:xfrm>
            <a:off x="6537960" y="4700016"/>
            <a:ext cx="2103120" cy="310896"/>
          </a:xfrm>
          <a:prstGeom prst="rect">
            <a:avLst/>
          </a:prstGeom>
          <a:noFill/>
          <a:ln/>
        </p:spPr>
        <p:txBody>
          <a:bodyPr wrap="square" lIns="0" tIns="0" rIns="0" bIns="0" rtlCol="0" anchor="ctr"/>
          <a:lstStyle/>
          <a:p>
            <a:pPr indent="0" marL="0">
              <a:buNone/>
            </a:pPr>
            <a:r>
              <a:rPr lang="en-US" sz="1500" b="1" dirty="0">
                <a:solidFill>
                  <a:srgbClr val="0D1B2A"/>
                </a:solidFill>
                <a:latin typeface="Arial" pitchFamily="34" charset="0"/>
                <a:ea typeface="Arial" pitchFamily="34" charset="-122"/>
                <a:cs typeface="Arial" pitchFamily="34" charset="-120"/>
              </a:rPr>
              <a:t>Stripe</a:t>
            </a:r>
            <a:endParaRPr lang="en-US" sz="1500" dirty="0"/>
          </a:p>
        </p:txBody>
      </p:sp>
      <p:sp>
        <p:nvSpPr>
          <p:cNvPr id="18" name="Text 13"/>
          <p:cNvSpPr/>
          <p:nvPr/>
        </p:nvSpPr>
        <p:spPr>
          <a:xfrm>
            <a:off x="6537960" y="5020056"/>
            <a:ext cx="2103120" cy="292608"/>
          </a:xfrm>
          <a:prstGeom prst="rect">
            <a:avLst/>
          </a:prstGeom>
          <a:noFill/>
          <a:ln/>
        </p:spPr>
        <p:txBody>
          <a:bodyPr wrap="square" lIns="0" tIns="0" rIns="0" bIns="0" rtlCol="0" anchor="ctr"/>
          <a:lstStyle/>
          <a:p>
            <a:pPr indent="0" marL="0">
              <a:buNone/>
            </a:pPr>
            <a:r>
              <a:rPr lang="en-US" sz="1200" dirty="0">
                <a:solidFill>
                  <a:srgbClr val="3E5C76"/>
                </a:solidFill>
                <a:latin typeface="Calibri" pitchFamily="34" charset="0"/>
                <a:ea typeface="Calibri" pitchFamily="34" charset="-122"/>
                <a:cs typeface="Calibri" pitchFamily="34" charset="-120"/>
              </a:rPr>
              <a:t>revenue movement</a:t>
            </a:r>
            <a:endParaRPr lang="en-US" sz="1200" dirty="0"/>
          </a:p>
        </p:txBody>
      </p:sp>
      <p:sp>
        <p:nvSpPr>
          <p:cNvPr id="19" name="Shape 14"/>
          <p:cNvSpPr/>
          <p:nvPr/>
        </p:nvSpPr>
        <p:spPr>
          <a:xfrm>
            <a:off x="9171432" y="3922776"/>
            <a:ext cx="2651760" cy="1700784"/>
          </a:xfrm>
          <a:prstGeom prst="roundRect">
            <a:avLst>
              <a:gd name="adj" fmla="val 6452"/>
            </a:avLst>
          </a:prstGeom>
          <a:solidFill>
            <a:srgbClr val="FFFFFF"/>
          </a:solidFill>
          <a:ln w="12700">
            <a:solidFill>
              <a:srgbClr val="DCE4EC"/>
            </a:solidFill>
            <a:prstDash val="solid"/>
          </a:ln>
          <a:effectLst>
            <a:outerShdw sx="100000" sy="100000" kx="0" ky="0" algn="bl" rotWithShape="0" blurRad="127000" dist="25400" dir="5400000">
              <a:srgbClr val="8FA3B8">
                <a:alpha val="22000"/>
              </a:srgbClr>
            </a:outerShdw>
          </a:effectLst>
        </p:spPr>
      </p:sp>
      <p:pic>
        <p:nvPicPr>
          <p:cNvPr id="20" name="Image 3" descr="preencoded.png">    </p:cNvPr>
          <p:cNvPicPr>
            <a:picLocks noChangeAspect="1"/>
          </p:cNvPicPr>
          <p:nvPr/>
        </p:nvPicPr>
        <p:blipFill>
          <a:blip r:embed="rId4"/>
          <a:stretch>
            <a:fillRect/>
          </a:stretch>
        </p:blipFill>
        <p:spPr>
          <a:xfrm>
            <a:off x="9445752" y="4197096"/>
            <a:ext cx="384048" cy="384048"/>
          </a:xfrm>
          <a:prstGeom prst="rect">
            <a:avLst/>
          </a:prstGeom>
        </p:spPr>
      </p:pic>
      <p:sp>
        <p:nvSpPr>
          <p:cNvPr id="21" name="Text 15"/>
          <p:cNvSpPr/>
          <p:nvPr/>
        </p:nvSpPr>
        <p:spPr>
          <a:xfrm>
            <a:off x="9445752" y="4700016"/>
            <a:ext cx="2103120" cy="310896"/>
          </a:xfrm>
          <a:prstGeom prst="rect">
            <a:avLst/>
          </a:prstGeom>
          <a:noFill/>
          <a:ln/>
        </p:spPr>
        <p:txBody>
          <a:bodyPr wrap="square" lIns="0" tIns="0" rIns="0" bIns="0" rtlCol="0" anchor="ctr"/>
          <a:lstStyle/>
          <a:p>
            <a:pPr indent="0" marL="0">
              <a:buNone/>
            </a:pPr>
            <a:r>
              <a:rPr lang="en-US" sz="1500" b="1" dirty="0">
                <a:solidFill>
                  <a:srgbClr val="0D1B2A"/>
                </a:solidFill>
                <a:latin typeface="Arial" pitchFamily="34" charset="0"/>
                <a:ea typeface="Arial" pitchFamily="34" charset="-122"/>
                <a:cs typeface="Arial" pitchFamily="34" charset="-120"/>
              </a:rPr>
              <a:t>Analytics</a:t>
            </a:r>
            <a:endParaRPr lang="en-US" sz="1500" dirty="0"/>
          </a:p>
        </p:txBody>
      </p:sp>
      <p:sp>
        <p:nvSpPr>
          <p:cNvPr id="22" name="Text 16"/>
          <p:cNvSpPr/>
          <p:nvPr/>
        </p:nvSpPr>
        <p:spPr>
          <a:xfrm>
            <a:off x="9445752" y="5020056"/>
            <a:ext cx="2103120" cy="292608"/>
          </a:xfrm>
          <a:prstGeom prst="rect">
            <a:avLst/>
          </a:prstGeom>
          <a:noFill/>
          <a:ln/>
        </p:spPr>
        <p:txBody>
          <a:bodyPr wrap="square" lIns="0" tIns="0" rIns="0" bIns="0" rtlCol="0" anchor="ctr"/>
          <a:lstStyle/>
          <a:p>
            <a:pPr indent="0" marL="0">
              <a:buNone/>
            </a:pPr>
            <a:r>
              <a:rPr lang="en-US" sz="1200" dirty="0">
                <a:solidFill>
                  <a:srgbClr val="3E5C76"/>
                </a:solidFill>
                <a:latin typeface="Calibri" pitchFamily="34" charset="0"/>
                <a:ea typeface="Calibri" pitchFamily="34" charset="-122"/>
                <a:cs typeface="Calibri" pitchFamily="34" charset="-120"/>
              </a:rPr>
              <a:t>signups &amp; usage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820095" cy="658368"/>
          </a:xfrm>
          <a:prstGeom prst="rect">
            <a:avLst/>
          </a:prstGeom>
          <a:noFill/>
          <a:ln/>
        </p:spPr>
        <p:txBody>
          <a:bodyPr wrap="square" lIns="0" tIns="0" rIns="0" bIns="0" rtlCol="0" anchor="ctr"/>
          <a:lstStyle/>
          <a:p>
            <a:pPr algn="l" indent="0" marL="0">
              <a:buNone/>
            </a:pPr>
            <a:r>
              <a:rPr lang="en-US" sz="3800" b="1" dirty="0">
                <a:solidFill>
                  <a:srgbClr val="0D1B2A"/>
                </a:solidFill>
                <a:latin typeface="Arial" pitchFamily="34" charset="0"/>
                <a:ea typeface="Arial" pitchFamily="34" charset="-122"/>
                <a:cs typeface="Arial" pitchFamily="34" charset="-120"/>
              </a:rPr>
              <a:t>Our Solution</a:t>
            </a:r>
            <a:endParaRPr lang="en-US" sz="3800" dirty="0"/>
          </a:p>
        </p:txBody>
      </p:sp>
      <p:sp>
        <p:nvSpPr>
          <p:cNvPr id="3" name="Text 1"/>
          <p:cNvSpPr/>
          <p:nvPr/>
        </p:nvSpPr>
        <p:spPr>
          <a:xfrm>
            <a:off x="685800" y="1133856"/>
            <a:ext cx="10820095" cy="365760"/>
          </a:xfrm>
          <a:prstGeom prst="rect">
            <a:avLst/>
          </a:prstGeom>
          <a:noFill/>
          <a:ln/>
        </p:spPr>
        <p:txBody>
          <a:bodyPr wrap="square" lIns="0" tIns="0" rIns="0" bIns="0" rtlCol="0" anchor="ctr"/>
          <a:lstStyle/>
          <a:p>
            <a:pPr algn="l" indent="0" marL="0">
              <a:buNone/>
            </a:pPr>
            <a:r>
              <a:rPr lang="en-US" sz="1500" i="1" dirty="0">
                <a:solidFill>
                  <a:srgbClr val="3E5C76"/>
                </a:solidFill>
                <a:latin typeface="Calibri" pitchFamily="34" charset="0"/>
                <a:ea typeface="Calibri" pitchFamily="34" charset="-122"/>
                <a:cs typeface="Calibri" pitchFamily="34" charset="-120"/>
              </a:rPr>
              <a:t>One dashboard that reads all four signals and returns one honest number.</a:t>
            </a:r>
            <a:endParaRPr lang="en-US" sz="1500" dirty="0"/>
          </a:p>
        </p:txBody>
      </p:sp>
      <p:sp>
        <p:nvSpPr>
          <p:cNvPr id="4" name="Text 2"/>
          <p:cNvSpPr/>
          <p:nvPr/>
        </p:nvSpPr>
        <p:spPr>
          <a:xfrm>
            <a:off x="685800" y="1965960"/>
            <a:ext cx="5029200" cy="2926080"/>
          </a:xfrm>
          <a:prstGeom prst="rect">
            <a:avLst/>
          </a:prstGeom>
          <a:noFill/>
          <a:ln/>
        </p:spPr>
        <p:txBody>
          <a:bodyPr wrap="square" lIns="0" tIns="0" rIns="0" bIns="0" rtlCol="0" anchor="t"/>
          <a:lstStyle/>
          <a:p>
            <a:pPr marL="342900" indent="-342900">
              <a:spcAft>
                <a:spcPts val="1400"/>
              </a:spcAft>
              <a:buSzPct val="100000"/>
              <a:buChar char="•"/>
            </a:pPr>
            <a:r>
              <a:rPr lang="en-US" sz="1450" dirty="0">
                <a:solidFill>
                  <a:srgbClr val="2B3A4A"/>
                </a:solidFill>
                <a:latin typeface="Calibri" pitchFamily="34" charset="0"/>
                <a:ea typeface="Calibri" pitchFamily="34" charset="-122"/>
                <a:cs typeface="Calibri" pitchFamily="34" charset="-120"/>
              </a:rPr>
              <a:t>Upload your customer, review and revenue data — a 0-100 risk score comes back in under a second.</a:t>
            </a:r>
            <a:endParaRPr lang="en-US" sz="1450" dirty="0"/>
          </a:p>
          <a:p>
            <a:pPr marL="342900" indent="-342900">
              <a:spcAft>
                <a:spcPts val="1400"/>
              </a:spcAft>
              <a:buSzPct val="100000"/>
              <a:buChar char="•"/>
            </a:pPr>
            <a:r>
              <a:rPr lang="en-US" sz="1450" dirty="0">
                <a:solidFill>
                  <a:srgbClr val="2B3A4A"/>
                </a:solidFill>
                <a:latin typeface="Calibri" pitchFamily="34" charset="0"/>
                <a:ea typeface="Calibri" pitchFamily="34" charset="-122"/>
                <a:cs typeface="Calibri" pitchFamily="34" charset="-120"/>
              </a:rPr>
              <a:t>The score is broken down by signal, so you see exactly which one is hurting you.</a:t>
            </a:r>
            <a:endParaRPr lang="en-US" sz="1450" dirty="0"/>
          </a:p>
          <a:p>
            <a:pPr marL="342900" indent="-342900">
              <a:spcAft>
                <a:spcPts val="1400"/>
              </a:spcAft>
              <a:buSzPct val="100000"/>
              <a:buChar char="•"/>
            </a:pPr>
            <a:r>
              <a:rPr lang="en-US" sz="1450" dirty="0">
                <a:solidFill>
                  <a:srgbClr val="2B3A4A"/>
                </a:solidFill>
                <a:latin typeface="Calibri" pitchFamily="34" charset="0"/>
                <a:ea typeface="Calibri" pitchFamily="34" charset="-122"/>
                <a:cs typeface="Calibri" pitchFamily="34" charset="-120"/>
              </a:rPr>
              <a:t>SHAP explanations name the features actually driving the risk, not a generic label.</a:t>
            </a:r>
            <a:endParaRPr lang="en-US" sz="1450" dirty="0"/>
          </a:p>
          <a:p>
            <a:pPr marL="342900" indent="-342900">
              <a:spcAft>
                <a:spcPts val="1400"/>
              </a:spcAft>
              <a:buSzPct val="100000"/>
              <a:buChar char="•"/>
            </a:pPr>
            <a:r>
              <a:rPr lang="en-US" sz="1450" dirty="0">
                <a:solidFill>
                  <a:srgbClr val="2B3A4A"/>
                </a:solidFill>
                <a:latin typeface="Calibri" pitchFamily="34" charset="0"/>
                <a:ea typeface="Calibri" pitchFamily="34" charset="-122"/>
                <a:cs typeface="Calibri" pitchFamily="34" charset="-120"/>
              </a:rPr>
              <a:t>A rule-based engine turns the score into prioritised, concrete actions.</a:t>
            </a:r>
            <a:endParaRPr lang="en-US" sz="1450" dirty="0"/>
          </a:p>
        </p:txBody>
      </p:sp>
      <p:sp>
        <p:nvSpPr>
          <p:cNvPr id="5" name="Shape 3"/>
          <p:cNvSpPr/>
          <p:nvPr/>
        </p:nvSpPr>
        <p:spPr>
          <a:xfrm>
            <a:off x="685800" y="5175504"/>
            <a:ext cx="5029200" cy="731520"/>
          </a:xfrm>
          <a:prstGeom prst="roundRect">
            <a:avLst>
              <a:gd name="adj" fmla="val 12500"/>
            </a:avLst>
          </a:prstGeom>
          <a:solidFill>
            <a:srgbClr val="F1F5F9"/>
          </a:solidFill>
          <a:ln/>
        </p:spPr>
      </p:sp>
      <p:sp>
        <p:nvSpPr>
          <p:cNvPr id="6" name="Text 4"/>
          <p:cNvSpPr/>
          <p:nvPr/>
        </p:nvSpPr>
        <p:spPr>
          <a:xfrm>
            <a:off x="941832" y="5175504"/>
            <a:ext cx="4572000" cy="731520"/>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One number. One reason. Three actions.</a:t>
            </a:r>
            <a:endParaRPr lang="en-US" sz="1500" dirty="0"/>
          </a:p>
        </p:txBody>
      </p:sp>
      <p:sp>
        <p:nvSpPr>
          <p:cNvPr id="7" name="Shape 5"/>
          <p:cNvSpPr/>
          <p:nvPr/>
        </p:nvSpPr>
        <p:spPr>
          <a:xfrm>
            <a:off x="6263640" y="1847088"/>
            <a:ext cx="5239512" cy="4059936"/>
          </a:xfrm>
          <a:prstGeom prst="roundRect">
            <a:avLst>
              <a:gd name="adj" fmla="val 3604"/>
            </a:avLst>
          </a:prstGeom>
          <a:solidFill>
            <a:srgbClr val="0D1B2A"/>
          </a:solidFill>
          <a:ln/>
          <a:effectLst>
            <a:outerShdw sx="100000" sy="100000" kx="0" ky="0" algn="bl" rotWithShape="0" blurRad="127000" dist="25400" dir="5400000">
              <a:srgbClr val="8FA3B8">
                <a:alpha val="22000"/>
              </a:srgbClr>
            </a:outerShdw>
          </a:effectLst>
        </p:spPr>
      </p:sp>
      <p:sp>
        <p:nvSpPr>
          <p:cNvPr id="8" name="Text 6"/>
          <p:cNvSpPr/>
          <p:nvPr/>
        </p:nvSpPr>
        <p:spPr>
          <a:xfrm>
            <a:off x="6647688" y="2121408"/>
            <a:ext cx="2743200" cy="256032"/>
          </a:xfrm>
          <a:prstGeom prst="rect">
            <a:avLst/>
          </a:prstGeom>
          <a:noFill/>
          <a:ln/>
        </p:spPr>
        <p:txBody>
          <a:bodyPr wrap="square" lIns="0" tIns="0" rIns="0" bIns="0" rtlCol="0" anchor="ctr"/>
          <a:lstStyle/>
          <a:p>
            <a:pPr indent="0" marL="0">
              <a:buNone/>
            </a:pPr>
            <a:r>
              <a:rPr lang="en-US" sz="1000" b="1" spc="250" kern="0" dirty="0">
                <a:solidFill>
                  <a:srgbClr val="E39A1C"/>
                </a:solidFill>
                <a:latin typeface="Calibri" pitchFamily="34" charset="0"/>
                <a:ea typeface="Calibri" pitchFamily="34" charset="-122"/>
                <a:cs typeface="Calibri" pitchFamily="34" charset="-120"/>
              </a:rPr>
              <a:t>LIVE OUTPUT</a:t>
            </a:r>
            <a:endParaRPr lang="en-US" sz="1000" dirty="0"/>
          </a:p>
        </p:txBody>
      </p:sp>
      <p:sp>
        <p:nvSpPr>
          <p:cNvPr id="9" name="Text 7"/>
          <p:cNvSpPr/>
          <p:nvPr/>
        </p:nvSpPr>
        <p:spPr>
          <a:xfrm>
            <a:off x="6647688" y="2340864"/>
            <a:ext cx="3108960" cy="402336"/>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RedFlag Analytics</a:t>
            </a:r>
            <a:endParaRPr lang="en-US" sz="1900" dirty="0"/>
          </a:p>
        </p:txBody>
      </p:sp>
      <p:sp>
        <p:nvSpPr>
          <p:cNvPr id="10" name="Text 8"/>
          <p:cNvSpPr/>
          <p:nvPr/>
        </p:nvSpPr>
        <p:spPr>
          <a:xfrm>
            <a:off x="9464040" y="2103120"/>
            <a:ext cx="1691640" cy="868680"/>
          </a:xfrm>
          <a:prstGeom prst="rect">
            <a:avLst/>
          </a:prstGeom>
          <a:noFill/>
          <a:ln/>
        </p:spPr>
        <p:txBody>
          <a:bodyPr wrap="square" lIns="0" tIns="0" rIns="0" bIns="0" rtlCol="0" anchor="ctr"/>
          <a:lstStyle/>
          <a:p>
            <a:pPr algn="r" indent="0" marL="0">
              <a:buNone/>
            </a:pPr>
            <a:r>
              <a:rPr lang="en-US" sz="4600" b="1" dirty="0">
                <a:solidFill>
                  <a:srgbClr val="E39A1C"/>
                </a:solidFill>
                <a:latin typeface="Arial" pitchFamily="34" charset="0"/>
                <a:ea typeface="Arial" pitchFamily="34" charset="-122"/>
                <a:cs typeface="Arial" pitchFamily="34" charset="-120"/>
              </a:rPr>
              <a:t>57.4</a:t>
            </a:r>
            <a:endParaRPr lang="en-US" sz="4600" dirty="0"/>
          </a:p>
        </p:txBody>
      </p:sp>
      <p:sp>
        <p:nvSpPr>
          <p:cNvPr id="11" name="Shape 9"/>
          <p:cNvSpPr/>
          <p:nvPr/>
        </p:nvSpPr>
        <p:spPr>
          <a:xfrm>
            <a:off x="10177272" y="2999232"/>
            <a:ext cx="978408" cy="310896"/>
          </a:xfrm>
          <a:prstGeom prst="roundRect">
            <a:avLst>
              <a:gd name="adj" fmla="val 50000"/>
            </a:avLst>
          </a:prstGeom>
          <a:solidFill>
            <a:srgbClr val="E39A1C"/>
          </a:solidFill>
          <a:ln/>
        </p:spPr>
      </p:sp>
      <p:sp>
        <p:nvSpPr>
          <p:cNvPr id="12" name="Text 10"/>
          <p:cNvSpPr/>
          <p:nvPr/>
        </p:nvSpPr>
        <p:spPr>
          <a:xfrm>
            <a:off x="10177272" y="2999232"/>
            <a:ext cx="978408" cy="310896"/>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MEDIUM</a:t>
            </a:r>
            <a:endParaRPr lang="en-US" sz="1000" dirty="0"/>
          </a:p>
        </p:txBody>
      </p:sp>
      <p:sp>
        <p:nvSpPr>
          <p:cNvPr id="13" name="Text 11"/>
          <p:cNvSpPr/>
          <p:nvPr/>
        </p:nvSpPr>
        <p:spPr>
          <a:xfrm>
            <a:off x="6647688" y="3474720"/>
            <a:ext cx="4471416" cy="621792"/>
          </a:xfrm>
          <a:prstGeom prst="rect">
            <a:avLst/>
          </a:prstGeom>
          <a:noFill/>
          <a:ln/>
        </p:spPr>
        <p:txBody>
          <a:bodyPr wrap="square" lIns="0" tIns="0" rIns="0" bIns="0" rtlCol="0" anchor="t"/>
          <a:lstStyle/>
          <a:p>
            <a:pPr indent="0" marL="0">
              <a:lnSpc>
                <a:spcPts val="1600"/>
              </a:lnSpc>
              <a:buNone/>
            </a:pPr>
            <a:r>
              <a:rPr lang="en-US" sz="1100" i="1" dirty="0">
                <a:solidFill>
                  <a:srgbClr val="93A7BC"/>
                </a:solidFill>
                <a:latin typeface="Calibri" pitchFamily="34" charset="0"/>
                <a:ea typeface="Calibri" pitchFamily="34" charset="-122"/>
                <a:cs typeface="Calibri" pitchFamily="34" charset="-120"/>
              </a:rPr>
              <a:t>“Risk driven primarily by monthly spend and spend per login; sentiment is mostly negative; 1 anomalous day detected.”</a:t>
            </a:r>
            <a:endParaRPr lang="en-US" sz="1100" dirty="0"/>
          </a:p>
        </p:txBody>
      </p:sp>
      <p:sp>
        <p:nvSpPr>
          <p:cNvPr id="14" name="Shape 12"/>
          <p:cNvSpPr/>
          <p:nvPr/>
        </p:nvSpPr>
        <p:spPr>
          <a:xfrm>
            <a:off x="6647688" y="4261104"/>
            <a:ext cx="4471416" cy="475488"/>
          </a:xfrm>
          <a:prstGeom prst="roundRect">
            <a:avLst>
              <a:gd name="adj" fmla="val 15385"/>
            </a:avLst>
          </a:prstGeom>
          <a:solidFill>
            <a:srgbClr val="16324F"/>
          </a:solidFill>
          <a:ln/>
        </p:spPr>
      </p:sp>
      <p:sp>
        <p:nvSpPr>
          <p:cNvPr id="15" name="Shape 13"/>
          <p:cNvSpPr/>
          <p:nvPr/>
        </p:nvSpPr>
        <p:spPr>
          <a:xfrm>
            <a:off x="6793992" y="4370832"/>
            <a:ext cx="713232" cy="256032"/>
          </a:xfrm>
          <a:prstGeom prst="roundRect">
            <a:avLst>
              <a:gd name="adj" fmla="val 50000"/>
            </a:avLst>
          </a:prstGeom>
          <a:solidFill>
            <a:srgbClr val="CE4A3E"/>
          </a:solidFill>
          <a:ln/>
        </p:spPr>
      </p:sp>
      <p:sp>
        <p:nvSpPr>
          <p:cNvPr id="16" name="Text 14"/>
          <p:cNvSpPr/>
          <p:nvPr/>
        </p:nvSpPr>
        <p:spPr>
          <a:xfrm>
            <a:off x="6793992" y="4370832"/>
            <a:ext cx="713232" cy="256032"/>
          </a:xfrm>
          <a:prstGeom prst="rect">
            <a:avLst/>
          </a:prstGeom>
          <a:noFill/>
          <a:ln/>
        </p:spPr>
        <p:txBody>
          <a:bodyPr wrap="square" lIns="0" tIns="0" rIns="0" bIns="0" rtlCol="0" anchor="ctr"/>
          <a:lstStyle/>
          <a:p>
            <a:pPr algn="ctr" indent="0" marL="0">
              <a:buNone/>
            </a:pPr>
            <a:r>
              <a:rPr lang="en-US" sz="750" b="1" dirty="0">
                <a:solidFill>
                  <a:srgbClr val="0D1B2A"/>
                </a:solidFill>
                <a:latin typeface="Calibri" pitchFamily="34" charset="0"/>
                <a:ea typeface="Calibri" pitchFamily="34" charset="-122"/>
                <a:cs typeface="Calibri" pitchFamily="34" charset="-120"/>
              </a:rPr>
              <a:t>CRITICAL</a:t>
            </a:r>
            <a:endParaRPr lang="en-US" sz="750" dirty="0"/>
          </a:p>
        </p:txBody>
      </p:sp>
      <p:sp>
        <p:nvSpPr>
          <p:cNvPr id="17" name="Text 15"/>
          <p:cNvSpPr/>
          <p:nvPr/>
        </p:nvSpPr>
        <p:spPr>
          <a:xfrm>
            <a:off x="7598664" y="4261104"/>
            <a:ext cx="3456432" cy="4754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Prioritise retention outreach for the at-risk segment</a:t>
            </a:r>
            <a:endParaRPr lang="en-US" sz="1100" dirty="0"/>
          </a:p>
        </p:txBody>
      </p:sp>
      <p:sp>
        <p:nvSpPr>
          <p:cNvPr id="18" name="Shape 16"/>
          <p:cNvSpPr/>
          <p:nvPr/>
        </p:nvSpPr>
        <p:spPr>
          <a:xfrm>
            <a:off x="6647688" y="4809744"/>
            <a:ext cx="4471416" cy="475488"/>
          </a:xfrm>
          <a:prstGeom prst="roundRect">
            <a:avLst>
              <a:gd name="adj" fmla="val 15385"/>
            </a:avLst>
          </a:prstGeom>
          <a:solidFill>
            <a:srgbClr val="16324F"/>
          </a:solidFill>
          <a:ln/>
        </p:spPr>
      </p:sp>
      <p:sp>
        <p:nvSpPr>
          <p:cNvPr id="19" name="Shape 17"/>
          <p:cNvSpPr/>
          <p:nvPr/>
        </p:nvSpPr>
        <p:spPr>
          <a:xfrm>
            <a:off x="6793992" y="4919472"/>
            <a:ext cx="713232" cy="256032"/>
          </a:xfrm>
          <a:prstGeom prst="roundRect">
            <a:avLst>
              <a:gd name="adj" fmla="val 50000"/>
            </a:avLst>
          </a:prstGeom>
          <a:solidFill>
            <a:srgbClr val="E39A1C"/>
          </a:solidFill>
          <a:ln/>
        </p:spPr>
      </p:sp>
      <p:sp>
        <p:nvSpPr>
          <p:cNvPr id="20" name="Text 18"/>
          <p:cNvSpPr/>
          <p:nvPr/>
        </p:nvSpPr>
        <p:spPr>
          <a:xfrm>
            <a:off x="6793992" y="4919472"/>
            <a:ext cx="713232" cy="256032"/>
          </a:xfrm>
          <a:prstGeom prst="rect">
            <a:avLst/>
          </a:prstGeom>
          <a:noFill/>
          <a:ln/>
        </p:spPr>
        <p:txBody>
          <a:bodyPr wrap="square" lIns="0" tIns="0" rIns="0" bIns="0" rtlCol="0" anchor="ctr"/>
          <a:lstStyle/>
          <a:p>
            <a:pPr algn="ctr" indent="0" marL="0">
              <a:buNone/>
            </a:pPr>
            <a:r>
              <a:rPr lang="en-US" sz="750" b="1" dirty="0">
                <a:solidFill>
                  <a:srgbClr val="0D1B2A"/>
                </a:solidFill>
                <a:latin typeface="Calibri" pitchFamily="34" charset="0"/>
                <a:ea typeface="Calibri" pitchFamily="34" charset="-122"/>
                <a:cs typeface="Calibri" pitchFamily="34" charset="-120"/>
              </a:rPr>
              <a:t>HIGH</a:t>
            </a:r>
            <a:endParaRPr lang="en-US" sz="750" dirty="0"/>
          </a:p>
        </p:txBody>
      </p:sp>
      <p:sp>
        <p:nvSpPr>
          <p:cNvPr id="21" name="Text 19"/>
          <p:cNvSpPr/>
          <p:nvPr/>
        </p:nvSpPr>
        <p:spPr>
          <a:xfrm>
            <a:off x="7598664" y="4809744"/>
            <a:ext cx="3456432" cy="4754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Triage negative reviews, publish a response plan</a:t>
            </a:r>
            <a:endParaRPr lang="en-US" sz="1100" dirty="0"/>
          </a:p>
        </p:txBody>
      </p:sp>
      <p:sp>
        <p:nvSpPr>
          <p:cNvPr id="22" name="Shape 20"/>
          <p:cNvSpPr/>
          <p:nvPr/>
        </p:nvSpPr>
        <p:spPr>
          <a:xfrm>
            <a:off x="6647688" y="5358384"/>
            <a:ext cx="4471416" cy="475488"/>
          </a:xfrm>
          <a:prstGeom prst="roundRect">
            <a:avLst>
              <a:gd name="adj" fmla="val 15385"/>
            </a:avLst>
          </a:prstGeom>
          <a:solidFill>
            <a:srgbClr val="16324F"/>
          </a:solidFill>
          <a:ln/>
        </p:spPr>
      </p:sp>
      <p:sp>
        <p:nvSpPr>
          <p:cNvPr id="23" name="Shape 21"/>
          <p:cNvSpPr/>
          <p:nvPr/>
        </p:nvSpPr>
        <p:spPr>
          <a:xfrm>
            <a:off x="6793992" y="5468112"/>
            <a:ext cx="713232" cy="256032"/>
          </a:xfrm>
          <a:prstGeom prst="roundRect">
            <a:avLst>
              <a:gd name="adj" fmla="val 50000"/>
            </a:avLst>
          </a:prstGeom>
          <a:solidFill>
            <a:srgbClr val="E39A1C"/>
          </a:solidFill>
          <a:ln/>
        </p:spPr>
      </p:sp>
      <p:sp>
        <p:nvSpPr>
          <p:cNvPr id="24" name="Text 22"/>
          <p:cNvSpPr/>
          <p:nvPr/>
        </p:nvSpPr>
        <p:spPr>
          <a:xfrm>
            <a:off x="6793992" y="5468112"/>
            <a:ext cx="713232" cy="256032"/>
          </a:xfrm>
          <a:prstGeom prst="rect">
            <a:avLst/>
          </a:prstGeom>
          <a:noFill/>
          <a:ln/>
        </p:spPr>
        <p:txBody>
          <a:bodyPr wrap="square" lIns="0" tIns="0" rIns="0" bIns="0" rtlCol="0" anchor="ctr"/>
          <a:lstStyle/>
          <a:p>
            <a:pPr algn="ctr" indent="0" marL="0">
              <a:buNone/>
            </a:pPr>
            <a:r>
              <a:rPr lang="en-US" sz="750" b="1" dirty="0">
                <a:solidFill>
                  <a:srgbClr val="0D1B2A"/>
                </a:solidFill>
                <a:latin typeface="Calibri" pitchFamily="34" charset="0"/>
                <a:ea typeface="Calibri" pitchFamily="34" charset="-122"/>
                <a:cs typeface="Calibri" pitchFamily="34" charset="-120"/>
              </a:rPr>
              <a:t>HIGH</a:t>
            </a:r>
            <a:endParaRPr lang="en-US" sz="750" dirty="0"/>
          </a:p>
        </p:txBody>
      </p:sp>
      <p:sp>
        <p:nvSpPr>
          <p:cNvPr id="25" name="Text 23"/>
          <p:cNvSpPr/>
          <p:nvPr/>
        </p:nvSpPr>
        <p:spPr>
          <a:xfrm>
            <a:off x="7598664" y="5358384"/>
            <a:ext cx="3456432" cy="4754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Investigate billing pipeline for failed charges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820095" cy="658368"/>
          </a:xfrm>
          <a:prstGeom prst="rect">
            <a:avLst/>
          </a:prstGeom>
          <a:noFill/>
          <a:ln/>
        </p:spPr>
        <p:txBody>
          <a:bodyPr wrap="square" lIns="0" tIns="0" rIns="0" bIns="0" rtlCol="0" anchor="ctr"/>
          <a:lstStyle/>
          <a:p>
            <a:pPr algn="l" indent="0" marL="0">
              <a:buNone/>
            </a:pPr>
            <a:r>
              <a:rPr lang="en-US" sz="3800" b="1" dirty="0">
                <a:solidFill>
                  <a:srgbClr val="0D1B2A"/>
                </a:solidFill>
                <a:latin typeface="Arial" pitchFamily="34" charset="0"/>
                <a:ea typeface="Arial" pitchFamily="34" charset="-122"/>
                <a:cs typeface="Arial" pitchFamily="34" charset="-120"/>
              </a:rPr>
              <a:t>How It Works</a:t>
            </a:r>
            <a:endParaRPr lang="en-US" sz="3800" dirty="0"/>
          </a:p>
        </p:txBody>
      </p:sp>
      <p:sp>
        <p:nvSpPr>
          <p:cNvPr id="3" name="Text 1"/>
          <p:cNvSpPr/>
          <p:nvPr/>
        </p:nvSpPr>
        <p:spPr>
          <a:xfrm>
            <a:off x="685800" y="1133856"/>
            <a:ext cx="10820095" cy="365760"/>
          </a:xfrm>
          <a:prstGeom prst="rect">
            <a:avLst/>
          </a:prstGeom>
          <a:noFill/>
          <a:ln/>
        </p:spPr>
        <p:txBody>
          <a:bodyPr wrap="square" lIns="0" tIns="0" rIns="0" bIns="0" rtlCol="0" anchor="ctr"/>
          <a:lstStyle/>
          <a:p>
            <a:pPr algn="l" indent="0" marL="0">
              <a:buNone/>
            </a:pPr>
            <a:r>
              <a:rPr lang="en-US" sz="1500" i="1" dirty="0">
                <a:solidFill>
                  <a:srgbClr val="3E5C76"/>
                </a:solidFill>
                <a:latin typeface="Calibri" pitchFamily="34" charset="0"/>
                <a:ea typeface="Calibri" pitchFamily="34" charset="-122"/>
                <a:cs typeface="Calibri" pitchFamily="34" charset="-120"/>
              </a:rPr>
              <a:t>Four independent models feed one aggregator.</a:t>
            </a:r>
            <a:endParaRPr lang="en-US" sz="1500" dirty="0"/>
          </a:p>
        </p:txBody>
      </p:sp>
      <p:sp>
        <p:nvSpPr>
          <p:cNvPr id="4" name="Shape 2"/>
          <p:cNvSpPr/>
          <p:nvPr/>
        </p:nvSpPr>
        <p:spPr>
          <a:xfrm>
            <a:off x="685800" y="1783080"/>
            <a:ext cx="2615184" cy="1938528"/>
          </a:xfrm>
          <a:prstGeom prst="roundRect">
            <a:avLst>
              <a:gd name="adj" fmla="val 5660"/>
            </a:avLst>
          </a:prstGeom>
          <a:solidFill>
            <a:srgbClr val="FFFFFF"/>
          </a:solidFill>
          <a:ln w="12700">
            <a:solidFill>
              <a:srgbClr val="DCE4EC"/>
            </a:solidFill>
            <a:prstDash val="solid"/>
          </a:ln>
          <a:effectLst>
            <a:outerShdw sx="100000" sy="100000" kx="0" ky="0" algn="bl" rotWithShape="0" blurRad="127000" dist="25400" dir="5400000">
              <a:srgbClr val="8FA3B8">
                <a:alpha val="22000"/>
              </a:srgbClr>
            </a:outerShdw>
          </a:effectLst>
        </p:spPr>
      </p:sp>
      <p:sp>
        <p:nvSpPr>
          <p:cNvPr id="5" name="Shape 3"/>
          <p:cNvSpPr/>
          <p:nvPr/>
        </p:nvSpPr>
        <p:spPr>
          <a:xfrm>
            <a:off x="941832" y="2020824"/>
            <a:ext cx="512064" cy="512064"/>
          </a:xfrm>
          <a:prstGeom prst="ellipse">
            <a:avLst/>
          </a:prstGeom>
          <a:solidFill>
            <a:srgbClr val="CE4A3E"/>
          </a:solidFill>
          <a:ln/>
        </p:spPr>
      </p:sp>
      <p:pic>
        <p:nvPicPr>
          <p:cNvPr id="6" name="Image 0" descr="preencoded.png">    </p:cNvPr>
          <p:cNvPicPr>
            <a:picLocks noChangeAspect="1"/>
          </p:cNvPicPr>
          <p:nvPr/>
        </p:nvPicPr>
        <p:blipFill>
          <a:blip r:embed="rId1"/>
          <a:stretch>
            <a:fillRect/>
          </a:stretch>
        </p:blipFill>
        <p:spPr>
          <a:xfrm>
            <a:off x="1069848" y="2148840"/>
            <a:ext cx="256032" cy="256032"/>
          </a:xfrm>
          <a:prstGeom prst="rect">
            <a:avLst/>
          </a:prstGeom>
        </p:spPr>
      </p:pic>
      <p:sp>
        <p:nvSpPr>
          <p:cNvPr id="7" name="Text 4"/>
          <p:cNvSpPr/>
          <p:nvPr/>
        </p:nvSpPr>
        <p:spPr>
          <a:xfrm>
            <a:off x="941832" y="2624328"/>
            <a:ext cx="2103120" cy="310896"/>
          </a:xfrm>
          <a:prstGeom prst="rect">
            <a:avLst/>
          </a:prstGeom>
          <a:noFill/>
          <a:ln/>
        </p:spPr>
        <p:txBody>
          <a:bodyPr wrap="square" lIns="0" tIns="0" rIns="0" bIns="0" rtlCol="0" anchor="ctr"/>
          <a:lstStyle/>
          <a:p>
            <a:pPr indent="0" marL="0">
              <a:buNone/>
            </a:pPr>
            <a:r>
              <a:rPr lang="en-US" sz="1600" b="1" dirty="0">
                <a:solidFill>
                  <a:srgbClr val="0D1B2A"/>
                </a:solidFill>
                <a:latin typeface="Arial" pitchFamily="34" charset="0"/>
                <a:ea typeface="Arial" pitchFamily="34" charset="-122"/>
                <a:cs typeface="Arial" pitchFamily="34" charset="-120"/>
              </a:rPr>
              <a:t>Churn</a:t>
            </a:r>
            <a:endParaRPr lang="en-US" sz="1600" dirty="0"/>
          </a:p>
        </p:txBody>
      </p:sp>
      <p:sp>
        <p:nvSpPr>
          <p:cNvPr id="8" name="Text 5"/>
          <p:cNvSpPr/>
          <p:nvPr/>
        </p:nvSpPr>
        <p:spPr>
          <a:xfrm>
            <a:off x="941832" y="2935224"/>
            <a:ext cx="2103120" cy="658368"/>
          </a:xfrm>
          <a:prstGeom prst="rect">
            <a:avLst/>
          </a:prstGeom>
          <a:noFill/>
          <a:ln/>
        </p:spPr>
        <p:txBody>
          <a:bodyPr wrap="square" lIns="0" tIns="0" rIns="0" bIns="0" rtlCol="0" anchor="t"/>
          <a:lstStyle/>
          <a:p>
            <a:pPr indent="0" marL="0">
              <a:lnSpc>
                <a:spcPts val="1500"/>
              </a:lnSpc>
              <a:buNone/>
            </a:pPr>
            <a:r>
              <a:rPr lang="en-US" sz="1150" dirty="0">
                <a:solidFill>
                  <a:srgbClr val="3E5C76"/>
                </a:solidFill>
                <a:latin typeface="Calibri" pitchFamily="34" charset="0"/>
                <a:ea typeface="Calibri" pitchFamily="34" charset="-122"/>
                <a:cs typeface="Calibri" pitchFamily="34" charset="-120"/>
              </a:rPr>
              <a:t>Per-customer departure probability from usage and billing behaviour</a:t>
            </a:r>
            <a:endParaRPr lang="en-US" sz="1150" dirty="0"/>
          </a:p>
        </p:txBody>
      </p:sp>
      <p:sp>
        <p:nvSpPr>
          <p:cNvPr id="9" name="Shape 6"/>
          <p:cNvSpPr/>
          <p:nvPr/>
        </p:nvSpPr>
        <p:spPr>
          <a:xfrm>
            <a:off x="3584448" y="1783080"/>
            <a:ext cx="2615184" cy="1938528"/>
          </a:xfrm>
          <a:prstGeom prst="roundRect">
            <a:avLst>
              <a:gd name="adj" fmla="val 5660"/>
            </a:avLst>
          </a:prstGeom>
          <a:solidFill>
            <a:srgbClr val="FFFFFF"/>
          </a:solidFill>
          <a:ln w="12700">
            <a:solidFill>
              <a:srgbClr val="DCE4EC"/>
            </a:solidFill>
            <a:prstDash val="solid"/>
          </a:ln>
          <a:effectLst>
            <a:outerShdw sx="100000" sy="100000" kx="0" ky="0" algn="bl" rotWithShape="0" blurRad="127000" dist="25400" dir="5400000">
              <a:srgbClr val="8FA3B8">
                <a:alpha val="22000"/>
              </a:srgbClr>
            </a:outerShdw>
          </a:effectLst>
        </p:spPr>
      </p:sp>
      <p:sp>
        <p:nvSpPr>
          <p:cNvPr id="10" name="Shape 7"/>
          <p:cNvSpPr/>
          <p:nvPr/>
        </p:nvSpPr>
        <p:spPr>
          <a:xfrm>
            <a:off x="3840480" y="2020824"/>
            <a:ext cx="512064" cy="512064"/>
          </a:xfrm>
          <a:prstGeom prst="ellipse">
            <a:avLst/>
          </a:prstGeom>
          <a:solidFill>
            <a:srgbClr val="E39A1C"/>
          </a:solidFill>
          <a:ln/>
        </p:spPr>
      </p:sp>
      <p:pic>
        <p:nvPicPr>
          <p:cNvPr id="11" name="Image 1" descr="preencoded.png">    </p:cNvPr>
          <p:cNvPicPr>
            <a:picLocks noChangeAspect="1"/>
          </p:cNvPicPr>
          <p:nvPr/>
        </p:nvPicPr>
        <p:blipFill>
          <a:blip r:embed="rId2"/>
          <a:stretch>
            <a:fillRect/>
          </a:stretch>
        </p:blipFill>
        <p:spPr>
          <a:xfrm>
            <a:off x="3968496" y="2148840"/>
            <a:ext cx="256032" cy="256032"/>
          </a:xfrm>
          <a:prstGeom prst="rect">
            <a:avLst/>
          </a:prstGeom>
        </p:spPr>
      </p:pic>
      <p:sp>
        <p:nvSpPr>
          <p:cNvPr id="12" name="Text 8"/>
          <p:cNvSpPr/>
          <p:nvPr/>
        </p:nvSpPr>
        <p:spPr>
          <a:xfrm>
            <a:off x="3840480" y="2624328"/>
            <a:ext cx="2103120" cy="310896"/>
          </a:xfrm>
          <a:prstGeom prst="rect">
            <a:avLst/>
          </a:prstGeom>
          <a:noFill/>
          <a:ln/>
        </p:spPr>
        <p:txBody>
          <a:bodyPr wrap="square" lIns="0" tIns="0" rIns="0" bIns="0" rtlCol="0" anchor="ctr"/>
          <a:lstStyle/>
          <a:p>
            <a:pPr indent="0" marL="0">
              <a:buNone/>
            </a:pPr>
            <a:r>
              <a:rPr lang="en-US" sz="1600" b="1" dirty="0">
                <a:solidFill>
                  <a:srgbClr val="0D1B2A"/>
                </a:solidFill>
                <a:latin typeface="Arial" pitchFamily="34" charset="0"/>
                <a:ea typeface="Arial" pitchFamily="34" charset="-122"/>
                <a:cs typeface="Arial" pitchFamily="34" charset="-120"/>
              </a:rPr>
              <a:t>Sentiment</a:t>
            </a:r>
            <a:endParaRPr lang="en-US" sz="1600" dirty="0"/>
          </a:p>
        </p:txBody>
      </p:sp>
      <p:sp>
        <p:nvSpPr>
          <p:cNvPr id="13" name="Text 9"/>
          <p:cNvSpPr/>
          <p:nvPr/>
        </p:nvSpPr>
        <p:spPr>
          <a:xfrm>
            <a:off x="3840480" y="2935224"/>
            <a:ext cx="2103120" cy="658368"/>
          </a:xfrm>
          <a:prstGeom prst="rect">
            <a:avLst/>
          </a:prstGeom>
          <a:noFill/>
          <a:ln/>
        </p:spPr>
        <p:txBody>
          <a:bodyPr wrap="square" lIns="0" tIns="0" rIns="0" bIns="0" rtlCol="0" anchor="t"/>
          <a:lstStyle/>
          <a:p>
            <a:pPr indent="0" marL="0">
              <a:lnSpc>
                <a:spcPts val="1500"/>
              </a:lnSpc>
              <a:buNone/>
            </a:pPr>
            <a:r>
              <a:rPr lang="en-US" sz="1150" dirty="0">
                <a:solidFill>
                  <a:srgbClr val="3E5C76"/>
                </a:solidFill>
                <a:latin typeface="Calibri" pitchFamily="34" charset="0"/>
                <a:ea typeface="Calibri" pitchFamily="34" charset="-122"/>
                <a:cs typeface="Calibri" pitchFamily="34" charset="-120"/>
              </a:rPr>
              <a:t>Every review classified positive, negative or neutral</a:t>
            </a:r>
            <a:endParaRPr lang="en-US" sz="1150" dirty="0"/>
          </a:p>
        </p:txBody>
      </p:sp>
      <p:sp>
        <p:nvSpPr>
          <p:cNvPr id="14" name="Shape 10"/>
          <p:cNvSpPr/>
          <p:nvPr/>
        </p:nvSpPr>
        <p:spPr>
          <a:xfrm>
            <a:off x="6483096" y="1783080"/>
            <a:ext cx="2615184" cy="1938528"/>
          </a:xfrm>
          <a:prstGeom prst="roundRect">
            <a:avLst>
              <a:gd name="adj" fmla="val 5660"/>
            </a:avLst>
          </a:prstGeom>
          <a:solidFill>
            <a:srgbClr val="FFFFFF"/>
          </a:solidFill>
          <a:ln w="12700">
            <a:solidFill>
              <a:srgbClr val="DCE4EC"/>
            </a:solidFill>
            <a:prstDash val="solid"/>
          </a:ln>
          <a:effectLst>
            <a:outerShdw sx="100000" sy="100000" kx="0" ky="0" algn="bl" rotWithShape="0" blurRad="127000" dist="25400" dir="5400000">
              <a:srgbClr val="8FA3B8">
                <a:alpha val="22000"/>
              </a:srgbClr>
            </a:outerShdw>
          </a:effectLst>
        </p:spPr>
      </p:sp>
      <p:sp>
        <p:nvSpPr>
          <p:cNvPr id="15" name="Shape 11"/>
          <p:cNvSpPr/>
          <p:nvPr/>
        </p:nvSpPr>
        <p:spPr>
          <a:xfrm>
            <a:off x="6739128" y="2020824"/>
            <a:ext cx="512064" cy="512064"/>
          </a:xfrm>
          <a:prstGeom prst="ellipse">
            <a:avLst/>
          </a:prstGeom>
          <a:solidFill>
            <a:srgbClr val="2E9E6B"/>
          </a:solidFill>
          <a:ln/>
        </p:spPr>
      </p:sp>
      <p:pic>
        <p:nvPicPr>
          <p:cNvPr id="16" name="Image 2" descr="preencoded.png">    </p:cNvPr>
          <p:cNvPicPr>
            <a:picLocks noChangeAspect="1"/>
          </p:cNvPicPr>
          <p:nvPr/>
        </p:nvPicPr>
        <p:blipFill>
          <a:blip r:embed="rId3"/>
          <a:stretch>
            <a:fillRect/>
          </a:stretch>
        </p:blipFill>
        <p:spPr>
          <a:xfrm>
            <a:off x="6867144" y="2148840"/>
            <a:ext cx="256032" cy="256032"/>
          </a:xfrm>
          <a:prstGeom prst="rect">
            <a:avLst/>
          </a:prstGeom>
        </p:spPr>
      </p:pic>
      <p:sp>
        <p:nvSpPr>
          <p:cNvPr id="17" name="Text 12"/>
          <p:cNvSpPr/>
          <p:nvPr/>
        </p:nvSpPr>
        <p:spPr>
          <a:xfrm>
            <a:off x="6739128" y="2624328"/>
            <a:ext cx="2103120" cy="310896"/>
          </a:xfrm>
          <a:prstGeom prst="rect">
            <a:avLst/>
          </a:prstGeom>
          <a:noFill/>
          <a:ln/>
        </p:spPr>
        <p:txBody>
          <a:bodyPr wrap="square" lIns="0" tIns="0" rIns="0" bIns="0" rtlCol="0" anchor="ctr"/>
          <a:lstStyle/>
          <a:p>
            <a:pPr indent="0" marL="0">
              <a:buNone/>
            </a:pPr>
            <a:r>
              <a:rPr lang="en-US" sz="1600" b="1" dirty="0">
                <a:solidFill>
                  <a:srgbClr val="0D1B2A"/>
                </a:solidFill>
                <a:latin typeface="Arial" pitchFamily="34" charset="0"/>
                <a:ea typeface="Arial" pitchFamily="34" charset="-122"/>
                <a:cs typeface="Arial" pitchFamily="34" charset="-120"/>
              </a:rPr>
              <a:t>Anomalies</a:t>
            </a:r>
            <a:endParaRPr lang="en-US" sz="1600" dirty="0"/>
          </a:p>
        </p:txBody>
      </p:sp>
      <p:sp>
        <p:nvSpPr>
          <p:cNvPr id="18" name="Text 13"/>
          <p:cNvSpPr/>
          <p:nvPr/>
        </p:nvSpPr>
        <p:spPr>
          <a:xfrm>
            <a:off x="6739128" y="2935224"/>
            <a:ext cx="2103120" cy="658368"/>
          </a:xfrm>
          <a:prstGeom prst="rect">
            <a:avLst/>
          </a:prstGeom>
          <a:noFill/>
          <a:ln/>
        </p:spPr>
        <p:txBody>
          <a:bodyPr wrap="square" lIns="0" tIns="0" rIns="0" bIns="0" rtlCol="0" anchor="t"/>
          <a:lstStyle/>
          <a:p>
            <a:pPr indent="0" marL="0">
              <a:lnSpc>
                <a:spcPts val="1500"/>
              </a:lnSpc>
              <a:buNone/>
            </a:pPr>
            <a:r>
              <a:rPr lang="en-US" sz="1150" dirty="0">
                <a:solidFill>
                  <a:srgbClr val="3E5C76"/>
                </a:solidFill>
                <a:latin typeface="Calibri" pitchFamily="34" charset="0"/>
                <a:ea typeface="Calibri" pitchFamily="34" charset="-122"/>
                <a:cs typeface="Calibri" pitchFamily="34" charset="-120"/>
              </a:rPr>
              <a:t>Unusual days flagged in revenue, active users and signups</a:t>
            </a:r>
            <a:endParaRPr lang="en-US" sz="1150" dirty="0"/>
          </a:p>
        </p:txBody>
      </p:sp>
      <p:sp>
        <p:nvSpPr>
          <p:cNvPr id="19" name="Shape 14"/>
          <p:cNvSpPr/>
          <p:nvPr/>
        </p:nvSpPr>
        <p:spPr>
          <a:xfrm>
            <a:off x="9381744" y="1783080"/>
            <a:ext cx="2615184" cy="1938528"/>
          </a:xfrm>
          <a:prstGeom prst="roundRect">
            <a:avLst>
              <a:gd name="adj" fmla="val 5660"/>
            </a:avLst>
          </a:prstGeom>
          <a:solidFill>
            <a:srgbClr val="FFFFFF"/>
          </a:solidFill>
          <a:ln w="12700">
            <a:solidFill>
              <a:srgbClr val="DCE4EC"/>
            </a:solidFill>
            <a:prstDash val="solid"/>
          </a:ln>
          <a:effectLst>
            <a:outerShdw sx="100000" sy="100000" kx="0" ky="0" algn="bl" rotWithShape="0" blurRad="127000" dist="25400" dir="5400000">
              <a:srgbClr val="8FA3B8">
                <a:alpha val="22000"/>
              </a:srgbClr>
            </a:outerShdw>
          </a:effectLst>
        </p:spPr>
      </p:sp>
      <p:sp>
        <p:nvSpPr>
          <p:cNvPr id="20" name="Shape 15"/>
          <p:cNvSpPr/>
          <p:nvPr/>
        </p:nvSpPr>
        <p:spPr>
          <a:xfrm>
            <a:off x="9637776" y="2020824"/>
            <a:ext cx="512064" cy="512064"/>
          </a:xfrm>
          <a:prstGeom prst="ellipse">
            <a:avLst/>
          </a:prstGeom>
          <a:solidFill>
            <a:srgbClr val="5B8DEF"/>
          </a:solidFill>
          <a:ln/>
        </p:spPr>
      </p:sp>
      <p:pic>
        <p:nvPicPr>
          <p:cNvPr id="21" name="Image 3" descr="preencoded.png">    </p:cNvPr>
          <p:cNvPicPr>
            <a:picLocks noChangeAspect="1"/>
          </p:cNvPicPr>
          <p:nvPr/>
        </p:nvPicPr>
        <p:blipFill>
          <a:blip r:embed="rId4"/>
          <a:stretch>
            <a:fillRect/>
          </a:stretch>
        </p:blipFill>
        <p:spPr>
          <a:xfrm>
            <a:off x="9765792" y="2148840"/>
            <a:ext cx="256032" cy="256032"/>
          </a:xfrm>
          <a:prstGeom prst="rect">
            <a:avLst/>
          </a:prstGeom>
        </p:spPr>
      </p:pic>
      <p:sp>
        <p:nvSpPr>
          <p:cNvPr id="22" name="Text 16"/>
          <p:cNvSpPr/>
          <p:nvPr/>
        </p:nvSpPr>
        <p:spPr>
          <a:xfrm>
            <a:off x="9637776" y="2624328"/>
            <a:ext cx="2103120" cy="310896"/>
          </a:xfrm>
          <a:prstGeom prst="rect">
            <a:avLst/>
          </a:prstGeom>
          <a:noFill/>
          <a:ln/>
        </p:spPr>
        <p:txBody>
          <a:bodyPr wrap="square" lIns="0" tIns="0" rIns="0" bIns="0" rtlCol="0" anchor="ctr"/>
          <a:lstStyle/>
          <a:p>
            <a:pPr indent="0" marL="0">
              <a:buNone/>
            </a:pPr>
            <a:r>
              <a:rPr lang="en-US" sz="1600" b="1" dirty="0">
                <a:solidFill>
                  <a:srgbClr val="0D1B2A"/>
                </a:solidFill>
                <a:latin typeface="Arial" pitchFamily="34" charset="0"/>
                <a:ea typeface="Arial" pitchFamily="34" charset="-122"/>
                <a:cs typeface="Arial" pitchFamily="34" charset="-120"/>
              </a:rPr>
              <a:t>Forecast</a:t>
            </a:r>
            <a:endParaRPr lang="en-US" sz="1600" dirty="0"/>
          </a:p>
        </p:txBody>
      </p:sp>
      <p:sp>
        <p:nvSpPr>
          <p:cNvPr id="23" name="Text 17"/>
          <p:cNvSpPr/>
          <p:nvPr/>
        </p:nvSpPr>
        <p:spPr>
          <a:xfrm>
            <a:off x="9637776" y="2935224"/>
            <a:ext cx="2103120" cy="658368"/>
          </a:xfrm>
          <a:prstGeom prst="rect">
            <a:avLst/>
          </a:prstGeom>
          <a:noFill/>
          <a:ln/>
        </p:spPr>
        <p:txBody>
          <a:bodyPr wrap="square" lIns="0" tIns="0" rIns="0" bIns="0" rtlCol="0" anchor="t"/>
          <a:lstStyle/>
          <a:p>
            <a:pPr indent="0" marL="0">
              <a:lnSpc>
                <a:spcPts val="1500"/>
              </a:lnSpc>
              <a:buNone/>
            </a:pPr>
            <a:r>
              <a:rPr lang="en-US" sz="1150" dirty="0">
                <a:solidFill>
                  <a:srgbClr val="3E5C76"/>
                </a:solidFill>
                <a:latin typeface="Calibri" pitchFamily="34" charset="0"/>
                <a:ea typeface="Calibri" pitchFamily="34" charset="-122"/>
                <a:cs typeface="Calibri" pitchFamily="34" charset="-120"/>
              </a:rPr>
              <a:t>30 days of revenue projected with a 95% confidence band</a:t>
            </a:r>
            <a:endParaRPr lang="en-US" sz="1150" dirty="0"/>
          </a:p>
        </p:txBody>
      </p:sp>
      <p:sp>
        <p:nvSpPr>
          <p:cNvPr id="24" name="Shape 18"/>
          <p:cNvSpPr/>
          <p:nvPr/>
        </p:nvSpPr>
        <p:spPr>
          <a:xfrm>
            <a:off x="1993392" y="3776472"/>
            <a:ext cx="0" cy="182880"/>
          </a:xfrm>
          <a:prstGeom prst="line">
            <a:avLst/>
          </a:prstGeom>
          <a:noFill/>
          <a:ln w="25400">
            <a:solidFill>
              <a:srgbClr val="DCE4EC"/>
            </a:solidFill>
            <a:prstDash val="solid"/>
            <a:tailEnd type="triangle"/>
          </a:ln>
        </p:spPr>
      </p:sp>
      <p:sp>
        <p:nvSpPr>
          <p:cNvPr id="25" name="Shape 19"/>
          <p:cNvSpPr/>
          <p:nvPr/>
        </p:nvSpPr>
        <p:spPr>
          <a:xfrm>
            <a:off x="4892040" y="3776472"/>
            <a:ext cx="0" cy="182880"/>
          </a:xfrm>
          <a:prstGeom prst="line">
            <a:avLst/>
          </a:prstGeom>
          <a:noFill/>
          <a:ln w="25400">
            <a:solidFill>
              <a:srgbClr val="DCE4EC"/>
            </a:solidFill>
            <a:prstDash val="solid"/>
            <a:tailEnd type="triangle"/>
          </a:ln>
        </p:spPr>
      </p:sp>
      <p:sp>
        <p:nvSpPr>
          <p:cNvPr id="26" name="Shape 20"/>
          <p:cNvSpPr/>
          <p:nvPr/>
        </p:nvSpPr>
        <p:spPr>
          <a:xfrm>
            <a:off x="7790688" y="3776472"/>
            <a:ext cx="0" cy="182880"/>
          </a:xfrm>
          <a:prstGeom prst="line">
            <a:avLst/>
          </a:prstGeom>
          <a:noFill/>
          <a:ln w="25400">
            <a:solidFill>
              <a:srgbClr val="DCE4EC"/>
            </a:solidFill>
            <a:prstDash val="solid"/>
            <a:tailEnd type="triangle"/>
          </a:ln>
        </p:spPr>
      </p:sp>
      <p:sp>
        <p:nvSpPr>
          <p:cNvPr id="27" name="Shape 21"/>
          <p:cNvSpPr/>
          <p:nvPr/>
        </p:nvSpPr>
        <p:spPr>
          <a:xfrm>
            <a:off x="10689336" y="3776472"/>
            <a:ext cx="0" cy="182880"/>
          </a:xfrm>
          <a:prstGeom prst="line">
            <a:avLst/>
          </a:prstGeom>
          <a:noFill/>
          <a:ln w="25400">
            <a:solidFill>
              <a:srgbClr val="DCE4EC"/>
            </a:solidFill>
            <a:prstDash val="solid"/>
            <a:tailEnd type="triangle"/>
          </a:ln>
        </p:spPr>
      </p:sp>
      <p:sp>
        <p:nvSpPr>
          <p:cNvPr id="28" name="Shape 22"/>
          <p:cNvSpPr/>
          <p:nvPr/>
        </p:nvSpPr>
        <p:spPr>
          <a:xfrm>
            <a:off x="685800" y="3986784"/>
            <a:ext cx="10820095" cy="896112"/>
          </a:xfrm>
          <a:prstGeom prst="roundRect">
            <a:avLst>
              <a:gd name="adj" fmla="val 12245"/>
            </a:avLst>
          </a:prstGeom>
          <a:solidFill>
            <a:srgbClr val="0D1B2A"/>
          </a:solidFill>
          <a:ln/>
        </p:spPr>
      </p:sp>
      <p:sp>
        <p:nvSpPr>
          <p:cNvPr id="29" name="Text 23"/>
          <p:cNvSpPr/>
          <p:nvPr/>
        </p:nvSpPr>
        <p:spPr>
          <a:xfrm>
            <a:off x="1051560" y="4087368"/>
            <a:ext cx="7315200" cy="329184"/>
          </a:xfrm>
          <a:prstGeom prst="rect">
            <a:avLst/>
          </a:prstGeom>
          <a:noFill/>
          <a:ln/>
        </p:spPr>
        <p:txBody>
          <a:bodyPr wrap="square" lIns="0" tIns="0" rIns="0" bIns="0" rtlCol="0" anchor="ctr"/>
          <a:lstStyle/>
          <a:p>
            <a:pPr indent="0" marL="0">
              <a:buNone/>
            </a:pPr>
            <a:r>
              <a:rPr lang="en-US" sz="1750" b="1" dirty="0">
                <a:solidFill>
                  <a:srgbClr val="FFFFFF"/>
                </a:solidFill>
                <a:latin typeface="Arial" pitchFamily="34" charset="0"/>
                <a:ea typeface="Arial" pitchFamily="34" charset="-122"/>
                <a:cs typeface="Arial" pitchFamily="34" charset="-120"/>
              </a:rPr>
              <a:t>Risk Aggregator  +  Recommendation Engine</a:t>
            </a:r>
            <a:endParaRPr lang="en-US" sz="1750" dirty="0"/>
          </a:p>
        </p:txBody>
      </p:sp>
      <p:sp>
        <p:nvSpPr>
          <p:cNvPr id="30" name="Text 24"/>
          <p:cNvSpPr/>
          <p:nvPr/>
        </p:nvSpPr>
        <p:spPr>
          <a:xfrm>
            <a:off x="1051560" y="4425696"/>
            <a:ext cx="7315200" cy="292608"/>
          </a:xfrm>
          <a:prstGeom prst="rect">
            <a:avLst/>
          </a:prstGeom>
          <a:noFill/>
          <a:ln/>
        </p:spPr>
        <p:txBody>
          <a:bodyPr wrap="square" lIns="0" tIns="0" rIns="0" bIns="0" rtlCol="0" anchor="ctr"/>
          <a:lstStyle/>
          <a:p>
            <a:pPr indent="0" marL="0">
              <a:buNone/>
            </a:pPr>
            <a:r>
              <a:rPr lang="en-US" sz="1150" dirty="0">
                <a:solidFill>
                  <a:srgbClr val="7C90A6"/>
                </a:solidFill>
                <a:latin typeface="Calibri" pitchFamily="34" charset="0"/>
                <a:ea typeface="Calibri" pitchFamily="34" charset="-122"/>
                <a:cs typeface="Calibri" pitchFamily="34" charset="-120"/>
              </a:rPr>
              <a:t>weighted formula  ·  signal rescaling  ·  SHAP explanations  ·  rule table</a:t>
            </a:r>
            <a:endParaRPr lang="en-US" sz="1150" dirty="0"/>
          </a:p>
        </p:txBody>
      </p:sp>
      <p:sp>
        <p:nvSpPr>
          <p:cNvPr id="31" name="Shape 25"/>
          <p:cNvSpPr/>
          <p:nvPr/>
        </p:nvSpPr>
        <p:spPr>
          <a:xfrm>
            <a:off x="685800" y="5102352"/>
            <a:ext cx="3511296" cy="786384"/>
          </a:xfrm>
          <a:prstGeom prst="roundRect">
            <a:avLst>
              <a:gd name="adj" fmla="val 11628"/>
            </a:avLst>
          </a:prstGeom>
          <a:solidFill>
            <a:srgbClr val="F1F5F9"/>
          </a:solidFill>
          <a:ln/>
        </p:spPr>
      </p:sp>
      <p:sp>
        <p:nvSpPr>
          <p:cNvPr id="32" name="Text 26"/>
          <p:cNvSpPr/>
          <p:nvPr/>
        </p:nvSpPr>
        <p:spPr>
          <a:xfrm>
            <a:off x="923544" y="5193792"/>
            <a:ext cx="3054096" cy="329184"/>
          </a:xfrm>
          <a:prstGeom prst="rect">
            <a:avLst/>
          </a:prstGeom>
          <a:noFill/>
          <a:ln/>
        </p:spPr>
        <p:txBody>
          <a:bodyPr wrap="square" lIns="0" tIns="0" rIns="0" bIns="0" rtlCol="0" anchor="ctr"/>
          <a:lstStyle/>
          <a:p>
            <a:pPr indent="0" marL="0">
              <a:buNone/>
            </a:pPr>
            <a:r>
              <a:rPr lang="en-US" sz="1350" b="1" dirty="0">
                <a:solidFill>
                  <a:srgbClr val="16324F"/>
                </a:solidFill>
                <a:latin typeface="Arial" pitchFamily="34" charset="0"/>
                <a:ea typeface="Arial" pitchFamily="34" charset="-122"/>
                <a:cs typeface="Arial" pitchFamily="34" charset="-120"/>
              </a:rPr>
              <a:t>0–100 risk score</a:t>
            </a:r>
            <a:endParaRPr lang="en-US" sz="1350" dirty="0"/>
          </a:p>
        </p:txBody>
      </p:sp>
      <p:sp>
        <p:nvSpPr>
          <p:cNvPr id="33" name="Text 27"/>
          <p:cNvSpPr/>
          <p:nvPr/>
        </p:nvSpPr>
        <p:spPr>
          <a:xfrm>
            <a:off x="923544" y="5504688"/>
            <a:ext cx="3054096" cy="292608"/>
          </a:xfrm>
          <a:prstGeom prst="rect">
            <a:avLst/>
          </a:prstGeom>
          <a:noFill/>
          <a:ln/>
        </p:spPr>
        <p:txBody>
          <a:bodyPr wrap="square" lIns="0" tIns="0" rIns="0" bIns="0" rtlCol="0" anchor="ctr"/>
          <a:lstStyle/>
          <a:p>
            <a:pPr indent="0" marL="0">
              <a:buNone/>
            </a:pPr>
            <a:r>
              <a:rPr lang="en-US" sz="1100" dirty="0">
                <a:solidFill>
                  <a:srgbClr val="3E5C76"/>
                </a:solidFill>
                <a:latin typeface="Calibri" pitchFamily="34" charset="0"/>
                <a:ea typeface="Calibri" pitchFamily="34" charset="-122"/>
                <a:cs typeface="Calibri" pitchFamily="34" charset="-120"/>
              </a:rPr>
              <a:t>banded Low / Medium / High</a:t>
            </a:r>
            <a:endParaRPr lang="en-US" sz="1100" dirty="0"/>
          </a:p>
        </p:txBody>
      </p:sp>
      <p:sp>
        <p:nvSpPr>
          <p:cNvPr id="34" name="Shape 28"/>
          <p:cNvSpPr/>
          <p:nvPr/>
        </p:nvSpPr>
        <p:spPr>
          <a:xfrm>
            <a:off x="4462272" y="5102352"/>
            <a:ext cx="3511296" cy="786384"/>
          </a:xfrm>
          <a:prstGeom prst="roundRect">
            <a:avLst>
              <a:gd name="adj" fmla="val 11628"/>
            </a:avLst>
          </a:prstGeom>
          <a:solidFill>
            <a:srgbClr val="F1F5F9"/>
          </a:solidFill>
          <a:ln/>
        </p:spPr>
      </p:sp>
      <p:sp>
        <p:nvSpPr>
          <p:cNvPr id="35" name="Text 29"/>
          <p:cNvSpPr/>
          <p:nvPr/>
        </p:nvSpPr>
        <p:spPr>
          <a:xfrm>
            <a:off x="4700016" y="5193792"/>
            <a:ext cx="3054096" cy="329184"/>
          </a:xfrm>
          <a:prstGeom prst="rect">
            <a:avLst/>
          </a:prstGeom>
          <a:noFill/>
          <a:ln/>
        </p:spPr>
        <p:txBody>
          <a:bodyPr wrap="square" lIns="0" tIns="0" rIns="0" bIns="0" rtlCol="0" anchor="ctr"/>
          <a:lstStyle/>
          <a:p>
            <a:pPr indent="0" marL="0">
              <a:buNone/>
            </a:pPr>
            <a:r>
              <a:rPr lang="en-US" sz="1350" b="1" dirty="0">
                <a:solidFill>
                  <a:srgbClr val="16324F"/>
                </a:solidFill>
                <a:latin typeface="Arial" pitchFamily="34" charset="0"/>
                <a:ea typeface="Arial" pitchFamily="34" charset="-122"/>
                <a:cs typeface="Arial" pitchFamily="34" charset="-120"/>
              </a:rPr>
              <a:t>Plain-language why</a:t>
            </a:r>
            <a:endParaRPr lang="en-US" sz="1350" dirty="0"/>
          </a:p>
        </p:txBody>
      </p:sp>
      <p:sp>
        <p:nvSpPr>
          <p:cNvPr id="36" name="Text 30"/>
          <p:cNvSpPr/>
          <p:nvPr/>
        </p:nvSpPr>
        <p:spPr>
          <a:xfrm>
            <a:off x="4700016" y="5504688"/>
            <a:ext cx="3054096" cy="292608"/>
          </a:xfrm>
          <a:prstGeom prst="rect">
            <a:avLst/>
          </a:prstGeom>
          <a:noFill/>
          <a:ln/>
        </p:spPr>
        <p:txBody>
          <a:bodyPr wrap="square" lIns="0" tIns="0" rIns="0" bIns="0" rtlCol="0" anchor="ctr"/>
          <a:lstStyle/>
          <a:p>
            <a:pPr indent="0" marL="0">
              <a:buNone/>
            </a:pPr>
            <a:r>
              <a:rPr lang="en-US" sz="1100" dirty="0">
                <a:solidFill>
                  <a:srgbClr val="3E5C76"/>
                </a:solidFill>
                <a:latin typeface="Calibri" pitchFamily="34" charset="0"/>
                <a:ea typeface="Calibri" pitchFamily="34" charset="-122"/>
                <a:cs typeface="Calibri" pitchFamily="34" charset="-120"/>
              </a:rPr>
              <a:t>the signals that actually moved it</a:t>
            </a:r>
            <a:endParaRPr lang="en-US" sz="1100" dirty="0"/>
          </a:p>
        </p:txBody>
      </p:sp>
      <p:sp>
        <p:nvSpPr>
          <p:cNvPr id="37" name="Shape 31"/>
          <p:cNvSpPr/>
          <p:nvPr/>
        </p:nvSpPr>
        <p:spPr>
          <a:xfrm>
            <a:off x="8238744" y="5102352"/>
            <a:ext cx="3511296" cy="786384"/>
          </a:xfrm>
          <a:prstGeom prst="roundRect">
            <a:avLst>
              <a:gd name="adj" fmla="val 11628"/>
            </a:avLst>
          </a:prstGeom>
          <a:solidFill>
            <a:srgbClr val="F1F5F9"/>
          </a:solidFill>
          <a:ln/>
        </p:spPr>
      </p:sp>
      <p:sp>
        <p:nvSpPr>
          <p:cNvPr id="38" name="Text 32"/>
          <p:cNvSpPr/>
          <p:nvPr/>
        </p:nvSpPr>
        <p:spPr>
          <a:xfrm>
            <a:off x="8476488" y="5193792"/>
            <a:ext cx="3054096" cy="329184"/>
          </a:xfrm>
          <a:prstGeom prst="rect">
            <a:avLst/>
          </a:prstGeom>
          <a:noFill/>
          <a:ln/>
        </p:spPr>
        <p:txBody>
          <a:bodyPr wrap="square" lIns="0" tIns="0" rIns="0" bIns="0" rtlCol="0" anchor="ctr"/>
          <a:lstStyle/>
          <a:p>
            <a:pPr indent="0" marL="0">
              <a:buNone/>
            </a:pPr>
            <a:r>
              <a:rPr lang="en-US" sz="1350" b="1" dirty="0">
                <a:solidFill>
                  <a:srgbClr val="16324F"/>
                </a:solidFill>
                <a:latin typeface="Arial" pitchFamily="34" charset="0"/>
                <a:ea typeface="Arial" pitchFamily="34" charset="-122"/>
                <a:cs typeface="Arial" pitchFamily="34" charset="-120"/>
              </a:rPr>
              <a:t>Prioritised actions</a:t>
            </a:r>
            <a:endParaRPr lang="en-US" sz="1350" dirty="0"/>
          </a:p>
        </p:txBody>
      </p:sp>
      <p:sp>
        <p:nvSpPr>
          <p:cNvPr id="39" name="Text 33"/>
          <p:cNvSpPr/>
          <p:nvPr/>
        </p:nvSpPr>
        <p:spPr>
          <a:xfrm>
            <a:off x="8476488" y="5504688"/>
            <a:ext cx="3054096" cy="292608"/>
          </a:xfrm>
          <a:prstGeom prst="rect">
            <a:avLst/>
          </a:prstGeom>
          <a:noFill/>
          <a:ln/>
        </p:spPr>
        <p:txBody>
          <a:bodyPr wrap="square" lIns="0" tIns="0" rIns="0" bIns="0" rtlCol="0" anchor="ctr"/>
          <a:lstStyle/>
          <a:p>
            <a:pPr indent="0" marL="0">
              <a:buNone/>
            </a:pPr>
            <a:r>
              <a:rPr lang="en-US" sz="1100" dirty="0">
                <a:solidFill>
                  <a:srgbClr val="3E5C76"/>
                </a:solidFill>
                <a:latin typeface="Calibri" pitchFamily="34" charset="0"/>
                <a:ea typeface="Calibri" pitchFamily="34" charset="-122"/>
                <a:cs typeface="Calibri" pitchFamily="34" charset="-120"/>
              </a:rPr>
              <a:t>critical → high → medium → info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820095" cy="658368"/>
          </a:xfrm>
          <a:prstGeom prst="rect">
            <a:avLst/>
          </a:prstGeom>
          <a:noFill/>
          <a:ln/>
        </p:spPr>
        <p:txBody>
          <a:bodyPr wrap="square" lIns="0" tIns="0" rIns="0" bIns="0" rtlCol="0" anchor="ctr"/>
          <a:lstStyle/>
          <a:p>
            <a:pPr algn="l" indent="0" marL="0">
              <a:buNone/>
            </a:pPr>
            <a:r>
              <a:rPr lang="en-US" sz="3800" b="1" dirty="0">
                <a:solidFill>
                  <a:srgbClr val="0D1B2A"/>
                </a:solidFill>
                <a:latin typeface="Arial" pitchFamily="34" charset="0"/>
                <a:ea typeface="Arial" pitchFamily="34" charset="-122"/>
                <a:cs typeface="Arial" pitchFamily="34" charset="-120"/>
              </a:rPr>
              <a:t>The Risk Score</a:t>
            </a:r>
            <a:endParaRPr lang="en-US" sz="3800" dirty="0"/>
          </a:p>
        </p:txBody>
      </p:sp>
      <p:sp>
        <p:nvSpPr>
          <p:cNvPr id="3" name="Text 1"/>
          <p:cNvSpPr/>
          <p:nvPr/>
        </p:nvSpPr>
        <p:spPr>
          <a:xfrm>
            <a:off x="685800" y="1133856"/>
            <a:ext cx="10820095" cy="365760"/>
          </a:xfrm>
          <a:prstGeom prst="rect">
            <a:avLst/>
          </a:prstGeom>
          <a:noFill/>
          <a:ln/>
        </p:spPr>
        <p:txBody>
          <a:bodyPr wrap="square" lIns="0" tIns="0" rIns="0" bIns="0" rtlCol="0" anchor="ctr"/>
          <a:lstStyle/>
          <a:p>
            <a:pPr algn="l" indent="0" marL="0">
              <a:buNone/>
            </a:pPr>
            <a:r>
              <a:rPr lang="en-US" sz="1500" i="1" dirty="0">
                <a:solidFill>
                  <a:srgbClr val="3E5C76"/>
                </a:solidFill>
                <a:latin typeface="Calibri" pitchFamily="34" charset="0"/>
                <a:ea typeface="Calibri" pitchFamily="34" charset="-122"/>
                <a:cs typeface="Calibri" pitchFamily="34" charset="-120"/>
              </a:rPr>
              <a:t>A transparent weighted formula — deliberately not a black box.</a:t>
            </a:r>
            <a:endParaRPr lang="en-US" sz="1500" dirty="0"/>
          </a:p>
        </p:txBody>
      </p:sp>
      <p:sp>
        <p:nvSpPr>
          <p:cNvPr id="4" name="Shape 2"/>
          <p:cNvSpPr/>
          <p:nvPr/>
        </p:nvSpPr>
        <p:spPr>
          <a:xfrm>
            <a:off x="685800" y="1828800"/>
            <a:ext cx="10820095" cy="1170432"/>
          </a:xfrm>
          <a:prstGeom prst="roundRect">
            <a:avLst>
              <a:gd name="adj" fmla="val 9375"/>
            </a:avLst>
          </a:prstGeom>
          <a:solidFill>
            <a:srgbClr val="0D1B2A"/>
          </a:solidFill>
          <a:ln/>
        </p:spPr>
      </p:sp>
      <p:sp>
        <p:nvSpPr>
          <p:cNvPr id="5" name="Text 3"/>
          <p:cNvSpPr/>
          <p:nvPr/>
        </p:nvSpPr>
        <p:spPr>
          <a:xfrm>
            <a:off x="1005840" y="1828800"/>
            <a:ext cx="10180015" cy="1170432"/>
          </a:xfrm>
          <a:prstGeom prst="rect">
            <a:avLst/>
          </a:prstGeom>
          <a:noFill/>
          <a:ln/>
        </p:spPr>
        <p:txBody>
          <a:bodyPr wrap="square" lIns="0" tIns="0" rIns="0" bIns="0" rtlCol="0" anchor="ctr"/>
          <a:lstStyle/>
          <a:p>
            <a:pPr algn="ctr" indent="0" marL="0">
              <a:lnSpc>
                <a:spcPts val="3000"/>
              </a:lnSpc>
              <a:buNone/>
            </a:pPr>
            <a:r>
              <a:rPr lang="en-US" sz="1500" dirty="0">
                <a:solidFill>
                  <a:srgbClr val="FFFFFF"/>
                </a:solidFill>
                <a:latin typeface="Courier New" pitchFamily="34" charset="0"/>
                <a:ea typeface="Courier New" pitchFamily="34" charset="-122"/>
                <a:cs typeface="Courier New" pitchFamily="34" charset="-120"/>
              </a:rPr>
              <a:t>risk  =  100 × clip( S, 0, 1 )</a:t>
            </a:r>
            <a:endParaRPr lang="en-US" sz="1500" dirty="0"/>
          </a:p>
          <a:p>
            <a:pPr algn="ctr" indent="0" marL="0">
              <a:lnSpc>
                <a:spcPts val="3000"/>
              </a:lnSpc>
              <a:buNone/>
            </a:pPr>
            <a:r>
              <a:rPr lang="en-US" sz="1500" dirty="0">
                <a:solidFill>
                  <a:srgbClr val="E39A1C"/>
                </a:solidFill>
                <a:latin typeface="Courier New" pitchFamily="34" charset="0"/>
                <a:ea typeface="Courier New" pitchFamily="34" charset="-122"/>
                <a:cs typeface="Courier New" pitchFamily="34" charset="-120"/>
              </a:rPr>
              <a:t>S  =  0.35·churn + 0.20·(1−positivity) + 0.20·anomaly_ratio + 0.25·downside</a:t>
            </a:r>
            <a:endParaRPr lang="en-US" sz="1500" dirty="0"/>
          </a:p>
        </p:txBody>
      </p:sp>
      <p:sp>
        <p:nvSpPr>
          <p:cNvPr id="6" name="Text 4"/>
          <p:cNvSpPr/>
          <p:nvPr/>
        </p:nvSpPr>
        <p:spPr>
          <a:xfrm>
            <a:off x="685800" y="3218688"/>
            <a:ext cx="5120640" cy="310896"/>
          </a:xfrm>
          <a:prstGeom prst="rect">
            <a:avLst/>
          </a:prstGeom>
          <a:noFill/>
          <a:ln/>
        </p:spPr>
        <p:txBody>
          <a:bodyPr wrap="square" lIns="0" tIns="0" rIns="0" bIns="0" rtlCol="0" anchor="ctr"/>
          <a:lstStyle/>
          <a:p>
            <a:pPr indent="0" marL="0">
              <a:buNone/>
            </a:pPr>
            <a:r>
              <a:rPr lang="en-US" sz="1500" b="1" dirty="0">
                <a:solidFill>
                  <a:srgbClr val="0D1B2A"/>
                </a:solidFill>
                <a:latin typeface="Arial" pitchFamily="34" charset="0"/>
                <a:ea typeface="Arial" pitchFamily="34" charset="-122"/>
                <a:cs typeface="Arial" pitchFamily="34" charset="-120"/>
              </a:rPr>
              <a:t>Signal weights</a:t>
            </a:r>
            <a:endParaRPr lang="en-US" sz="1500" dirty="0"/>
          </a:p>
        </p:txBody>
      </p:sp>
      <p:sp>
        <p:nvSpPr>
          <p:cNvPr id="7" name="Text 5"/>
          <p:cNvSpPr/>
          <p:nvPr/>
        </p:nvSpPr>
        <p:spPr>
          <a:xfrm>
            <a:off x="685800" y="3639312"/>
            <a:ext cx="1207008" cy="384048"/>
          </a:xfrm>
          <a:prstGeom prst="rect">
            <a:avLst/>
          </a:prstGeom>
          <a:noFill/>
          <a:ln/>
        </p:spPr>
        <p:txBody>
          <a:bodyPr wrap="square" lIns="0" tIns="0" rIns="0" bIns="0" rtlCol="0" anchor="ctr"/>
          <a:lstStyle/>
          <a:p>
            <a:pPr indent="0" marL="0">
              <a:buNone/>
            </a:pPr>
            <a:r>
              <a:rPr lang="en-US" sz="1250" dirty="0">
                <a:solidFill>
                  <a:srgbClr val="2B3A4A"/>
                </a:solidFill>
                <a:latin typeface="Calibri" pitchFamily="34" charset="0"/>
                <a:ea typeface="Calibri" pitchFamily="34" charset="-122"/>
                <a:cs typeface="Calibri" pitchFamily="34" charset="-120"/>
              </a:rPr>
              <a:t>Churn</a:t>
            </a:r>
            <a:endParaRPr lang="en-US" sz="1250" dirty="0"/>
          </a:p>
        </p:txBody>
      </p:sp>
      <p:sp>
        <p:nvSpPr>
          <p:cNvPr id="8" name="Shape 6"/>
          <p:cNvSpPr/>
          <p:nvPr/>
        </p:nvSpPr>
        <p:spPr>
          <a:xfrm>
            <a:off x="1965960" y="3730752"/>
            <a:ext cx="3246120" cy="201168"/>
          </a:xfrm>
          <a:prstGeom prst="roundRect">
            <a:avLst>
              <a:gd name="adj" fmla="val 50000"/>
            </a:avLst>
          </a:prstGeom>
          <a:solidFill>
            <a:srgbClr val="F1F5F9"/>
          </a:solidFill>
          <a:ln/>
        </p:spPr>
      </p:sp>
      <p:sp>
        <p:nvSpPr>
          <p:cNvPr id="9" name="Shape 7"/>
          <p:cNvSpPr/>
          <p:nvPr/>
        </p:nvSpPr>
        <p:spPr>
          <a:xfrm>
            <a:off x="1965960" y="3730752"/>
            <a:ext cx="3246120" cy="201168"/>
          </a:xfrm>
          <a:prstGeom prst="roundRect">
            <a:avLst>
              <a:gd name="adj" fmla="val 50000"/>
            </a:avLst>
          </a:prstGeom>
          <a:solidFill>
            <a:srgbClr val="CE4A3E"/>
          </a:solidFill>
          <a:ln/>
        </p:spPr>
      </p:sp>
      <p:sp>
        <p:nvSpPr>
          <p:cNvPr id="10" name="Text 8"/>
          <p:cNvSpPr/>
          <p:nvPr/>
        </p:nvSpPr>
        <p:spPr>
          <a:xfrm>
            <a:off x="5340096" y="3639312"/>
            <a:ext cx="640080" cy="384048"/>
          </a:xfrm>
          <a:prstGeom prst="rect">
            <a:avLst/>
          </a:prstGeom>
          <a:noFill/>
          <a:ln/>
        </p:spPr>
        <p:txBody>
          <a:bodyPr wrap="square" lIns="0" tIns="0" rIns="0" bIns="0" rtlCol="0" anchor="ctr"/>
          <a:lstStyle/>
          <a:p>
            <a:pPr indent="0" marL="0">
              <a:buNone/>
            </a:pPr>
            <a:r>
              <a:rPr lang="en-US" sz="1250" b="1" dirty="0">
                <a:solidFill>
                  <a:srgbClr val="16324F"/>
                </a:solidFill>
                <a:latin typeface="Calibri" pitchFamily="34" charset="0"/>
                <a:ea typeface="Calibri" pitchFamily="34" charset="-122"/>
                <a:cs typeface="Calibri" pitchFamily="34" charset="-120"/>
              </a:rPr>
              <a:t>35%</a:t>
            </a:r>
            <a:endParaRPr lang="en-US" sz="1250" dirty="0"/>
          </a:p>
        </p:txBody>
      </p:sp>
      <p:sp>
        <p:nvSpPr>
          <p:cNvPr id="11" name="Text 9"/>
          <p:cNvSpPr/>
          <p:nvPr/>
        </p:nvSpPr>
        <p:spPr>
          <a:xfrm>
            <a:off x="685800" y="4151376"/>
            <a:ext cx="1207008" cy="384048"/>
          </a:xfrm>
          <a:prstGeom prst="rect">
            <a:avLst/>
          </a:prstGeom>
          <a:noFill/>
          <a:ln/>
        </p:spPr>
        <p:txBody>
          <a:bodyPr wrap="square" lIns="0" tIns="0" rIns="0" bIns="0" rtlCol="0" anchor="ctr"/>
          <a:lstStyle/>
          <a:p>
            <a:pPr indent="0" marL="0">
              <a:buNone/>
            </a:pPr>
            <a:r>
              <a:rPr lang="en-US" sz="1250" dirty="0">
                <a:solidFill>
                  <a:srgbClr val="2B3A4A"/>
                </a:solidFill>
                <a:latin typeface="Calibri" pitchFamily="34" charset="0"/>
                <a:ea typeface="Calibri" pitchFamily="34" charset="-122"/>
                <a:cs typeface="Calibri" pitchFamily="34" charset="-120"/>
              </a:rPr>
              <a:t>Forecast</a:t>
            </a:r>
            <a:endParaRPr lang="en-US" sz="1250" dirty="0"/>
          </a:p>
        </p:txBody>
      </p:sp>
      <p:sp>
        <p:nvSpPr>
          <p:cNvPr id="12" name="Shape 10"/>
          <p:cNvSpPr/>
          <p:nvPr/>
        </p:nvSpPr>
        <p:spPr>
          <a:xfrm>
            <a:off x="1965960" y="4242816"/>
            <a:ext cx="3246120" cy="201168"/>
          </a:xfrm>
          <a:prstGeom prst="roundRect">
            <a:avLst>
              <a:gd name="adj" fmla="val 50000"/>
            </a:avLst>
          </a:prstGeom>
          <a:solidFill>
            <a:srgbClr val="F1F5F9"/>
          </a:solidFill>
          <a:ln/>
        </p:spPr>
      </p:sp>
      <p:sp>
        <p:nvSpPr>
          <p:cNvPr id="13" name="Shape 11"/>
          <p:cNvSpPr/>
          <p:nvPr/>
        </p:nvSpPr>
        <p:spPr>
          <a:xfrm>
            <a:off x="1965960" y="4242816"/>
            <a:ext cx="2318657" cy="201168"/>
          </a:xfrm>
          <a:prstGeom prst="roundRect">
            <a:avLst>
              <a:gd name="adj" fmla="val 50000"/>
            </a:avLst>
          </a:prstGeom>
          <a:solidFill>
            <a:srgbClr val="5B8DEF"/>
          </a:solidFill>
          <a:ln/>
        </p:spPr>
      </p:sp>
      <p:sp>
        <p:nvSpPr>
          <p:cNvPr id="14" name="Text 12"/>
          <p:cNvSpPr/>
          <p:nvPr/>
        </p:nvSpPr>
        <p:spPr>
          <a:xfrm>
            <a:off x="5340096" y="4151376"/>
            <a:ext cx="640080" cy="384048"/>
          </a:xfrm>
          <a:prstGeom prst="rect">
            <a:avLst/>
          </a:prstGeom>
          <a:noFill/>
          <a:ln/>
        </p:spPr>
        <p:txBody>
          <a:bodyPr wrap="square" lIns="0" tIns="0" rIns="0" bIns="0" rtlCol="0" anchor="ctr"/>
          <a:lstStyle/>
          <a:p>
            <a:pPr indent="0" marL="0">
              <a:buNone/>
            </a:pPr>
            <a:r>
              <a:rPr lang="en-US" sz="1250" b="1" dirty="0">
                <a:solidFill>
                  <a:srgbClr val="16324F"/>
                </a:solidFill>
                <a:latin typeface="Calibri" pitchFamily="34" charset="0"/>
                <a:ea typeface="Calibri" pitchFamily="34" charset="-122"/>
                <a:cs typeface="Calibri" pitchFamily="34" charset="-120"/>
              </a:rPr>
              <a:t>25%</a:t>
            </a:r>
            <a:endParaRPr lang="en-US" sz="1250" dirty="0"/>
          </a:p>
        </p:txBody>
      </p:sp>
      <p:sp>
        <p:nvSpPr>
          <p:cNvPr id="15" name="Text 13"/>
          <p:cNvSpPr/>
          <p:nvPr/>
        </p:nvSpPr>
        <p:spPr>
          <a:xfrm>
            <a:off x="685800" y="4663440"/>
            <a:ext cx="1207008" cy="384048"/>
          </a:xfrm>
          <a:prstGeom prst="rect">
            <a:avLst/>
          </a:prstGeom>
          <a:noFill/>
          <a:ln/>
        </p:spPr>
        <p:txBody>
          <a:bodyPr wrap="square" lIns="0" tIns="0" rIns="0" bIns="0" rtlCol="0" anchor="ctr"/>
          <a:lstStyle/>
          <a:p>
            <a:pPr indent="0" marL="0">
              <a:buNone/>
            </a:pPr>
            <a:r>
              <a:rPr lang="en-US" sz="1250" dirty="0">
                <a:solidFill>
                  <a:srgbClr val="2B3A4A"/>
                </a:solidFill>
                <a:latin typeface="Calibri" pitchFamily="34" charset="0"/>
                <a:ea typeface="Calibri" pitchFamily="34" charset="-122"/>
                <a:cs typeface="Calibri" pitchFamily="34" charset="-120"/>
              </a:rPr>
              <a:t>Sentiment</a:t>
            </a:r>
            <a:endParaRPr lang="en-US" sz="1250" dirty="0"/>
          </a:p>
        </p:txBody>
      </p:sp>
      <p:sp>
        <p:nvSpPr>
          <p:cNvPr id="16" name="Shape 14"/>
          <p:cNvSpPr/>
          <p:nvPr/>
        </p:nvSpPr>
        <p:spPr>
          <a:xfrm>
            <a:off x="1965960" y="4754880"/>
            <a:ext cx="3246120" cy="201168"/>
          </a:xfrm>
          <a:prstGeom prst="roundRect">
            <a:avLst>
              <a:gd name="adj" fmla="val 50000"/>
            </a:avLst>
          </a:prstGeom>
          <a:solidFill>
            <a:srgbClr val="F1F5F9"/>
          </a:solidFill>
          <a:ln/>
        </p:spPr>
      </p:sp>
      <p:sp>
        <p:nvSpPr>
          <p:cNvPr id="17" name="Shape 15"/>
          <p:cNvSpPr/>
          <p:nvPr/>
        </p:nvSpPr>
        <p:spPr>
          <a:xfrm>
            <a:off x="1965960" y="4754880"/>
            <a:ext cx="1854926" cy="201168"/>
          </a:xfrm>
          <a:prstGeom prst="roundRect">
            <a:avLst>
              <a:gd name="adj" fmla="val 50000"/>
            </a:avLst>
          </a:prstGeom>
          <a:solidFill>
            <a:srgbClr val="E39A1C"/>
          </a:solidFill>
          <a:ln/>
        </p:spPr>
      </p:sp>
      <p:sp>
        <p:nvSpPr>
          <p:cNvPr id="18" name="Text 16"/>
          <p:cNvSpPr/>
          <p:nvPr/>
        </p:nvSpPr>
        <p:spPr>
          <a:xfrm>
            <a:off x="5340096" y="4663440"/>
            <a:ext cx="640080" cy="384048"/>
          </a:xfrm>
          <a:prstGeom prst="rect">
            <a:avLst/>
          </a:prstGeom>
          <a:noFill/>
          <a:ln/>
        </p:spPr>
        <p:txBody>
          <a:bodyPr wrap="square" lIns="0" tIns="0" rIns="0" bIns="0" rtlCol="0" anchor="ctr"/>
          <a:lstStyle/>
          <a:p>
            <a:pPr indent="0" marL="0">
              <a:buNone/>
            </a:pPr>
            <a:r>
              <a:rPr lang="en-US" sz="1250" b="1" dirty="0">
                <a:solidFill>
                  <a:srgbClr val="16324F"/>
                </a:solidFill>
                <a:latin typeface="Calibri" pitchFamily="34" charset="0"/>
                <a:ea typeface="Calibri" pitchFamily="34" charset="-122"/>
                <a:cs typeface="Calibri" pitchFamily="34" charset="-120"/>
              </a:rPr>
              <a:t>20%</a:t>
            </a:r>
            <a:endParaRPr lang="en-US" sz="1250" dirty="0"/>
          </a:p>
        </p:txBody>
      </p:sp>
      <p:sp>
        <p:nvSpPr>
          <p:cNvPr id="19" name="Text 17"/>
          <p:cNvSpPr/>
          <p:nvPr/>
        </p:nvSpPr>
        <p:spPr>
          <a:xfrm>
            <a:off x="685800" y="5175504"/>
            <a:ext cx="1207008" cy="384048"/>
          </a:xfrm>
          <a:prstGeom prst="rect">
            <a:avLst/>
          </a:prstGeom>
          <a:noFill/>
          <a:ln/>
        </p:spPr>
        <p:txBody>
          <a:bodyPr wrap="square" lIns="0" tIns="0" rIns="0" bIns="0" rtlCol="0" anchor="ctr"/>
          <a:lstStyle/>
          <a:p>
            <a:pPr indent="0" marL="0">
              <a:buNone/>
            </a:pPr>
            <a:r>
              <a:rPr lang="en-US" sz="1250" dirty="0">
                <a:solidFill>
                  <a:srgbClr val="2B3A4A"/>
                </a:solidFill>
                <a:latin typeface="Calibri" pitchFamily="34" charset="0"/>
                <a:ea typeface="Calibri" pitchFamily="34" charset="-122"/>
                <a:cs typeface="Calibri" pitchFamily="34" charset="-120"/>
              </a:rPr>
              <a:t>Anomalies</a:t>
            </a:r>
            <a:endParaRPr lang="en-US" sz="1250" dirty="0"/>
          </a:p>
        </p:txBody>
      </p:sp>
      <p:sp>
        <p:nvSpPr>
          <p:cNvPr id="20" name="Shape 18"/>
          <p:cNvSpPr/>
          <p:nvPr/>
        </p:nvSpPr>
        <p:spPr>
          <a:xfrm>
            <a:off x="1965960" y="5266944"/>
            <a:ext cx="3246120" cy="201168"/>
          </a:xfrm>
          <a:prstGeom prst="roundRect">
            <a:avLst>
              <a:gd name="adj" fmla="val 50000"/>
            </a:avLst>
          </a:prstGeom>
          <a:solidFill>
            <a:srgbClr val="F1F5F9"/>
          </a:solidFill>
          <a:ln/>
        </p:spPr>
      </p:sp>
      <p:sp>
        <p:nvSpPr>
          <p:cNvPr id="21" name="Shape 19"/>
          <p:cNvSpPr/>
          <p:nvPr/>
        </p:nvSpPr>
        <p:spPr>
          <a:xfrm>
            <a:off x="1965960" y="5266944"/>
            <a:ext cx="1854926" cy="201168"/>
          </a:xfrm>
          <a:prstGeom prst="roundRect">
            <a:avLst>
              <a:gd name="adj" fmla="val 50000"/>
            </a:avLst>
          </a:prstGeom>
          <a:solidFill>
            <a:srgbClr val="2E9E6B"/>
          </a:solidFill>
          <a:ln/>
        </p:spPr>
      </p:sp>
      <p:sp>
        <p:nvSpPr>
          <p:cNvPr id="22" name="Text 20"/>
          <p:cNvSpPr/>
          <p:nvPr/>
        </p:nvSpPr>
        <p:spPr>
          <a:xfrm>
            <a:off x="5340096" y="5175504"/>
            <a:ext cx="640080" cy="384048"/>
          </a:xfrm>
          <a:prstGeom prst="rect">
            <a:avLst/>
          </a:prstGeom>
          <a:noFill/>
          <a:ln/>
        </p:spPr>
        <p:txBody>
          <a:bodyPr wrap="square" lIns="0" tIns="0" rIns="0" bIns="0" rtlCol="0" anchor="ctr"/>
          <a:lstStyle/>
          <a:p>
            <a:pPr indent="0" marL="0">
              <a:buNone/>
            </a:pPr>
            <a:r>
              <a:rPr lang="en-US" sz="1250" b="1" dirty="0">
                <a:solidFill>
                  <a:srgbClr val="16324F"/>
                </a:solidFill>
                <a:latin typeface="Calibri" pitchFamily="34" charset="0"/>
                <a:ea typeface="Calibri" pitchFamily="34" charset="-122"/>
                <a:cs typeface="Calibri" pitchFamily="34" charset="-120"/>
              </a:rPr>
              <a:t>20%</a:t>
            </a:r>
            <a:endParaRPr lang="en-US" sz="1250" dirty="0"/>
          </a:p>
        </p:txBody>
      </p:sp>
      <p:sp>
        <p:nvSpPr>
          <p:cNvPr id="23" name="Text 21"/>
          <p:cNvSpPr/>
          <p:nvPr/>
        </p:nvSpPr>
        <p:spPr>
          <a:xfrm>
            <a:off x="6446520" y="3218688"/>
            <a:ext cx="5059375" cy="292608"/>
          </a:xfrm>
          <a:prstGeom prst="rect">
            <a:avLst/>
          </a:prstGeom>
          <a:noFill/>
          <a:ln/>
        </p:spPr>
        <p:txBody>
          <a:bodyPr wrap="square" lIns="0" tIns="0" rIns="0" bIns="0" rtlCol="0" anchor="ctr"/>
          <a:lstStyle/>
          <a:p>
            <a:pPr indent="0" marL="0">
              <a:buNone/>
            </a:pPr>
            <a:r>
              <a:rPr lang="en-US" sz="1350" b="1" dirty="0">
                <a:solidFill>
                  <a:srgbClr val="16324F"/>
                </a:solidFill>
                <a:latin typeface="Arial" pitchFamily="34" charset="0"/>
                <a:ea typeface="Arial" pitchFamily="34" charset="-122"/>
                <a:cs typeface="Arial" pitchFamily="34" charset="-120"/>
              </a:rPr>
              <a:t>Tunable without retraining</a:t>
            </a:r>
            <a:endParaRPr lang="en-US" sz="1350" dirty="0"/>
          </a:p>
        </p:txBody>
      </p:sp>
      <p:sp>
        <p:nvSpPr>
          <p:cNvPr id="24" name="Text 22"/>
          <p:cNvSpPr/>
          <p:nvPr/>
        </p:nvSpPr>
        <p:spPr>
          <a:xfrm>
            <a:off x="6446520" y="3520440"/>
            <a:ext cx="5059375" cy="566928"/>
          </a:xfrm>
          <a:prstGeom prst="rect">
            <a:avLst/>
          </a:prstGeom>
          <a:noFill/>
          <a:ln/>
        </p:spPr>
        <p:txBody>
          <a:bodyPr wrap="square" lIns="0" tIns="0" rIns="0" bIns="0" rtlCol="0" anchor="t"/>
          <a:lstStyle/>
          <a:p>
            <a:pPr indent="0" marL="0">
              <a:lnSpc>
                <a:spcPts val="1500"/>
              </a:lnSpc>
              <a:buNone/>
            </a:pPr>
            <a:r>
              <a:rPr lang="en-US" sz="1150" dirty="0">
                <a:solidFill>
                  <a:srgbClr val="3E5C76"/>
                </a:solidFill>
                <a:latin typeface="Calibri" pitchFamily="34" charset="0"/>
                <a:ea typeface="Calibri" pitchFamily="34" charset="-122"/>
                <a:cs typeface="Calibri" pitchFamily="34" charset="-120"/>
              </a:rPr>
              <a:t>Weights live in config.yaml. Change the profile of what counts as risk, and nothing has to be retrained.</a:t>
            </a:r>
            <a:endParaRPr lang="en-US" sz="1150" dirty="0"/>
          </a:p>
        </p:txBody>
      </p:sp>
      <p:sp>
        <p:nvSpPr>
          <p:cNvPr id="25" name="Text 23"/>
          <p:cNvSpPr/>
          <p:nvPr/>
        </p:nvSpPr>
        <p:spPr>
          <a:xfrm>
            <a:off x="6446520" y="4178808"/>
            <a:ext cx="5059375" cy="292608"/>
          </a:xfrm>
          <a:prstGeom prst="rect">
            <a:avLst/>
          </a:prstGeom>
          <a:noFill/>
          <a:ln/>
        </p:spPr>
        <p:txBody>
          <a:bodyPr wrap="square" lIns="0" tIns="0" rIns="0" bIns="0" rtlCol="0" anchor="ctr"/>
          <a:lstStyle/>
          <a:p>
            <a:pPr indent="0" marL="0">
              <a:buNone/>
            </a:pPr>
            <a:r>
              <a:rPr lang="en-US" sz="1350" b="1" dirty="0">
                <a:solidFill>
                  <a:srgbClr val="16324F"/>
                </a:solidFill>
                <a:latin typeface="Arial" pitchFamily="34" charset="0"/>
                <a:ea typeface="Arial" pitchFamily="34" charset="-122"/>
                <a:cs typeface="Arial" pitchFamily="34" charset="-120"/>
              </a:rPr>
              <a:t>Signals are rescaled first</a:t>
            </a:r>
            <a:endParaRPr lang="en-US" sz="1350" dirty="0"/>
          </a:p>
        </p:txBody>
      </p:sp>
      <p:sp>
        <p:nvSpPr>
          <p:cNvPr id="26" name="Text 24"/>
          <p:cNvSpPr/>
          <p:nvPr/>
        </p:nvSpPr>
        <p:spPr>
          <a:xfrm>
            <a:off x="6446520" y="4480560"/>
            <a:ext cx="5059375" cy="566928"/>
          </a:xfrm>
          <a:prstGeom prst="rect">
            <a:avLst/>
          </a:prstGeom>
          <a:noFill/>
          <a:ln/>
        </p:spPr>
        <p:txBody>
          <a:bodyPr wrap="square" lIns="0" tIns="0" rIns="0" bIns="0" rtlCol="0" anchor="t"/>
          <a:lstStyle/>
          <a:p>
            <a:pPr indent="0" marL="0">
              <a:lnSpc>
                <a:spcPts val="1500"/>
              </a:lnSpc>
              <a:buNone/>
            </a:pPr>
            <a:r>
              <a:rPr lang="en-US" sz="1150" dirty="0">
                <a:solidFill>
                  <a:srgbClr val="3E5C76"/>
                </a:solidFill>
                <a:latin typeface="Calibri" pitchFamily="34" charset="0"/>
                <a:ea typeface="Calibri" pitchFamily="34" charset="-122"/>
                <a:cs typeface="Calibri" pitchFamily="34" charset="-120"/>
              </a:rPr>
              <a:t>Churn probability spans 0.1–0.9 while the anomaly ratio tops out near 0.15. Without rescaling, churn would dominate regardless of the configured weights.</a:t>
            </a:r>
            <a:endParaRPr lang="en-US" sz="1150" dirty="0"/>
          </a:p>
        </p:txBody>
      </p:sp>
      <p:sp>
        <p:nvSpPr>
          <p:cNvPr id="27" name="Text 25"/>
          <p:cNvSpPr/>
          <p:nvPr/>
        </p:nvSpPr>
        <p:spPr>
          <a:xfrm>
            <a:off x="6446520" y="5138928"/>
            <a:ext cx="5059375" cy="292608"/>
          </a:xfrm>
          <a:prstGeom prst="rect">
            <a:avLst/>
          </a:prstGeom>
          <a:noFill/>
          <a:ln/>
        </p:spPr>
        <p:txBody>
          <a:bodyPr wrap="square" lIns="0" tIns="0" rIns="0" bIns="0" rtlCol="0" anchor="ctr"/>
          <a:lstStyle/>
          <a:p>
            <a:pPr indent="0" marL="0">
              <a:buNone/>
            </a:pPr>
            <a:r>
              <a:rPr lang="en-US" sz="1350" b="1" dirty="0">
                <a:solidFill>
                  <a:srgbClr val="16324F"/>
                </a:solidFill>
                <a:latin typeface="Arial" pitchFamily="34" charset="0"/>
                <a:ea typeface="Arial" pitchFamily="34" charset="-122"/>
                <a:cs typeface="Arial" pitchFamily="34" charset="-120"/>
              </a:rPr>
              <a:t>A formula, not a meta-model</a:t>
            </a:r>
            <a:endParaRPr lang="en-US" sz="1350" dirty="0"/>
          </a:p>
        </p:txBody>
      </p:sp>
      <p:sp>
        <p:nvSpPr>
          <p:cNvPr id="28" name="Text 26"/>
          <p:cNvSpPr/>
          <p:nvPr/>
        </p:nvSpPr>
        <p:spPr>
          <a:xfrm>
            <a:off x="6446520" y="5440680"/>
            <a:ext cx="5059375" cy="566928"/>
          </a:xfrm>
          <a:prstGeom prst="rect">
            <a:avLst/>
          </a:prstGeom>
          <a:noFill/>
          <a:ln/>
        </p:spPr>
        <p:txBody>
          <a:bodyPr wrap="square" lIns="0" tIns="0" rIns="0" bIns="0" rtlCol="0" anchor="t"/>
          <a:lstStyle/>
          <a:p>
            <a:pPr indent="0" marL="0">
              <a:lnSpc>
                <a:spcPts val="1500"/>
              </a:lnSpc>
              <a:buNone/>
            </a:pPr>
            <a:r>
              <a:rPr lang="en-US" sz="1150" dirty="0">
                <a:solidFill>
                  <a:srgbClr val="3E5C76"/>
                </a:solidFill>
                <a:latin typeface="Calibri" pitchFamily="34" charset="0"/>
                <a:ea typeface="Calibri" pitchFamily="34" charset="-122"/>
                <a:cs typeface="Calibri" pitchFamily="34" charset="-120"/>
              </a:rPr>
              <a:t>There is no labelled “company failed” dataset to train one on. The weights encode a product judgement — and we say so.</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820095" cy="658368"/>
          </a:xfrm>
          <a:prstGeom prst="rect">
            <a:avLst/>
          </a:prstGeom>
          <a:noFill/>
          <a:ln/>
        </p:spPr>
        <p:txBody>
          <a:bodyPr wrap="square" lIns="0" tIns="0" rIns="0" bIns="0" rtlCol="0" anchor="ctr"/>
          <a:lstStyle/>
          <a:p>
            <a:pPr algn="l" indent="0" marL="0">
              <a:buNone/>
            </a:pPr>
            <a:r>
              <a:rPr lang="en-US" sz="3800" b="1" dirty="0">
                <a:solidFill>
                  <a:srgbClr val="0D1B2A"/>
                </a:solidFill>
                <a:latin typeface="Arial" pitchFamily="34" charset="0"/>
                <a:ea typeface="Arial" pitchFamily="34" charset="-122"/>
                <a:cs typeface="Arial" pitchFamily="34" charset="-120"/>
              </a:rPr>
              <a:t>Live Results</a:t>
            </a:r>
            <a:endParaRPr lang="en-US" sz="3800" dirty="0"/>
          </a:p>
        </p:txBody>
      </p:sp>
      <p:sp>
        <p:nvSpPr>
          <p:cNvPr id="3" name="Text 1"/>
          <p:cNvSpPr/>
          <p:nvPr/>
        </p:nvSpPr>
        <p:spPr>
          <a:xfrm>
            <a:off x="685800" y="1133856"/>
            <a:ext cx="10820095" cy="365760"/>
          </a:xfrm>
          <a:prstGeom prst="rect">
            <a:avLst/>
          </a:prstGeom>
          <a:noFill/>
          <a:ln/>
        </p:spPr>
        <p:txBody>
          <a:bodyPr wrap="square" lIns="0" tIns="0" rIns="0" bIns="0" rtlCol="0" anchor="ctr"/>
          <a:lstStyle/>
          <a:p>
            <a:pPr algn="l" indent="0" marL="0">
              <a:buNone/>
            </a:pPr>
            <a:r>
              <a:rPr lang="en-US" sz="1500" i="1" dirty="0">
                <a:solidFill>
                  <a:srgbClr val="3E5C76"/>
                </a:solidFill>
                <a:latin typeface="Calibri" pitchFamily="34" charset="0"/>
                <a:ea typeface="Calibri" pitchFamily="34" charset="-122"/>
                <a:cs typeface="Calibri" pitchFamily="34" charset="-120"/>
              </a:rPr>
              <a:t>Three demo companies, three genuinely different risk profiles.</a:t>
            </a:r>
            <a:endParaRPr lang="en-US" sz="1500" dirty="0"/>
          </a:p>
        </p:txBody>
      </p:sp>
      <p:sp>
        <p:nvSpPr>
          <p:cNvPr id="4" name="Shape 2"/>
          <p:cNvSpPr/>
          <p:nvPr/>
        </p:nvSpPr>
        <p:spPr>
          <a:xfrm>
            <a:off x="685800" y="1783080"/>
            <a:ext cx="3511296" cy="1481328"/>
          </a:xfrm>
          <a:prstGeom prst="roundRect">
            <a:avLst>
              <a:gd name="adj" fmla="val 7407"/>
            </a:avLst>
          </a:prstGeom>
          <a:solidFill>
            <a:srgbClr val="FFFFFF"/>
          </a:solidFill>
          <a:ln w="12700">
            <a:solidFill>
              <a:srgbClr val="DCE4EC"/>
            </a:solidFill>
            <a:prstDash val="solid"/>
          </a:ln>
          <a:effectLst>
            <a:outerShdw sx="100000" sy="100000" kx="0" ky="0" algn="bl" rotWithShape="0" blurRad="127000" dist="25400" dir="5400000">
              <a:srgbClr val="8FA3B8">
                <a:alpha val="22000"/>
              </a:srgbClr>
            </a:outerShdw>
          </a:effectLst>
        </p:spPr>
      </p:sp>
      <p:sp>
        <p:nvSpPr>
          <p:cNvPr id="5" name="Text 3"/>
          <p:cNvSpPr/>
          <p:nvPr/>
        </p:nvSpPr>
        <p:spPr>
          <a:xfrm>
            <a:off x="941832" y="1984248"/>
            <a:ext cx="1773936" cy="365760"/>
          </a:xfrm>
          <a:prstGeom prst="rect">
            <a:avLst/>
          </a:prstGeom>
          <a:noFill/>
          <a:ln/>
        </p:spPr>
        <p:txBody>
          <a:bodyPr wrap="square" lIns="0" tIns="0" rIns="0" bIns="0" rtlCol="0" anchor="ctr"/>
          <a:lstStyle/>
          <a:p>
            <a:pPr indent="0" marL="0">
              <a:buNone/>
            </a:pPr>
            <a:r>
              <a:rPr lang="en-US" sz="1450" b="1" dirty="0">
                <a:solidFill>
                  <a:srgbClr val="0D1B2A"/>
                </a:solidFill>
                <a:latin typeface="Arial" pitchFamily="34" charset="0"/>
                <a:ea typeface="Arial" pitchFamily="34" charset="-122"/>
                <a:cs typeface="Arial" pitchFamily="34" charset="-120"/>
              </a:rPr>
              <a:t>RedFlag Analytics</a:t>
            </a:r>
            <a:endParaRPr lang="en-US" sz="1450" dirty="0"/>
          </a:p>
        </p:txBody>
      </p:sp>
      <p:sp>
        <p:nvSpPr>
          <p:cNvPr id="6" name="Text 4"/>
          <p:cNvSpPr/>
          <p:nvPr/>
        </p:nvSpPr>
        <p:spPr>
          <a:xfrm>
            <a:off x="2624328" y="1911096"/>
            <a:ext cx="1316736" cy="676656"/>
          </a:xfrm>
          <a:prstGeom prst="rect">
            <a:avLst/>
          </a:prstGeom>
          <a:noFill/>
          <a:ln/>
        </p:spPr>
        <p:txBody>
          <a:bodyPr wrap="square" lIns="0" tIns="0" rIns="0" bIns="0" rtlCol="0" anchor="ctr"/>
          <a:lstStyle/>
          <a:p>
            <a:pPr algn="r" indent="0" marL="0">
              <a:buNone/>
            </a:pPr>
            <a:r>
              <a:rPr lang="en-US" sz="3400" b="1" dirty="0">
                <a:solidFill>
                  <a:srgbClr val="E39A1C"/>
                </a:solidFill>
                <a:latin typeface="Arial" pitchFamily="34" charset="0"/>
                <a:ea typeface="Arial" pitchFamily="34" charset="-122"/>
                <a:cs typeface="Arial" pitchFamily="34" charset="-120"/>
              </a:rPr>
              <a:t>57.4</a:t>
            </a:r>
            <a:endParaRPr lang="en-US" sz="3400" dirty="0"/>
          </a:p>
        </p:txBody>
      </p:sp>
      <p:sp>
        <p:nvSpPr>
          <p:cNvPr id="7" name="Shape 5"/>
          <p:cNvSpPr/>
          <p:nvPr/>
        </p:nvSpPr>
        <p:spPr>
          <a:xfrm>
            <a:off x="3172968" y="2624328"/>
            <a:ext cx="768096" cy="274320"/>
          </a:xfrm>
          <a:prstGeom prst="roundRect">
            <a:avLst>
              <a:gd name="adj" fmla="val 50000"/>
            </a:avLst>
          </a:prstGeom>
          <a:solidFill>
            <a:srgbClr val="E39A1C"/>
          </a:solidFill>
          <a:ln/>
        </p:spPr>
      </p:sp>
      <p:sp>
        <p:nvSpPr>
          <p:cNvPr id="8" name="Text 6"/>
          <p:cNvSpPr/>
          <p:nvPr/>
        </p:nvSpPr>
        <p:spPr>
          <a:xfrm>
            <a:off x="3172968" y="2624328"/>
            <a:ext cx="768096"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MEDIUM</a:t>
            </a:r>
            <a:endParaRPr lang="en-US" sz="850" dirty="0"/>
          </a:p>
        </p:txBody>
      </p:sp>
      <p:sp>
        <p:nvSpPr>
          <p:cNvPr id="9" name="Text 7"/>
          <p:cNvSpPr/>
          <p:nvPr/>
        </p:nvSpPr>
        <p:spPr>
          <a:xfrm>
            <a:off x="941832" y="2624328"/>
            <a:ext cx="2139696" cy="274320"/>
          </a:xfrm>
          <a:prstGeom prst="rect">
            <a:avLst/>
          </a:prstGeom>
          <a:noFill/>
          <a:ln/>
        </p:spPr>
        <p:txBody>
          <a:bodyPr wrap="square" lIns="0" tIns="0" rIns="0" bIns="0" rtlCol="0" anchor="ctr"/>
          <a:lstStyle/>
          <a:p>
            <a:pPr indent="0" marL="0">
              <a:buNone/>
            </a:pPr>
            <a:r>
              <a:rPr lang="en-US" sz="1100" dirty="0">
                <a:solidFill>
                  <a:srgbClr val="3E5C76"/>
                </a:solidFill>
                <a:latin typeface="Calibri" pitchFamily="34" charset="0"/>
                <a:ea typeface="Calibri" pitchFamily="34" charset="-122"/>
                <a:cs typeface="Calibri" pitchFamily="34" charset="-120"/>
              </a:rPr>
              <a:t>91% churn · 26% positivity</a:t>
            </a:r>
            <a:endParaRPr lang="en-US" sz="1100" dirty="0"/>
          </a:p>
        </p:txBody>
      </p:sp>
      <p:sp>
        <p:nvSpPr>
          <p:cNvPr id="10" name="Shape 8"/>
          <p:cNvSpPr/>
          <p:nvPr/>
        </p:nvSpPr>
        <p:spPr>
          <a:xfrm>
            <a:off x="4462272" y="1783080"/>
            <a:ext cx="3511296" cy="1481328"/>
          </a:xfrm>
          <a:prstGeom prst="roundRect">
            <a:avLst>
              <a:gd name="adj" fmla="val 7407"/>
            </a:avLst>
          </a:prstGeom>
          <a:solidFill>
            <a:srgbClr val="FFFFFF"/>
          </a:solidFill>
          <a:ln w="12700">
            <a:solidFill>
              <a:srgbClr val="DCE4EC"/>
            </a:solidFill>
            <a:prstDash val="solid"/>
          </a:ln>
          <a:effectLst>
            <a:outerShdw sx="100000" sy="100000" kx="0" ky="0" algn="bl" rotWithShape="0" blurRad="127000" dist="25400" dir="5400000">
              <a:srgbClr val="8FA3B8">
                <a:alpha val="22000"/>
              </a:srgbClr>
            </a:outerShdw>
          </a:effectLst>
        </p:spPr>
      </p:sp>
      <p:sp>
        <p:nvSpPr>
          <p:cNvPr id="11" name="Text 9"/>
          <p:cNvSpPr/>
          <p:nvPr/>
        </p:nvSpPr>
        <p:spPr>
          <a:xfrm>
            <a:off x="4718304" y="1984248"/>
            <a:ext cx="1773936" cy="365760"/>
          </a:xfrm>
          <a:prstGeom prst="rect">
            <a:avLst/>
          </a:prstGeom>
          <a:noFill/>
          <a:ln/>
        </p:spPr>
        <p:txBody>
          <a:bodyPr wrap="square" lIns="0" tIns="0" rIns="0" bIns="0" rtlCol="0" anchor="ctr"/>
          <a:lstStyle/>
          <a:p>
            <a:pPr indent="0" marL="0">
              <a:buNone/>
            </a:pPr>
            <a:r>
              <a:rPr lang="en-US" sz="1450" b="1" dirty="0">
                <a:solidFill>
                  <a:srgbClr val="0D1B2A"/>
                </a:solidFill>
                <a:latin typeface="Arial" pitchFamily="34" charset="0"/>
                <a:ea typeface="Arial" pitchFamily="34" charset="-122"/>
                <a:cs typeface="Arial" pitchFamily="34" charset="-120"/>
              </a:rPr>
              <a:t>MixedCo</a:t>
            </a:r>
            <a:endParaRPr lang="en-US" sz="1450" dirty="0"/>
          </a:p>
        </p:txBody>
      </p:sp>
      <p:sp>
        <p:nvSpPr>
          <p:cNvPr id="12" name="Text 10"/>
          <p:cNvSpPr/>
          <p:nvPr/>
        </p:nvSpPr>
        <p:spPr>
          <a:xfrm>
            <a:off x="6400800" y="1911096"/>
            <a:ext cx="1316736" cy="676656"/>
          </a:xfrm>
          <a:prstGeom prst="rect">
            <a:avLst/>
          </a:prstGeom>
          <a:noFill/>
          <a:ln/>
        </p:spPr>
        <p:txBody>
          <a:bodyPr wrap="square" lIns="0" tIns="0" rIns="0" bIns="0" rtlCol="0" anchor="ctr"/>
          <a:lstStyle/>
          <a:p>
            <a:pPr algn="r" indent="0" marL="0">
              <a:buNone/>
            </a:pPr>
            <a:r>
              <a:rPr lang="en-US" sz="3400" b="1" dirty="0">
                <a:solidFill>
                  <a:srgbClr val="2E9E6B"/>
                </a:solidFill>
                <a:latin typeface="Arial" pitchFamily="34" charset="0"/>
                <a:ea typeface="Arial" pitchFamily="34" charset="-122"/>
                <a:cs typeface="Arial" pitchFamily="34" charset="-120"/>
              </a:rPr>
              <a:t>25.3</a:t>
            </a:r>
            <a:endParaRPr lang="en-US" sz="3400" dirty="0"/>
          </a:p>
        </p:txBody>
      </p:sp>
      <p:sp>
        <p:nvSpPr>
          <p:cNvPr id="13" name="Shape 11"/>
          <p:cNvSpPr/>
          <p:nvPr/>
        </p:nvSpPr>
        <p:spPr>
          <a:xfrm>
            <a:off x="6949440" y="2624328"/>
            <a:ext cx="768096" cy="274320"/>
          </a:xfrm>
          <a:prstGeom prst="roundRect">
            <a:avLst>
              <a:gd name="adj" fmla="val 50000"/>
            </a:avLst>
          </a:prstGeom>
          <a:solidFill>
            <a:srgbClr val="2E9E6B"/>
          </a:solidFill>
          <a:ln/>
        </p:spPr>
      </p:sp>
      <p:sp>
        <p:nvSpPr>
          <p:cNvPr id="14" name="Text 12"/>
          <p:cNvSpPr/>
          <p:nvPr/>
        </p:nvSpPr>
        <p:spPr>
          <a:xfrm>
            <a:off x="6949440" y="2624328"/>
            <a:ext cx="768096"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LOW</a:t>
            </a:r>
            <a:endParaRPr lang="en-US" sz="850" dirty="0"/>
          </a:p>
        </p:txBody>
      </p:sp>
      <p:sp>
        <p:nvSpPr>
          <p:cNvPr id="15" name="Text 13"/>
          <p:cNvSpPr/>
          <p:nvPr/>
        </p:nvSpPr>
        <p:spPr>
          <a:xfrm>
            <a:off x="4718304" y="2624328"/>
            <a:ext cx="2139696" cy="274320"/>
          </a:xfrm>
          <a:prstGeom prst="rect">
            <a:avLst/>
          </a:prstGeom>
          <a:noFill/>
          <a:ln/>
        </p:spPr>
        <p:txBody>
          <a:bodyPr wrap="square" lIns="0" tIns="0" rIns="0" bIns="0" rtlCol="0" anchor="ctr"/>
          <a:lstStyle/>
          <a:p>
            <a:pPr indent="0" marL="0">
              <a:buNone/>
            </a:pPr>
            <a:r>
              <a:rPr lang="en-US" sz="1100" dirty="0">
                <a:solidFill>
                  <a:srgbClr val="3E5C76"/>
                </a:solidFill>
                <a:latin typeface="Calibri" pitchFamily="34" charset="0"/>
                <a:ea typeface="Calibri" pitchFamily="34" charset="-122"/>
                <a:cs typeface="Calibri" pitchFamily="34" charset="-120"/>
              </a:rPr>
              <a:t>44% churn · flat sentiment</a:t>
            </a:r>
            <a:endParaRPr lang="en-US" sz="1100" dirty="0"/>
          </a:p>
        </p:txBody>
      </p:sp>
      <p:sp>
        <p:nvSpPr>
          <p:cNvPr id="16" name="Shape 14"/>
          <p:cNvSpPr/>
          <p:nvPr/>
        </p:nvSpPr>
        <p:spPr>
          <a:xfrm>
            <a:off x="8238744" y="1783080"/>
            <a:ext cx="3511296" cy="1481328"/>
          </a:xfrm>
          <a:prstGeom prst="roundRect">
            <a:avLst>
              <a:gd name="adj" fmla="val 7407"/>
            </a:avLst>
          </a:prstGeom>
          <a:solidFill>
            <a:srgbClr val="FFFFFF"/>
          </a:solidFill>
          <a:ln w="12700">
            <a:solidFill>
              <a:srgbClr val="DCE4EC"/>
            </a:solidFill>
            <a:prstDash val="solid"/>
          </a:ln>
          <a:effectLst>
            <a:outerShdw sx="100000" sy="100000" kx="0" ky="0" algn="bl" rotWithShape="0" blurRad="127000" dist="25400" dir="5400000">
              <a:srgbClr val="8FA3B8">
                <a:alpha val="22000"/>
              </a:srgbClr>
            </a:outerShdw>
          </a:effectLst>
        </p:spPr>
      </p:sp>
      <p:sp>
        <p:nvSpPr>
          <p:cNvPr id="17" name="Text 15"/>
          <p:cNvSpPr/>
          <p:nvPr/>
        </p:nvSpPr>
        <p:spPr>
          <a:xfrm>
            <a:off x="8494776" y="1984248"/>
            <a:ext cx="1773936" cy="365760"/>
          </a:xfrm>
          <a:prstGeom prst="rect">
            <a:avLst/>
          </a:prstGeom>
          <a:noFill/>
          <a:ln/>
        </p:spPr>
        <p:txBody>
          <a:bodyPr wrap="square" lIns="0" tIns="0" rIns="0" bIns="0" rtlCol="0" anchor="ctr"/>
          <a:lstStyle/>
          <a:p>
            <a:pPr indent="0" marL="0">
              <a:buNone/>
            </a:pPr>
            <a:r>
              <a:rPr lang="en-US" sz="1450" b="1" dirty="0">
                <a:solidFill>
                  <a:srgbClr val="0D1B2A"/>
                </a:solidFill>
                <a:latin typeface="Arial" pitchFamily="34" charset="0"/>
                <a:ea typeface="Arial" pitchFamily="34" charset="-122"/>
                <a:cs typeface="Arial" pitchFamily="34" charset="-120"/>
              </a:rPr>
              <a:t>GreenLeaf SaaS</a:t>
            </a:r>
            <a:endParaRPr lang="en-US" sz="1450" dirty="0"/>
          </a:p>
        </p:txBody>
      </p:sp>
      <p:sp>
        <p:nvSpPr>
          <p:cNvPr id="18" name="Text 16"/>
          <p:cNvSpPr/>
          <p:nvPr/>
        </p:nvSpPr>
        <p:spPr>
          <a:xfrm>
            <a:off x="10177272" y="1911096"/>
            <a:ext cx="1316736" cy="676656"/>
          </a:xfrm>
          <a:prstGeom prst="rect">
            <a:avLst/>
          </a:prstGeom>
          <a:noFill/>
          <a:ln/>
        </p:spPr>
        <p:txBody>
          <a:bodyPr wrap="square" lIns="0" tIns="0" rIns="0" bIns="0" rtlCol="0" anchor="ctr"/>
          <a:lstStyle/>
          <a:p>
            <a:pPr algn="r" indent="0" marL="0">
              <a:buNone/>
            </a:pPr>
            <a:r>
              <a:rPr lang="en-US" sz="3400" b="1" dirty="0">
                <a:solidFill>
                  <a:srgbClr val="2E9E6B"/>
                </a:solidFill>
                <a:latin typeface="Arial" pitchFamily="34" charset="0"/>
                <a:ea typeface="Arial" pitchFamily="34" charset="-122"/>
                <a:cs typeface="Arial" pitchFamily="34" charset="-120"/>
              </a:rPr>
              <a:t>18.8</a:t>
            </a:r>
            <a:endParaRPr lang="en-US" sz="3400" dirty="0"/>
          </a:p>
        </p:txBody>
      </p:sp>
      <p:sp>
        <p:nvSpPr>
          <p:cNvPr id="19" name="Shape 17"/>
          <p:cNvSpPr/>
          <p:nvPr/>
        </p:nvSpPr>
        <p:spPr>
          <a:xfrm>
            <a:off x="10725912" y="2624328"/>
            <a:ext cx="768096" cy="274320"/>
          </a:xfrm>
          <a:prstGeom prst="roundRect">
            <a:avLst>
              <a:gd name="adj" fmla="val 50000"/>
            </a:avLst>
          </a:prstGeom>
          <a:solidFill>
            <a:srgbClr val="2E9E6B"/>
          </a:solidFill>
          <a:ln/>
        </p:spPr>
      </p:sp>
      <p:sp>
        <p:nvSpPr>
          <p:cNvPr id="20" name="Text 18"/>
          <p:cNvSpPr/>
          <p:nvPr/>
        </p:nvSpPr>
        <p:spPr>
          <a:xfrm>
            <a:off x="10725912" y="2624328"/>
            <a:ext cx="768096"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LOW</a:t>
            </a:r>
            <a:endParaRPr lang="en-US" sz="850" dirty="0"/>
          </a:p>
        </p:txBody>
      </p:sp>
      <p:sp>
        <p:nvSpPr>
          <p:cNvPr id="21" name="Text 19"/>
          <p:cNvSpPr/>
          <p:nvPr/>
        </p:nvSpPr>
        <p:spPr>
          <a:xfrm>
            <a:off x="8494776" y="2624328"/>
            <a:ext cx="2139696" cy="274320"/>
          </a:xfrm>
          <a:prstGeom prst="rect">
            <a:avLst/>
          </a:prstGeom>
          <a:noFill/>
          <a:ln/>
        </p:spPr>
        <p:txBody>
          <a:bodyPr wrap="square" lIns="0" tIns="0" rIns="0" bIns="0" rtlCol="0" anchor="ctr"/>
          <a:lstStyle/>
          <a:p>
            <a:pPr indent="0" marL="0">
              <a:buNone/>
            </a:pPr>
            <a:r>
              <a:rPr lang="en-US" sz="1100" dirty="0">
                <a:solidFill>
                  <a:srgbClr val="3E5C76"/>
                </a:solidFill>
                <a:latin typeface="Calibri" pitchFamily="34" charset="0"/>
                <a:ea typeface="Calibri" pitchFamily="34" charset="-122"/>
                <a:cs typeface="Calibri" pitchFamily="34" charset="-120"/>
              </a:rPr>
              <a:t>23% churn · 79% positivity</a:t>
            </a:r>
            <a:endParaRPr lang="en-US" sz="1100" dirty="0"/>
          </a:p>
        </p:txBody>
      </p:sp>
      <p:sp>
        <p:nvSpPr>
          <p:cNvPr id="22" name="Text 20"/>
          <p:cNvSpPr/>
          <p:nvPr/>
        </p:nvSpPr>
        <p:spPr>
          <a:xfrm>
            <a:off x="685800" y="3429000"/>
            <a:ext cx="10820095" cy="292608"/>
          </a:xfrm>
          <a:prstGeom prst="rect">
            <a:avLst/>
          </a:prstGeom>
          <a:noFill/>
          <a:ln/>
        </p:spPr>
        <p:txBody>
          <a:bodyPr wrap="square" lIns="0" tIns="0" rIns="0" bIns="0" rtlCol="0" anchor="ctr"/>
          <a:lstStyle/>
          <a:p>
            <a:pPr indent="0" marL="0">
              <a:buNone/>
            </a:pPr>
            <a:r>
              <a:rPr lang="en-US" sz="1350" b="1" dirty="0">
                <a:solidFill>
                  <a:srgbClr val="0D1B2A"/>
                </a:solidFill>
                <a:latin typeface="Arial" pitchFamily="34" charset="0"/>
                <a:ea typeface="Arial" pitchFamily="34" charset="-122"/>
                <a:cs typeface="Arial" pitchFamily="34" charset="-120"/>
              </a:rPr>
              <a:t>Where each score comes from — contribution to the 0-100 total, by signal</a:t>
            </a:r>
            <a:endParaRPr lang="en-US" sz="1350" dirty="0"/>
          </a:p>
        </p:txBody>
      </p:sp>
      <p:graphicFrame>
        <p:nvGraphicFramePr>
          <p:cNvPr id="23" name="Chart 0" descr=""/>
          <p:cNvGraphicFramePr/>
          <p:nvPr/>
        </p:nvGraphicFramePr>
        <p:xfrm>
          <a:off x="685800" y="3767328"/>
          <a:ext cx="10820095" cy="21488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820095" cy="658368"/>
          </a:xfrm>
          <a:prstGeom prst="rect">
            <a:avLst/>
          </a:prstGeom>
          <a:noFill/>
          <a:ln/>
        </p:spPr>
        <p:txBody>
          <a:bodyPr wrap="square" lIns="0" tIns="0" rIns="0" bIns="0" rtlCol="0" anchor="ctr"/>
          <a:lstStyle/>
          <a:p>
            <a:pPr algn="l" indent="0" marL="0">
              <a:buNone/>
            </a:pPr>
            <a:r>
              <a:rPr lang="en-US" sz="3800" b="1" dirty="0">
                <a:solidFill>
                  <a:srgbClr val="0D1B2A"/>
                </a:solidFill>
                <a:latin typeface="Arial" pitchFamily="34" charset="0"/>
                <a:ea typeface="Arial" pitchFamily="34" charset="-122"/>
                <a:cs typeface="Arial" pitchFamily="34" charset="-120"/>
              </a:rPr>
              <a:t>Model Performance</a:t>
            </a:r>
            <a:endParaRPr lang="en-US" sz="3800" dirty="0"/>
          </a:p>
        </p:txBody>
      </p:sp>
      <p:sp>
        <p:nvSpPr>
          <p:cNvPr id="3" name="Text 1"/>
          <p:cNvSpPr/>
          <p:nvPr/>
        </p:nvSpPr>
        <p:spPr>
          <a:xfrm>
            <a:off x="685800" y="1133856"/>
            <a:ext cx="10820095" cy="365760"/>
          </a:xfrm>
          <a:prstGeom prst="rect">
            <a:avLst/>
          </a:prstGeom>
          <a:noFill/>
          <a:ln/>
        </p:spPr>
        <p:txBody>
          <a:bodyPr wrap="square" lIns="0" tIns="0" rIns="0" bIns="0" rtlCol="0" anchor="ctr"/>
          <a:lstStyle/>
          <a:p>
            <a:pPr algn="l" indent="0" marL="0">
              <a:buNone/>
            </a:pPr>
            <a:r>
              <a:rPr lang="en-US" sz="1500" i="1" dirty="0">
                <a:solidFill>
                  <a:srgbClr val="3E5C76"/>
                </a:solidFill>
                <a:latin typeface="Calibri" pitchFamily="34" charset="0"/>
                <a:ea typeface="Calibri" pitchFamily="34" charset="-122"/>
                <a:cs typeface="Calibri" pitchFamily="34" charset="-120"/>
              </a:rPr>
              <a:t>Every module cleared its target — and every caveat is documented.</a:t>
            </a:r>
            <a:endParaRPr lang="en-US" sz="1500" dirty="0"/>
          </a:p>
        </p:txBody>
      </p:sp>
      <p:sp>
        <p:nvSpPr>
          <p:cNvPr id="4" name="Shape 2"/>
          <p:cNvSpPr/>
          <p:nvPr/>
        </p:nvSpPr>
        <p:spPr>
          <a:xfrm>
            <a:off x="685800" y="1828800"/>
            <a:ext cx="6675120" cy="859536"/>
          </a:xfrm>
          <a:prstGeom prst="roundRect">
            <a:avLst>
              <a:gd name="adj" fmla="val 10638"/>
            </a:avLst>
          </a:prstGeom>
          <a:solidFill>
            <a:srgbClr val="F1F5F9"/>
          </a:solidFill>
          <a:ln/>
        </p:spPr>
      </p:sp>
      <p:pic>
        <p:nvPicPr>
          <p:cNvPr id="5" name="Image 0" descr="preencoded.png">    </p:cNvPr>
          <p:cNvPicPr>
            <a:picLocks noChangeAspect="1"/>
          </p:cNvPicPr>
          <p:nvPr/>
        </p:nvPicPr>
        <p:blipFill>
          <a:blip r:embed="rId1"/>
          <a:stretch>
            <a:fillRect/>
          </a:stretch>
        </p:blipFill>
        <p:spPr>
          <a:xfrm>
            <a:off x="923544" y="2103120"/>
            <a:ext cx="310896" cy="310896"/>
          </a:xfrm>
          <a:prstGeom prst="rect">
            <a:avLst/>
          </a:prstGeom>
        </p:spPr>
      </p:pic>
      <p:sp>
        <p:nvSpPr>
          <p:cNvPr id="6" name="Text 3"/>
          <p:cNvSpPr/>
          <p:nvPr/>
        </p:nvSpPr>
        <p:spPr>
          <a:xfrm>
            <a:off x="1362456" y="1938528"/>
            <a:ext cx="1554480" cy="329184"/>
          </a:xfrm>
          <a:prstGeom prst="rect">
            <a:avLst/>
          </a:prstGeom>
          <a:noFill/>
          <a:ln/>
        </p:spPr>
        <p:txBody>
          <a:bodyPr wrap="square" lIns="0" tIns="0" rIns="0" bIns="0" rtlCol="0" anchor="ctr"/>
          <a:lstStyle/>
          <a:p>
            <a:pPr indent="0" marL="0">
              <a:buNone/>
            </a:pPr>
            <a:r>
              <a:rPr lang="en-US" sz="1450" b="1" dirty="0">
                <a:solidFill>
                  <a:srgbClr val="0D1B2A"/>
                </a:solidFill>
                <a:latin typeface="Arial" pitchFamily="34" charset="0"/>
                <a:ea typeface="Arial" pitchFamily="34" charset="-122"/>
                <a:cs typeface="Arial" pitchFamily="34" charset="-120"/>
              </a:rPr>
              <a:t>Churn</a:t>
            </a:r>
            <a:endParaRPr lang="en-US" sz="1450" dirty="0"/>
          </a:p>
        </p:txBody>
      </p:sp>
      <p:sp>
        <p:nvSpPr>
          <p:cNvPr id="7" name="Text 4"/>
          <p:cNvSpPr/>
          <p:nvPr/>
        </p:nvSpPr>
        <p:spPr>
          <a:xfrm>
            <a:off x="1362456" y="2258568"/>
            <a:ext cx="2743200" cy="292608"/>
          </a:xfrm>
          <a:prstGeom prst="rect">
            <a:avLst/>
          </a:prstGeom>
          <a:noFill/>
          <a:ln/>
        </p:spPr>
        <p:txBody>
          <a:bodyPr wrap="square" lIns="0" tIns="0" rIns="0" bIns="0" rtlCol="0" anchor="ctr"/>
          <a:lstStyle/>
          <a:p>
            <a:pPr indent="0" marL="0">
              <a:buNone/>
            </a:pPr>
            <a:r>
              <a:rPr lang="en-US" sz="1050" dirty="0">
                <a:solidFill>
                  <a:srgbClr val="3E5C76"/>
                </a:solidFill>
                <a:latin typeface="Calibri" pitchFamily="34" charset="0"/>
                <a:ea typeface="Calibri" pitchFamily="34" charset="-122"/>
                <a:cs typeface="Calibri" pitchFamily="34" charset="-120"/>
              </a:rPr>
              <a:t>LightGBM, best of 7 candidates</a:t>
            </a:r>
            <a:endParaRPr lang="en-US" sz="1050" dirty="0"/>
          </a:p>
        </p:txBody>
      </p:sp>
      <p:sp>
        <p:nvSpPr>
          <p:cNvPr id="8" name="Text 5"/>
          <p:cNvSpPr/>
          <p:nvPr/>
        </p:nvSpPr>
        <p:spPr>
          <a:xfrm>
            <a:off x="4297680" y="1938528"/>
            <a:ext cx="1417320" cy="329184"/>
          </a:xfrm>
          <a:prstGeom prst="rect">
            <a:avLst/>
          </a:prstGeom>
          <a:noFill/>
          <a:ln/>
        </p:spPr>
        <p:txBody>
          <a:bodyPr wrap="square" lIns="0" tIns="0" rIns="0" bIns="0" rtlCol="0" anchor="ctr"/>
          <a:lstStyle/>
          <a:p>
            <a:pPr indent="0" marL="0">
              <a:buNone/>
            </a:pPr>
            <a:r>
              <a:rPr lang="en-US" sz="1100" dirty="0">
                <a:solidFill>
                  <a:srgbClr val="3E5C76"/>
                </a:solidFill>
                <a:latin typeface="Calibri" pitchFamily="34" charset="0"/>
                <a:ea typeface="Calibri" pitchFamily="34" charset="-122"/>
                <a:cs typeface="Calibri" pitchFamily="34" charset="-120"/>
              </a:rPr>
              <a:t>ROC-AUC</a:t>
            </a:r>
            <a:endParaRPr lang="en-US" sz="1100" dirty="0"/>
          </a:p>
        </p:txBody>
      </p:sp>
      <p:sp>
        <p:nvSpPr>
          <p:cNvPr id="9" name="Text 6"/>
          <p:cNvSpPr/>
          <p:nvPr/>
        </p:nvSpPr>
        <p:spPr>
          <a:xfrm>
            <a:off x="4297680" y="2258568"/>
            <a:ext cx="1600200" cy="292608"/>
          </a:xfrm>
          <a:prstGeom prst="rect">
            <a:avLst/>
          </a:prstGeom>
          <a:noFill/>
          <a:ln/>
        </p:spPr>
        <p:txBody>
          <a:bodyPr wrap="square" lIns="0" tIns="0" rIns="0" bIns="0" rtlCol="0" anchor="ctr"/>
          <a:lstStyle/>
          <a:p>
            <a:pPr indent="0" marL="0">
              <a:buNone/>
            </a:pPr>
            <a:r>
              <a:rPr lang="en-US" sz="1050" dirty="0">
                <a:solidFill>
                  <a:srgbClr val="3E5C76"/>
                </a:solidFill>
                <a:latin typeface="Calibri" pitchFamily="34" charset="0"/>
                <a:ea typeface="Calibri" pitchFamily="34" charset="-122"/>
                <a:cs typeface="Calibri" pitchFamily="34" charset="-120"/>
              </a:rPr>
              <a:t>target &gt; 0.80</a:t>
            </a:r>
            <a:endParaRPr lang="en-US" sz="1050" dirty="0"/>
          </a:p>
        </p:txBody>
      </p:sp>
      <p:sp>
        <p:nvSpPr>
          <p:cNvPr id="10" name="Text 7"/>
          <p:cNvSpPr/>
          <p:nvPr/>
        </p:nvSpPr>
        <p:spPr>
          <a:xfrm>
            <a:off x="5715000" y="1938528"/>
            <a:ext cx="1371600" cy="621792"/>
          </a:xfrm>
          <a:prstGeom prst="rect">
            <a:avLst/>
          </a:prstGeom>
          <a:noFill/>
          <a:ln/>
        </p:spPr>
        <p:txBody>
          <a:bodyPr wrap="square" lIns="0" tIns="0" rIns="0" bIns="0" rtlCol="0" anchor="ctr"/>
          <a:lstStyle/>
          <a:p>
            <a:pPr algn="r" indent="0" marL="0">
              <a:buNone/>
            </a:pPr>
            <a:r>
              <a:rPr lang="en-US" sz="2200" b="1" dirty="0">
                <a:solidFill>
                  <a:srgbClr val="16324F"/>
                </a:solidFill>
                <a:latin typeface="Arial" pitchFamily="34" charset="0"/>
                <a:ea typeface="Arial" pitchFamily="34" charset="-122"/>
                <a:cs typeface="Arial" pitchFamily="34" charset="-120"/>
              </a:rPr>
              <a:t>0.8535</a:t>
            </a:r>
            <a:endParaRPr lang="en-US" sz="2200" dirty="0"/>
          </a:p>
        </p:txBody>
      </p:sp>
      <p:sp>
        <p:nvSpPr>
          <p:cNvPr id="11" name="Shape 8"/>
          <p:cNvSpPr/>
          <p:nvPr/>
        </p:nvSpPr>
        <p:spPr>
          <a:xfrm>
            <a:off x="685800" y="2798064"/>
            <a:ext cx="6675120" cy="859536"/>
          </a:xfrm>
          <a:prstGeom prst="roundRect">
            <a:avLst>
              <a:gd name="adj" fmla="val 10638"/>
            </a:avLst>
          </a:prstGeom>
          <a:solidFill>
            <a:srgbClr val="F1F5F9"/>
          </a:solidFill>
          <a:ln/>
        </p:spPr>
      </p:sp>
      <p:pic>
        <p:nvPicPr>
          <p:cNvPr id="12" name="Image 1" descr="preencoded.png">    </p:cNvPr>
          <p:cNvPicPr>
            <a:picLocks noChangeAspect="1"/>
          </p:cNvPicPr>
          <p:nvPr/>
        </p:nvPicPr>
        <p:blipFill>
          <a:blip r:embed="rId2"/>
          <a:stretch>
            <a:fillRect/>
          </a:stretch>
        </p:blipFill>
        <p:spPr>
          <a:xfrm>
            <a:off x="923544" y="3072384"/>
            <a:ext cx="310896" cy="310896"/>
          </a:xfrm>
          <a:prstGeom prst="rect">
            <a:avLst/>
          </a:prstGeom>
        </p:spPr>
      </p:pic>
      <p:sp>
        <p:nvSpPr>
          <p:cNvPr id="13" name="Text 9"/>
          <p:cNvSpPr/>
          <p:nvPr/>
        </p:nvSpPr>
        <p:spPr>
          <a:xfrm>
            <a:off x="1362456" y="2907792"/>
            <a:ext cx="1554480" cy="329184"/>
          </a:xfrm>
          <a:prstGeom prst="rect">
            <a:avLst/>
          </a:prstGeom>
          <a:noFill/>
          <a:ln/>
        </p:spPr>
        <p:txBody>
          <a:bodyPr wrap="square" lIns="0" tIns="0" rIns="0" bIns="0" rtlCol="0" anchor="ctr"/>
          <a:lstStyle/>
          <a:p>
            <a:pPr indent="0" marL="0">
              <a:buNone/>
            </a:pPr>
            <a:r>
              <a:rPr lang="en-US" sz="1450" b="1" dirty="0">
                <a:solidFill>
                  <a:srgbClr val="0D1B2A"/>
                </a:solidFill>
                <a:latin typeface="Arial" pitchFamily="34" charset="0"/>
                <a:ea typeface="Arial" pitchFamily="34" charset="-122"/>
                <a:cs typeface="Arial" pitchFamily="34" charset="-120"/>
              </a:rPr>
              <a:t>Sentiment</a:t>
            </a:r>
            <a:endParaRPr lang="en-US" sz="1450" dirty="0"/>
          </a:p>
        </p:txBody>
      </p:sp>
      <p:sp>
        <p:nvSpPr>
          <p:cNvPr id="14" name="Text 10"/>
          <p:cNvSpPr/>
          <p:nvPr/>
        </p:nvSpPr>
        <p:spPr>
          <a:xfrm>
            <a:off x="1362456" y="3227832"/>
            <a:ext cx="2743200" cy="292608"/>
          </a:xfrm>
          <a:prstGeom prst="rect">
            <a:avLst/>
          </a:prstGeom>
          <a:noFill/>
          <a:ln/>
        </p:spPr>
        <p:txBody>
          <a:bodyPr wrap="square" lIns="0" tIns="0" rIns="0" bIns="0" rtlCol="0" anchor="ctr"/>
          <a:lstStyle/>
          <a:p>
            <a:pPr indent="0" marL="0">
              <a:buNone/>
            </a:pPr>
            <a:r>
              <a:rPr lang="en-US" sz="1050" dirty="0">
                <a:solidFill>
                  <a:srgbClr val="3E5C76"/>
                </a:solidFill>
                <a:latin typeface="Calibri" pitchFamily="34" charset="0"/>
                <a:ea typeface="Calibri" pitchFamily="34" charset="-122"/>
                <a:cs typeface="Calibri" pitchFamily="34" charset="-120"/>
              </a:rPr>
              <a:t>TF-IDF + Logistic Regression</a:t>
            </a:r>
            <a:endParaRPr lang="en-US" sz="1050" dirty="0"/>
          </a:p>
        </p:txBody>
      </p:sp>
      <p:sp>
        <p:nvSpPr>
          <p:cNvPr id="15" name="Text 11"/>
          <p:cNvSpPr/>
          <p:nvPr/>
        </p:nvSpPr>
        <p:spPr>
          <a:xfrm>
            <a:off x="4297680" y="2907792"/>
            <a:ext cx="1417320" cy="329184"/>
          </a:xfrm>
          <a:prstGeom prst="rect">
            <a:avLst/>
          </a:prstGeom>
          <a:noFill/>
          <a:ln/>
        </p:spPr>
        <p:txBody>
          <a:bodyPr wrap="square" lIns="0" tIns="0" rIns="0" bIns="0" rtlCol="0" anchor="ctr"/>
          <a:lstStyle/>
          <a:p>
            <a:pPr indent="0" marL="0">
              <a:buNone/>
            </a:pPr>
            <a:r>
              <a:rPr lang="en-US" sz="1100" dirty="0">
                <a:solidFill>
                  <a:srgbClr val="3E5C76"/>
                </a:solidFill>
                <a:latin typeface="Calibri" pitchFamily="34" charset="0"/>
                <a:ea typeface="Calibri" pitchFamily="34" charset="-122"/>
                <a:cs typeface="Calibri" pitchFamily="34" charset="-120"/>
              </a:rPr>
              <a:t>Macro-F1</a:t>
            </a:r>
            <a:endParaRPr lang="en-US" sz="1100" dirty="0"/>
          </a:p>
        </p:txBody>
      </p:sp>
      <p:sp>
        <p:nvSpPr>
          <p:cNvPr id="16" name="Text 12"/>
          <p:cNvSpPr/>
          <p:nvPr/>
        </p:nvSpPr>
        <p:spPr>
          <a:xfrm>
            <a:off x="4297680" y="3227832"/>
            <a:ext cx="1600200" cy="292608"/>
          </a:xfrm>
          <a:prstGeom prst="rect">
            <a:avLst/>
          </a:prstGeom>
          <a:noFill/>
          <a:ln/>
        </p:spPr>
        <p:txBody>
          <a:bodyPr wrap="square" lIns="0" tIns="0" rIns="0" bIns="0" rtlCol="0" anchor="ctr"/>
          <a:lstStyle/>
          <a:p>
            <a:pPr indent="0" marL="0">
              <a:buNone/>
            </a:pPr>
            <a:r>
              <a:rPr lang="en-US" sz="1050" dirty="0">
                <a:solidFill>
                  <a:srgbClr val="3E5C76"/>
                </a:solidFill>
                <a:latin typeface="Calibri" pitchFamily="34" charset="0"/>
                <a:ea typeface="Calibri" pitchFamily="34" charset="-122"/>
                <a:cs typeface="Calibri" pitchFamily="34" charset="-120"/>
              </a:rPr>
              <a:t>target &gt; 0.75</a:t>
            </a:r>
            <a:endParaRPr lang="en-US" sz="1050" dirty="0"/>
          </a:p>
        </p:txBody>
      </p:sp>
      <p:sp>
        <p:nvSpPr>
          <p:cNvPr id="17" name="Text 13"/>
          <p:cNvSpPr/>
          <p:nvPr/>
        </p:nvSpPr>
        <p:spPr>
          <a:xfrm>
            <a:off x="5715000" y="2907792"/>
            <a:ext cx="1371600" cy="621792"/>
          </a:xfrm>
          <a:prstGeom prst="rect">
            <a:avLst/>
          </a:prstGeom>
          <a:noFill/>
          <a:ln/>
        </p:spPr>
        <p:txBody>
          <a:bodyPr wrap="square" lIns="0" tIns="0" rIns="0" bIns="0" rtlCol="0" anchor="ctr"/>
          <a:lstStyle/>
          <a:p>
            <a:pPr algn="r" indent="0" marL="0">
              <a:buNone/>
            </a:pPr>
            <a:r>
              <a:rPr lang="en-US" sz="2200" b="1" dirty="0">
                <a:solidFill>
                  <a:srgbClr val="16324F"/>
                </a:solidFill>
                <a:latin typeface="Arial" pitchFamily="34" charset="0"/>
                <a:ea typeface="Arial" pitchFamily="34" charset="-122"/>
                <a:cs typeface="Arial" pitchFamily="34" charset="-120"/>
              </a:rPr>
              <a:t>1.0000</a:t>
            </a:r>
            <a:endParaRPr lang="en-US" sz="2200" dirty="0"/>
          </a:p>
        </p:txBody>
      </p:sp>
      <p:sp>
        <p:nvSpPr>
          <p:cNvPr id="18" name="Shape 14"/>
          <p:cNvSpPr/>
          <p:nvPr/>
        </p:nvSpPr>
        <p:spPr>
          <a:xfrm>
            <a:off x="685800" y="3767328"/>
            <a:ext cx="6675120" cy="859536"/>
          </a:xfrm>
          <a:prstGeom prst="roundRect">
            <a:avLst>
              <a:gd name="adj" fmla="val 10638"/>
            </a:avLst>
          </a:prstGeom>
          <a:solidFill>
            <a:srgbClr val="F1F5F9"/>
          </a:solidFill>
          <a:ln/>
        </p:spPr>
      </p:sp>
      <p:pic>
        <p:nvPicPr>
          <p:cNvPr id="19" name="Image 2" descr="preencoded.png">    </p:cNvPr>
          <p:cNvPicPr>
            <a:picLocks noChangeAspect="1"/>
          </p:cNvPicPr>
          <p:nvPr/>
        </p:nvPicPr>
        <p:blipFill>
          <a:blip r:embed="rId3"/>
          <a:stretch>
            <a:fillRect/>
          </a:stretch>
        </p:blipFill>
        <p:spPr>
          <a:xfrm>
            <a:off x="923544" y="4041648"/>
            <a:ext cx="310896" cy="310896"/>
          </a:xfrm>
          <a:prstGeom prst="rect">
            <a:avLst/>
          </a:prstGeom>
        </p:spPr>
      </p:pic>
      <p:sp>
        <p:nvSpPr>
          <p:cNvPr id="20" name="Text 15"/>
          <p:cNvSpPr/>
          <p:nvPr/>
        </p:nvSpPr>
        <p:spPr>
          <a:xfrm>
            <a:off x="1362456" y="3877056"/>
            <a:ext cx="1554480" cy="329184"/>
          </a:xfrm>
          <a:prstGeom prst="rect">
            <a:avLst/>
          </a:prstGeom>
          <a:noFill/>
          <a:ln/>
        </p:spPr>
        <p:txBody>
          <a:bodyPr wrap="square" lIns="0" tIns="0" rIns="0" bIns="0" rtlCol="0" anchor="ctr"/>
          <a:lstStyle/>
          <a:p>
            <a:pPr indent="0" marL="0">
              <a:buNone/>
            </a:pPr>
            <a:r>
              <a:rPr lang="en-US" sz="1450" b="1" dirty="0">
                <a:solidFill>
                  <a:srgbClr val="0D1B2A"/>
                </a:solidFill>
                <a:latin typeface="Arial" pitchFamily="34" charset="0"/>
                <a:ea typeface="Arial" pitchFamily="34" charset="-122"/>
                <a:cs typeface="Arial" pitchFamily="34" charset="-120"/>
              </a:rPr>
              <a:t>Anomalies</a:t>
            </a:r>
            <a:endParaRPr lang="en-US" sz="1450" dirty="0"/>
          </a:p>
        </p:txBody>
      </p:sp>
      <p:sp>
        <p:nvSpPr>
          <p:cNvPr id="21" name="Text 16"/>
          <p:cNvSpPr/>
          <p:nvPr/>
        </p:nvSpPr>
        <p:spPr>
          <a:xfrm>
            <a:off x="1362456" y="4197096"/>
            <a:ext cx="2743200" cy="292608"/>
          </a:xfrm>
          <a:prstGeom prst="rect">
            <a:avLst/>
          </a:prstGeom>
          <a:noFill/>
          <a:ln/>
        </p:spPr>
        <p:txBody>
          <a:bodyPr wrap="square" lIns="0" tIns="0" rIns="0" bIns="0" rtlCol="0" anchor="ctr"/>
          <a:lstStyle/>
          <a:p>
            <a:pPr indent="0" marL="0">
              <a:buNone/>
            </a:pPr>
            <a:r>
              <a:rPr lang="en-US" sz="1050" dirty="0">
                <a:solidFill>
                  <a:srgbClr val="3E5C76"/>
                </a:solidFill>
                <a:latin typeface="Calibri" pitchFamily="34" charset="0"/>
                <a:ea typeface="Calibri" pitchFamily="34" charset="-122"/>
                <a:cs typeface="Calibri" pitchFamily="34" charset="-120"/>
              </a:rPr>
              <a:t>Isolation Forest</a:t>
            </a:r>
            <a:endParaRPr lang="en-US" sz="1050" dirty="0"/>
          </a:p>
        </p:txBody>
      </p:sp>
      <p:sp>
        <p:nvSpPr>
          <p:cNvPr id="22" name="Text 17"/>
          <p:cNvSpPr/>
          <p:nvPr/>
        </p:nvSpPr>
        <p:spPr>
          <a:xfrm>
            <a:off x="4297680" y="3877056"/>
            <a:ext cx="1417320" cy="329184"/>
          </a:xfrm>
          <a:prstGeom prst="rect">
            <a:avLst/>
          </a:prstGeom>
          <a:noFill/>
          <a:ln/>
        </p:spPr>
        <p:txBody>
          <a:bodyPr wrap="square" lIns="0" tIns="0" rIns="0" bIns="0" rtlCol="0" anchor="ctr"/>
          <a:lstStyle/>
          <a:p>
            <a:pPr indent="0" marL="0">
              <a:buNone/>
            </a:pPr>
            <a:r>
              <a:rPr lang="en-US" sz="1100" dirty="0">
                <a:solidFill>
                  <a:srgbClr val="3E5C76"/>
                </a:solidFill>
                <a:latin typeface="Calibri" pitchFamily="34" charset="0"/>
                <a:ea typeface="Calibri" pitchFamily="34" charset="-122"/>
                <a:cs typeface="Calibri" pitchFamily="34" charset="-120"/>
              </a:rPr>
              <a:t>Recall</a:t>
            </a:r>
            <a:endParaRPr lang="en-US" sz="1100" dirty="0"/>
          </a:p>
        </p:txBody>
      </p:sp>
      <p:sp>
        <p:nvSpPr>
          <p:cNvPr id="23" name="Text 18"/>
          <p:cNvSpPr/>
          <p:nvPr/>
        </p:nvSpPr>
        <p:spPr>
          <a:xfrm>
            <a:off x="4297680" y="4197096"/>
            <a:ext cx="1600200" cy="292608"/>
          </a:xfrm>
          <a:prstGeom prst="rect">
            <a:avLst/>
          </a:prstGeom>
          <a:noFill/>
          <a:ln/>
        </p:spPr>
        <p:txBody>
          <a:bodyPr wrap="square" lIns="0" tIns="0" rIns="0" bIns="0" rtlCol="0" anchor="ctr"/>
          <a:lstStyle/>
          <a:p>
            <a:pPr indent="0" marL="0">
              <a:buNone/>
            </a:pPr>
            <a:r>
              <a:rPr lang="en-US" sz="1050" dirty="0">
                <a:solidFill>
                  <a:srgbClr val="3E5C76"/>
                </a:solidFill>
                <a:latin typeface="Calibri" pitchFamily="34" charset="0"/>
                <a:ea typeface="Calibri" pitchFamily="34" charset="-122"/>
                <a:cs typeface="Calibri" pitchFamily="34" charset="-120"/>
              </a:rPr>
              <a:t>target &gt; 0.60</a:t>
            </a:r>
            <a:endParaRPr lang="en-US" sz="1050" dirty="0"/>
          </a:p>
        </p:txBody>
      </p:sp>
      <p:sp>
        <p:nvSpPr>
          <p:cNvPr id="24" name="Text 19"/>
          <p:cNvSpPr/>
          <p:nvPr/>
        </p:nvSpPr>
        <p:spPr>
          <a:xfrm>
            <a:off x="5715000" y="3877056"/>
            <a:ext cx="1371600" cy="621792"/>
          </a:xfrm>
          <a:prstGeom prst="rect">
            <a:avLst/>
          </a:prstGeom>
          <a:noFill/>
          <a:ln/>
        </p:spPr>
        <p:txBody>
          <a:bodyPr wrap="square" lIns="0" tIns="0" rIns="0" bIns="0" rtlCol="0" anchor="ctr"/>
          <a:lstStyle/>
          <a:p>
            <a:pPr algn="r" indent="0" marL="0">
              <a:buNone/>
            </a:pPr>
            <a:r>
              <a:rPr lang="en-US" sz="2200" b="1" dirty="0">
                <a:solidFill>
                  <a:srgbClr val="16324F"/>
                </a:solidFill>
                <a:latin typeface="Arial" pitchFamily="34" charset="0"/>
                <a:ea typeface="Arial" pitchFamily="34" charset="-122"/>
                <a:cs typeface="Arial" pitchFamily="34" charset="-120"/>
              </a:rPr>
              <a:t>1.0000</a:t>
            </a:r>
            <a:endParaRPr lang="en-US" sz="2200" dirty="0"/>
          </a:p>
        </p:txBody>
      </p:sp>
      <p:sp>
        <p:nvSpPr>
          <p:cNvPr id="25" name="Shape 20"/>
          <p:cNvSpPr/>
          <p:nvPr/>
        </p:nvSpPr>
        <p:spPr>
          <a:xfrm>
            <a:off x="685800" y="4736592"/>
            <a:ext cx="6675120" cy="859536"/>
          </a:xfrm>
          <a:prstGeom prst="roundRect">
            <a:avLst>
              <a:gd name="adj" fmla="val 10638"/>
            </a:avLst>
          </a:prstGeom>
          <a:solidFill>
            <a:srgbClr val="F1F5F9"/>
          </a:solidFill>
          <a:ln/>
        </p:spPr>
      </p:sp>
      <p:pic>
        <p:nvPicPr>
          <p:cNvPr id="26" name="Image 3" descr="preencoded.png">    </p:cNvPr>
          <p:cNvPicPr>
            <a:picLocks noChangeAspect="1"/>
          </p:cNvPicPr>
          <p:nvPr/>
        </p:nvPicPr>
        <p:blipFill>
          <a:blip r:embed="rId4"/>
          <a:stretch>
            <a:fillRect/>
          </a:stretch>
        </p:blipFill>
        <p:spPr>
          <a:xfrm>
            <a:off x="923544" y="5010912"/>
            <a:ext cx="310896" cy="310896"/>
          </a:xfrm>
          <a:prstGeom prst="rect">
            <a:avLst/>
          </a:prstGeom>
        </p:spPr>
      </p:pic>
      <p:sp>
        <p:nvSpPr>
          <p:cNvPr id="27" name="Text 21"/>
          <p:cNvSpPr/>
          <p:nvPr/>
        </p:nvSpPr>
        <p:spPr>
          <a:xfrm>
            <a:off x="1362456" y="4846320"/>
            <a:ext cx="1554480" cy="329184"/>
          </a:xfrm>
          <a:prstGeom prst="rect">
            <a:avLst/>
          </a:prstGeom>
          <a:noFill/>
          <a:ln/>
        </p:spPr>
        <p:txBody>
          <a:bodyPr wrap="square" lIns="0" tIns="0" rIns="0" bIns="0" rtlCol="0" anchor="ctr"/>
          <a:lstStyle/>
          <a:p>
            <a:pPr indent="0" marL="0">
              <a:buNone/>
            </a:pPr>
            <a:r>
              <a:rPr lang="en-US" sz="1450" b="1" dirty="0">
                <a:solidFill>
                  <a:srgbClr val="0D1B2A"/>
                </a:solidFill>
                <a:latin typeface="Arial" pitchFamily="34" charset="0"/>
                <a:ea typeface="Arial" pitchFamily="34" charset="-122"/>
                <a:cs typeface="Arial" pitchFamily="34" charset="-120"/>
              </a:rPr>
              <a:t>Forecast</a:t>
            </a:r>
            <a:endParaRPr lang="en-US" sz="1450" dirty="0"/>
          </a:p>
        </p:txBody>
      </p:sp>
      <p:sp>
        <p:nvSpPr>
          <p:cNvPr id="28" name="Text 22"/>
          <p:cNvSpPr/>
          <p:nvPr/>
        </p:nvSpPr>
        <p:spPr>
          <a:xfrm>
            <a:off x="1362456" y="5166360"/>
            <a:ext cx="2743200" cy="292608"/>
          </a:xfrm>
          <a:prstGeom prst="rect">
            <a:avLst/>
          </a:prstGeom>
          <a:noFill/>
          <a:ln/>
        </p:spPr>
        <p:txBody>
          <a:bodyPr wrap="square" lIns="0" tIns="0" rIns="0" bIns="0" rtlCol="0" anchor="ctr"/>
          <a:lstStyle/>
          <a:p>
            <a:pPr indent="0" marL="0">
              <a:buNone/>
            </a:pPr>
            <a:r>
              <a:rPr lang="en-US" sz="1050" dirty="0">
                <a:solidFill>
                  <a:srgbClr val="3E5C76"/>
                </a:solidFill>
                <a:latin typeface="Calibri" pitchFamily="34" charset="0"/>
                <a:ea typeface="Calibri" pitchFamily="34" charset="-122"/>
                <a:cs typeface="Calibri" pitchFamily="34" charset="-120"/>
              </a:rPr>
              <a:t>Prophet / ETS / seasonal-naive</a:t>
            </a:r>
            <a:endParaRPr lang="en-US" sz="1050" dirty="0"/>
          </a:p>
        </p:txBody>
      </p:sp>
      <p:sp>
        <p:nvSpPr>
          <p:cNvPr id="29" name="Text 23"/>
          <p:cNvSpPr/>
          <p:nvPr/>
        </p:nvSpPr>
        <p:spPr>
          <a:xfrm>
            <a:off x="4297680" y="4846320"/>
            <a:ext cx="1417320" cy="329184"/>
          </a:xfrm>
          <a:prstGeom prst="rect">
            <a:avLst/>
          </a:prstGeom>
          <a:noFill/>
          <a:ln/>
        </p:spPr>
        <p:txBody>
          <a:bodyPr wrap="square" lIns="0" tIns="0" rIns="0" bIns="0" rtlCol="0" anchor="ctr"/>
          <a:lstStyle/>
          <a:p>
            <a:pPr indent="0" marL="0">
              <a:buNone/>
            </a:pPr>
            <a:r>
              <a:rPr lang="en-US" sz="1100" dirty="0">
                <a:solidFill>
                  <a:srgbClr val="3E5C76"/>
                </a:solidFill>
                <a:latin typeface="Calibri" pitchFamily="34" charset="0"/>
                <a:ea typeface="Calibri" pitchFamily="34" charset="-122"/>
                <a:cs typeface="Calibri" pitchFamily="34" charset="-120"/>
              </a:rPr>
              <a:t>Beats naive</a:t>
            </a:r>
            <a:endParaRPr lang="en-US" sz="1100" dirty="0"/>
          </a:p>
        </p:txBody>
      </p:sp>
      <p:sp>
        <p:nvSpPr>
          <p:cNvPr id="30" name="Text 24"/>
          <p:cNvSpPr/>
          <p:nvPr/>
        </p:nvSpPr>
        <p:spPr>
          <a:xfrm>
            <a:off x="4297680" y="5166360"/>
            <a:ext cx="1600200" cy="292608"/>
          </a:xfrm>
          <a:prstGeom prst="rect">
            <a:avLst/>
          </a:prstGeom>
          <a:noFill/>
          <a:ln/>
        </p:spPr>
        <p:txBody>
          <a:bodyPr wrap="square" lIns="0" tIns="0" rIns="0" bIns="0" rtlCol="0" anchor="ctr"/>
          <a:lstStyle/>
          <a:p>
            <a:pPr indent="0" marL="0">
              <a:buNone/>
            </a:pPr>
            <a:r>
              <a:rPr lang="en-US" sz="1050" dirty="0">
                <a:solidFill>
                  <a:srgbClr val="3E5C76"/>
                </a:solidFill>
                <a:latin typeface="Calibri" pitchFamily="34" charset="0"/>
                <a:ea typeface="Calibri" pitchFamily="34" charset="-122"/>
                <a:cs typeface="Calibri" pitchFamily="34" charset="-120"/>
              </a:rPr>
              <a:t>all companies</a:t>
            </a:r>
            <a:endParaRPr lang="en-US" sz="1050" dirty="0"/>
          </a:p>
        </p:txBody>
      </p:sp>
      <p:sp>
        <p:nvSpPr>
          <p:cNvPr id="31" name="Text 25"/>
          <p:cNvSpPr/>
          <p:nvPr/>
        </p:nvSpPr>
        <p:spPr>
          <a:xfrm>
            <a:off x="5715000" y="4846320"/>
            <a:ext cx="1371600" cy="621792"/>
          </a:xfrm>
          <a:prstGeom prst="rect">
            <a:avLst/>
          </a:prstGeom>
          <a:noFill/>
          <a:ln/>
        </p:spPr>
        <p:txBody>
          <a:bodyPr wrap="square" lIns="0" tIns="0" rIns="0" bIns="0" rtlCol="0" anchor="ctr"/>
          <a:lstStyle/>
          <a:p>
            <a:pPr algn="r" indent="0" marL="0">
              <a:buNone/>
            </a:pPr>
            <a:r>
              <a:rPr lang="en-US" sz="2200" b="1" dirty="0">
                <a:solidFill>
                  <a:srgbClr val="16324F"/>
                </a:solidFill>
                <a:latin typeface="Arial" pitchFamily="34" charset="0"/>
                <a:ea typeface="Arial" pitchFamily="34" charset="-122"/>
                <a:cs typeface="Arial" pitchFamily="34" charset="-120"/>
              </a:rPr>
              <a:t>3 / 3</a:t>
            </a:r>
            <a:endParaRPr lang="en-US" sz="2200" dirty="0"/>
          </a:p>
        </p:txBody>
      </p:sp>
      <p:graphicFrame>
        <p:nvGraphicFramePr>
          <p:cNvPr id="32" name="Chart 0" descr=""/>
          <p:cNvGraphicFramePr/>
          <p:nvPr/>
        </p:nvGraphicFramePr>
        <p:xfrm>
          <a:off x="7772400" y="1828800"/>
          <a:ext cx="3730752" cy="2651760"/>
        </p:xfrm>
        <a:graphic xmlns:a="http://schemas.openxmlformats.org/drawingml/2006/main">
          <a:graphicData uri="http://schemas.openxmlformats.org/drawingml/2006/chart">
            <c:chart xmlns:c="http://schemas.openxmlformats.org/drawingml/2006/chart" r:id="rId5"/>
          </a:graphicData>
        </a:graphic>
      </p:graphicFrame>
      <p:sp>
        <p:nvSpPr>
          <p:cNvPr id="33" name="Shape 26"/>
          <p:cNvSpPr/>
          <p:nvPr/>
        </p:nvSpPr>
        <p:spPr>
          <a:xfrm>
            <a:off x="7772400" y="4626864"/>
            <a:ext cx="3730752" cy="1280160"/>
          </a:xfrm>
          <a:prstGeom prst="roundRect">
            <a:avLst>
              <a:gd name="adj" fmla="val 7143"/>
            </a:avLst>
          </a:prstGeom>
          <a:solidFill>
            <a:srgbClr val="0D1B2A"/>
          </a:solidFill>
          <a:ln/>
        </p:spPr>
      </p:sp>
      <p:sp>
        <p:nvSpPr>
          <p:cNvPr id="34" name="Text 27"/>
          <p:cNvSpPr/>
          <p:nvPr/>
        </p:nvSpPr>
        <p:spPr>
          <a:xfrm>
            <a:off x="8010144" y="4736592"/>
            <a:ext cx="3255264" cy="274320"/>
          </a:xfrm>
          <a:prstGeom prst="rect">
            <a:avLst/>
          </a:prstGeom>
          <a:noFill/>
          <a:ln/>
        </p:spPr>
        <p:txBody>
          <a:bodyPr wrap="square" lIns="0" tIns="0" rIns="0" bIns="0" rtlCol="0" anchor="ctr"/>
          <a:lstStyle/>
          <a:p>
            <a:pPr indent="0" marL="0">
              <a:buNone/>
            </a:pPr>
            <a:r>
              <a:rPr lang="en-US" sz="1200" b="1" dirty="0">
                <a:solidFill>
                  <a:srgbClr val="E39A1C"/>
                </a:solidFill>
                <a:latin typeface="Arial" pitchFamily="34" charset="0"/>
                <a:ea typeface="Arial" pitchFamily="34" charset="-122"/>
                <a:cs typeface="Arial" pitchFamily="34" charset="-120"/>
              </a:rPr>
              <a:t>Read these honestly</a:t>
            </a:r>
            <a:endParaRPr lang="en-US" sz="1200" dirty="0"/>
          </a:p>
        </p:txBody>
      </p:sp>
      <p:sp>
        <p:nvSpPr>
          <p:cNvPr id="35" name="Text 28"/>
          <p:cNvSpPr/>
          <p:nvPr/>
        </p:nvSpPr>
        <p:spPr>
          <a:xfrm>
            <a:off x="8010144" y="5029200"/>
            <a:ext cx="3255264" cy="786384"/>
          </a:xfrm>
          <a:prstGeom prst="rect">
            <a:avLst/>
          </a:prstGeom>
          <a:noFill/>
          <a:ln/>
        </p:spPr>
        <p:txBody>
          <a:bodyPr wrap="square" lIns="0" tIns="0" rIns="0" bIns="0" rtlCol="0" anchor="t"/>
          <a:lstStyle/>
          <a:p>
            <a:pPr indent="0" marL="0">
              <a:lnSpc>
                <a:spcPts val="1300"/>
              </a:lnSpc>
              <a:buNone/>
            </a:pPr>
            <a:r>
              <a:rPr lang="en-US" sz="1000" dirty="0">
                <a:solidFill>
                  <a:srgbClr val="93A7BC"/>
                </a:solidFill>
                <a:latin typeface="Calibri" pitchFamily="34" charset="0"/>
                <a:ea typeface="Calibri" pitchFamily="34" charset="-122"/>
                <a:cs typeface="Calibri" pitchFamily="34" charset="-120"/>
              </a:rPr>
              <a:t>Macro-F1 of 1.0000 is an artifact of template-generated review text, not real-world proof. Anomaly precision of 0.15 is a mechanical result of the 3% contamination rule.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820095" cy="658368"/>
          </a:xfrm>
          <a:prstGeom prst="rect">
            <a:avLst/>
          </a:prstGeom>
          <a:noFill/>
          <a:ln/>
        </p:spPr>
        <p:txBody>
          <a:bodyPr wrap="square" lIns="0" tIns="0" rIns="0" bIns="0" rtlCol="0" anchor="ctr"/>
          <a:lstStyle/>
          <a:p>
            <a:pPr algn="l" indent="0" marL="0">
              <a:buNone/>
            </a:pPr>
            <a:r>
              <a:rPr lang="en-US" sz="3800" b="1" dirty="0">
                <a:solidFill>
                  <a:srgbClr val="0D1B2A"/>
                </a:solidFill>
                <a:latin typeface="Arial" pitchFamily="34" charset="0"/>
                <a:ea typeface="Arial" pitchFamily="34" charset="-122"/>
                <a:cs typeface="Arial" pitchFamily="34" charset="-120"/>
              </a:rPr>
              <a:t>What Makes It Different</a:t>
            </a:r>
            <a:endParaRPr lang="en-US" sz="3800" dirty="0"/>
          </a:p>
        </p:txBody>
      </p:sp>
      <p:sp>
        <p:nvSpPr>
          <p:cNvPr id="3" name="Text 1"/>
          <p:cNvSpPr/>
          <p:nvPr/>
        </p:nvSpPr>
        <p:spPr>
          <a:xfrm>
            <a:off x="685800" y="1133856"/>
            <a:ext cx="10820095" cy="365760"/>
          </a:xfrm>
          <a:prstGeom prst="rect">
            <a:avLst/>
          </a:prstGeom>
          <a:noFill/>
          <a:ln/>
        </p:spPr>
        <p:txBody>
          <a:bodyPr wrap="square" lIns="0" tIns="0" rIns="0" bIns="0" rtlCol="0" anchor="ctr"/>
          <a:lstStyle/>
          <a:p>
            <a:pPr algn="l" indent="0" marL="0">
              <a:buNone/>
            </a:pPr>
            <a:r>
              <a:rPr lang="en-US" sz="1500" i="1" dirty="0">
                <a:solidFill>
                  <a:srgbClr val="3E5C76"/>
                </a:solidFill>
                <a:latin typeface="Calibri" pitchFamily="34" charset="0"/>
                <a:ea typeface="Calibri" pitchFamily="34" charset="-122"/>
                <a:cs typeface="Calibri" pitchFamily="34" charset="-120"/>
              </a:rPr>
              <a:t>The hard part isn't the models — it's getting real data in, and trusting what comes out.</a:t>
            </a:r>
            <a:endParaRPr lang="en-US" sz="1500" dirty="0"/>
          </a:p>
        </p:txBody>
      </p:sp>
      <p:sp>
        <p:nvSpPr>
          <p:cNvPr id="4" name="Shape 2"/>
          <p:cNvSpPr/>
          <p:nvPr/>
        </p:nvSpPr>
        <p:spPr>
          <a:xfrm>
            <a:off x="685800" y="2103120"/>
            <a:ext cx="5504688" cy="1719072"/>
          </a:xfrm>
          <a:prstGeom prst="roundRect">
            <a:avLst>
              <a:gd name="adj" fmla="val 6383"/>
            </a:avLst>
          </a:prstGeom>
          <a:solidFill>
            <a:srgbClr val="FFFFFF"/>
          </a:solidFill>
          <a:ln w="12700">
            <a:solidFill>
              <a:srgbClr val="DCE4EC"/>
            </a:solidFill>
            <a:prstDash val="solid"/>
          </a:ln>
          <a:effectLst>
            <a:outerShdw sx="100000" sy="100000" kx="0" ky="0" algn="bl" rotWithShape="0" blurRad="127000" dist="25400" dir="5400000">
              <a:srgbClr val="8FA3B8">
                <a:alpha val="22000"/>
              </a:srgbClr>
            </a:outerShdw>
          </a:effectLst>
        </p:spPr>
      </p:sp>
      <p:sp>
        <p:nvSpPr>
          <p:cNvPr id="5" name="Shape 3"/>
          <p:cNvSpPr/>
          <p:nvPr/>
        </p:nvSpPr>
        <p:spPr>
          <a:xfrm>
            <a:off x="960120" y="2395728"/>
            <a:ext cx="548640" cy="548640"/>
          </a:xfrm>
          <a:prstGeom prst="ellipse">
            <a:avLst/>
          </a:prstGeom>
          <a:solidFill>
            <a:srgbClr val="0D1B2A"/>
          </a:solidFill>
          <a:ln/>
        </p:spPr>
      </p:sp>
      <p:pic>
        <p:nvPicPr>
          <p:cNvPr id="6" name="Image 0" descr="preencoded.png">    </p:cNvPr>
          <p:cNvPicPr>
            <a:picLocks noChangeAspect="1"/>
          </p:cNvPicPr>
          <p:nvPr/>
        </p:nvPicPr>
        <p:blipFill>
          <a:blip r:embed="rId1"/>
          <a:stretch>
            <a:fillRect/>
          </a:stretch>
        </p:blipFill>
        <p:spPr>
          <a:xfrm>
            <a:off x="1097280" y="2532888"/>
            <a:ext cx="274320" cy="274320"/>
          </a:xfrm>
          <a:prstGeom prst="rect">
            <a:avLst/>
          </a:prstGeom>
        </p:spPr>
      </p:pic>
      <p:sp>
        <p:nvSpPr>
          <p:cNvPr id="7" name="Text 4"/>
          <p:cNvSpPr/>
          <p:nvPr/>
        </p:nvSpPr>
        <p:spPr>
          <a:xfrm>
            <a:off x="1655064" y="2377440"/>
            <a:ext cx="4224528" cy="365760"/>
          </a:xfrm>
          <a:prstGeom prst="rect">
            <a:avLst/>
          </a:prstGeom>
          <a:noFill/>
          <a:ln/>
        </p:spPr>
        <p:txBody>
          <a:bodyPr wrap="square" lIns="0" tIns="0" rIns="0" bIns="0" rtlCol="0" anchor="ctr"/>
          <a:lstStyle/>
          <a:p>
            <a:pPr indent="0" marL="0">
              <a:buNone/>
            </a:pPr>
            <a:r>
              <a:rPr lang="en-US" sz="1550" b="1" dirty="0">
                <a:solidFill>
                  <a:srgbClr val="0D1B2A"/>
                </a:solidFill>
                <a:latin typeface="Arial" pitchFamily="34" charset="0"/>
                <a:ea typeface="Arial" pitchFamily="34" charset="-122"/>
                <a:cs typeface="Arial" pitchFamily="34" charset="-120"/>
              </a:rPr>
              <a:t>Upload the export as-is</a:t>
            </a:r>
            <a:endParaRPr lang="en-US" sz="1550" dirty="0"/>
          </a:p>
        </p:txBody>
      </p:sp>
      <p:sp>
        <p:nvSpPr>
          <p:cNvPr id="8" name="Text 5"/>
          <p:cNvSpPr/>
          <p:nvPr/>
        </p:nvSpPr>
        <p:spPr>
          <a:xfrm>
            <a:off x="1655064" y="2779776"/>
            <a:ext cx="4224528" cy="914400"/>
          </a:xfrm>
          <a:prstGeom prst="rect">
            <a:avLst/>
          </a:prstGeom>
          <a:noFill/>
          <a:ln/>
        </p:spPr>
        <p:txBody>
          <a:bodyPr wrap="square" lIns="0" tIns="0" rIns="0" bIns="0" rtlCol="0" anchor="t"/>
          <a:lstStyle/>
          <a:p>
            <a:pPr indent="0" marL="0">
              <a:lnSpc>
                <a:spcPts val="1500"/>
              </a:lnSpc>
              <a:buNone/>
            </a:pPr>
            <a:r>
              <a:rPr lang="en-US" sz="1150" dirty="0">
                <a:solidFill>
                  <a:srgbClr val="3E5C76"/>
                </a:solidFill>
                <a:latin typeface="Calibri" pitchFamily="34" charset="0"/>
                <a:ea typeface="Calibri" pitchFamily="34" charset="-122"/>
                <a:cs typeface="Calibri" pitchFamily="34" charset="-120"/>
              </a:rPr>
              <a:t>Column meanings are auto-detected from raw Stripe, Zendesk and CRM files. Every guess shows its confidence and can be overridden. Nothing needs renaming.</a:t>
            </a:r>
            <a:endParaRPr lang="en-US" sz="1150" dirty="0"/>
          </a:p>
        </p:txBody>
      </p:sp>
      <p:sp>
        <p:nvSpPr>
          <p:cNvPr id="9" name="Shape 6"/>
          <p:cNvSpPr/>
          <p:nvPr/>
        </p:nvSpPr>
        <p:spPr>
          <a:xfrm>
            <a:off x="6455664" y="2103120"/>
            <a:ext cx="5504688" cy="1719072"/>
          </a:xfrm>
          <a:prstGeom prst="roundRect">
            <a:avLst>
              <a:gd name="adj" fmla="val 6383"/>
            </a:avLst>
          </a:prstGeom>
          <a:solidFill>
            <a:srgbClr val="FFFFFF"/>
          </a:solidFill>
          <a:ln w="12700">
            <a:solidFill>
              <a:srgbClr val="DCE4EC"/>
            </a:solidFill>
            <a:prstDash val="solid"/>
          </a:ln>
          <a:effectLst>
            <a:outerShdw sx="100000" sy="100000" kx="0" ky="0" algn="bl" rotWithShape="0" blurRad="127000" dist="25400" dir="5400000">
              <a:srgbClr val="8FA3B8">
                <a:alpha val="22000"/>
              </a:srgbClr>
            </a:outerShdw>
          </a:effectLst>
        </p:spPr>
      </p:sp>
      <p:sp>
        <p:nvSpPr>
          <p:cNvPr id="10" name="Shape 7"/>
          <p:cNvSpPr/>
          <p:nvPr/>
        </p:nvSpPr>
        <p:spPr>
          <a:xfrm>
            <a:off x="6729984" y="2395728"/>
            <a:ext cx="548640" cy="548640"/>
          </a:xfrm>
          <a:prstGeom prst="ellipse">
            <a:avLst/>
          </a:prstGeom>
          <a:solidFill>
            <a:srgbClr val="0D1B2A"/>
          </a:solidFill>
          <a:ln/>
        </p:spPr>
      </p:sp>
      <p:pic>
        <p:nvPicPr>
          <p:cNvPr id="11" name="Image 1" descr="preencoded.png">    </p:cNvPr>
          <p:cNvPicPr>
            <a:picLocks noChangeAspect="1"/>
          </p:cNvPicPr>
          <p:nvPr/>
        </p:nvPicPr>
        <p:blipFill>
          <a:blip r:embed="rId2"/>
          <a:stretch>
            <a:fillRect/>
          </a:stretch>
        </p:blipFill>
        <p:spPr>
          <a:xfrm>
            <a:off x="6867144" y="2532888"/>
            <a:ext cx="274320" cy="274320"/>
          </a:xfrm>
          <a:prstGeom prst="rect">
            <a:avLst/>
          </a:prstGeom>
        </p:spPr>
      </p:pic>
      <p:sp>
        <p:nvSpPr>
          <p:cNvPr id="12" name="Text 8"/>
          <p:cNvSpPr/>
          <p:nvPr/>
        </p:nvSpPr>
        <p:spPr>
          <a:xfrm>
            <a:off x="7424928" y="2377440"/>
            <a:ext cx="4224528" cy="365760"/>
          </a:xfrm>
          <a:prstGeom prst="rect">
            <a:avLst/>
          </a:prstGeom>
          <a:noFill/>
          <a:ln/>
        </p:spPr>
        <p:txBody>
          <a:bodyPr wrap="square" lIns="0" tIns="0" rIns="0" bIns="0" rtlCol="0" anchor="ctr"/>
          <a:lstStyle/>
          <a:p>
            <a:pPr indent="0" marL="0">
              <a:buNone/>
            </a:pPr>
            <a:r>
              <a:rPr lang="en-US" sz="1550" b="1" dirty="0">
                <a:solidFill>
                  <a:srgbClr val="0D1B2A"/>
                </a:solidFill>
                <a:latin typeface="Arial" pitchFamily="34" charset="0"/>
                <a:ea typeface="Arial" pitchFamily="34" charset="-122"/>
                <a:cs typeface="Arial" pitchFamily="34" charset="-120"/>
              </a:rPr>
              <a:t>Awkward data is handled</a:t>
            </a:r>
            <a:endParaRPr lang="en-US" sz="1550" dirty="0"/>
          </a:p>
        </p:txBody>
      </p:sp>
      <p:sp>
        <p:nvSpPr>
          <p:cNvPr id="13" name="Text 9"/>
          <p:cNvSpPr/>
          <p:nvPr/>
        </p:nvSpPr>
        <p:spPr>
          <a:xfrm>
            <a:off x="7424928" y="2779776"/>
            <a:ext cx="4224528" cy="914400"/>
          </a:xfrm>
          <a:prstGeom prst="rect">
            <a:avLst/>
          </a:prstGeom>
          <a:noFill/>
          <a:ln/>
        </p:spPr>
        <p:txBody>
          <a:bodyPr wrap="square" lIns="0" tIns="0" rIns="0" bIns="0" rtlCol="0" anchor="t"/>
          <a:lstStyle/>
          <a:p>
            <a:pPr indent="0" marL="0">
              <a:lnSpc>
                <a:spcPts val="1500"/>
              </a:lnSpc>
              <a:buNone/>
            </a:pPr>
            <a:r>
              <a:rPr lang="en-US" sz="1150" dirty="0">
                <a:solidFill>
                  <a:srgbClr val="3E5C76"/>
                </a:solidFill>
                <a:latin typeface="Calibri" pitchFamily="34" charset="0"/>
                <a:ea typeface="Calibri" pitchFamily="34" charset="-122"/>
                <a:cs typeface="Calibri" pitchFamily="34" charset="-120"/>
              </a:rPr>
              <a:t>Tenure is derived from any signup-date column. Per-ticket exports collapse into per-customer counts and join on email — customers with no tickets get 0, not dropped.</a:t>
            </a:r>
            <a:endParaRPr lang="en-US" sz="1150" dirty="0"/>
          </a:p>
        </p:txBody>
      </p:sp>
      <p:sp>
        <p:nvSpPr>
          <p:cNvPr id="14" name="Shape 10"/>
          <p:cNvSpPr/>
          <p:nvPr/>
        </p:nvSpPr>
        <p:spPr>
          <a:xfrm>
            <a:off x="685800" y="4114800"/>
            <a:ext cx="5504688" cy="1719072"/>
          </a:xfrm>
          <a:prstGeom prst="roundRect">
            <a:avLst>
              <a:gd name="adj" fmla="val 6383"/>
            </a:avLst>
          </a:prstGeom>
          <a:solidFill>
            <a:srgbClr val="FFFFFF"/>
          </a:solidFill>
          <a:ln w="12700">
            <a:solidFill>
              <a:srgbClr val="DCE4EC"/>
            </a:solidFill>
            <a:prstDash val="solid"/>
          </a:ln>
          <a:effectLst>
            <a:outerShdw sx="100000" sy="100000" kx="0" ky="0" algn="bl" rotWithShape="0" blurRad="127000" dist="25400" dir="5400000">
              <a:srgbClr val="8FA3B8">
                <a:alpha val="22000"/>
              </a:srgbClr>
            </a:outerShdw>
          </a:effectLst>
        </p:spPr>
      </p:sp>
      <p:sp>
        <p:nvSpPr>
          <p:cNvPr id="15" name="Shape 11"/>
          <p:cNvSpPr/>
          <p:nvPr/>
        </p:nvSpPr>
        <p:spPr>
          <a:xfrm>
            <a:off x="960120" y="4407408"/>
            <a:ext cx="548640" cy="548640"/>
          </a:xfrm>
          <a:prstGeom prst="ellipse">
            <a:avLst/>
          </a:prstGeom>
          <a:solidFill>
            <a:srgbClr val="0D1B2A"/>
          </a:solidFill>
          <a:ln/>
        </p:spPr>
      </p:sp>
      <p:pic>
        <p:nvPicPr>
          <p:cNvPr id="16" name="Image 2" descr="preencoded.png">    </p:cNvPr>
          <p:cNvPicPr>
            <a:picLocks noChangeAspect="1"/>
          </p:cNvPicPr>
          <p:nvPr/>
        </p:nvPicPr>
        <p:blipFill>
          <a:blip r:embed="rId3"/>
          <a:stretch>
            <a:fillRect/>
          </a:stretch>
        </p:blipFill>
        <p:spPr>
          <a:xfrm>
            <a:off x="1097280" y="4544568"/>
            <a:ext cx="274320" cy="274320"/>
          </a:xfrm>
          <a:prstGeom prst="rect">
            <a:avLst/>
          </a:prstGeom>
        </p:spPr>
      </p:pic>
      <p:sp>
        <p:nvSpPr>
          <p:cNvPr id="17" name="Text 12"/>
          <p:cNvSpPr/>
          <p:nvPr/>
        </p:nvSpPr>
        <p:spPr>
          <a:xfrm>
            <a:off x="1655064" y="4389120"/>
            <a:ext cx="4224528" cy="365760"/>
          </a:xfrm>
          <a:prstGeom prst="rect">
            <a:avLst/>
          </a:prstGeom>
          <a:noFill/>
          <a:ln/>
        </p:spPr>
        <p:txBody>
          <a:bodyPr wrap="square" lIns="0" tIns="0" rIns="0" bIns="0" rtlCol="0" anchor="ctr"/>
          <a:lstStyle/>
          <a:p>
            <a:pPr indent="0" marL="0">
              <a:buNone/>
            </a:pPr>
            <a:r>
              <a:rPr lang="en-US" sz="1550" b="1" dirty="0">
                <a:solidFill>
                  <a:srgbClr val="0D1B2A"/>
                </a:solidFill>
                <a:latin typeface="Arial" pitchFamily="34" charset="0"/>
                <a:ea typeface="Arial" pitchFamily="34" charset="-122"/>
                <a:cs typeface="Arial" pitchFamily="34" charset="-120"/>
              </a:rPr>
              <a:t>Missing signals degrade well</a:t>
            </a:r>
            <a:endParaRPr lang="en-US" sz="1550" dirty="0"/>
          </a:p>
        </p:txBody>
      </p:sp>
      <p:sp>
        <p:nvSpPr>
          <p:cNvPr id="18" name="Text 13"/>
          <p:cNvSpPr/>
          <p:nvPr/>
        </p:nvSpPr>
        <p:spPr>
          <a:xfrm>
            <a:off x="1655064" y="4791456"/>
            <a:ext cx="4224528" cy="914400"/>
          </a:xfrm>
          <a:prstGeom prst="rect">
            <a:avLst/>
          </a:prstGeom>
          <a:noFill/>
          <a:ln/>
        </p:spPr>
        <p:txBody>
          <a:bodyPr wrap="square" lIns="0" tIns="0" rIns="0" bIns="0" rtlCol="0" anchor="t"/>
          <a:lstStyle/>
          <a:p>
            <a:pPr indent="0" marL="0">
              <a:lnSpc>
                <a:spcPts val="1500"/>
              </a:lnSpc>
              <a:buNone/>
            </a:pPr>
            <a:r>
              <a:rPr lang="en-US" sz="1150" dirty="0">
                <a:solidFill>
                  <a:srgbClr val="3E5C76"/>
                </a:solidFill>
                <a:latin typeface="Calibri" pitchFamily="34" charset="0"/>
                <a:ea typeface="Calibri" pitchFamily="34" charset="-122"/>
                <a:cs typeface="Calibri" pitchFamily="34" charset="-120"/>
              </a:rPr>
              <a:t>Under 30 days of history simply drops the forecast term from the score, and says so on screen. Uploads are validated first, with every problem reported at once.</a:t>
            </a:r>
            <a:endParaRPr lang="en-US" sz="1150" dirty="0"/>
          </a:p>
        </p:txBody>
      </p:sp>
      <p:sp>
        <p:nvSpPr>
          <p:cNvPr id="19" name="Shape 14"/>
          <p:cNvSpPr/>
          <p:nvPr/>
        </p:nvSpPr>
        <p:spPr>
          <a:xfrm>
            <a:off x="6455664" y="4114800"/>
            <a:ext cx="5504688" cy="1719072"/>
          </a:xfrm>
          <a:prstGeom prst="roundRect">
            <a:avLst>
              <a:gd name="adj" fmla="val 6383"/>
            </a:avLst>
          </a:prstGeom>
          <a:solidFill>
            <a:srgbClr val="FFFFFF"/>
          </a:solidFill>
          <a:ln w="12700">
            <a:solidFill>
              <a:srgbClr val="DCE4EC"/>
            </a:solidFill>
            <a:prstDash val="solid"/>
          </a:ln>
          <a:effectLst>
            <a:outerShdw sx="100000" sy="100000" kx="0" ky="0" algn="bl" rotWithShape="0" blurRad="127000" dist="25400" dir="5400000">
              <a:srgbClr val="8FA3B8">
                <a:alpha val="22000"/>
              </a:srgbClr>
            </a:outerShdw>
          </a:effectLst>
        </p:spPr>
      </p:sp>
      <p:sp>
        <p:nvSpPr>
          <p:cNvPr id="20" name="Shape 15"/>
          <p:cNvSpPr/>
          <p:nvPr/>
        </p:nvSpPr>
        <p:spPr>
          <a:xfrm>
            <a:off x="6729984" y="4407408"/>
            <a:ext cx="548640" cy="548640"/>
          </a:xfrm>
          <a:prstGeom prst="ellipse">
            <a:avLst/>
          </a:prstGeom>
          <a:solidFill>
            <a:srgbClr val="0D1B2A"/>
          </a:solidFill>
          <a:ln/>
        </p:spPr>
      </p:sp>
      <p:pic>
        <p:nvPicPr>
          <p:cNvPr id="21" name="Image 3" descr="preencoded.png">    </p:cNvPr>
          <p:cNvPicPr>
            <a:picLocks noChangeAspect="1"/>
          </p:cNvPicPr>
          <p:nvPr/>
        </p:nvPicPr>
        <p:blipFill>
          <a:blip r:embed="rId4"/>
          <a:stretch>
            <a:fillRect/>
          </a:stretch>
        </p:blipFill>
        <p:spPr>
          <a:xfrm>
            <a:off x="6867144" y="4544568"/>
            <a:ext cx="274320" cy="274320"/>
          </a:xfrm>
          <a:prstGeom prst="rect">
            <a:avLst/>
          </a:prstGeom>
        </p:spPr>
      </p:pic>
      <p:sp>
        <p:nvSpPr>
          <p:cNvPr id="22" name="Text 16"/>
          <p:cNvSpPr/>
          <p:nvPr/>
        </p:nvSpPr>
        <p:spPr>
          <a:xfrm>
            <a:off x="7424928" y="4389120"/>
            <a:ext cx="4224528" cy="365760"/>
          </a:xfrm>
          <a:prstGeom prst="rect">
            <a:avLst/>
          </a:prstGeom>
          <a:noFill/>
          <a:ln/>
        </p:spPr>
        <p:txBody>
          <a:bodyPr wrap="square" lIns="0" tIns="0" rIns="0" bIns="0" rtlCol="0" anchor="ctr"/>
          <a:lstStyle/>
          <a:p>
            <a:pPr indent="0" marL="0">
              <a:buNone/>
            </a:pPr>
            <a:r>
              <a:rPr lang="en-US" sz="1550" b="1" dirty="0">
                <a:solidFill>
                  <a:srgbClr val="0D1B2A"/>
                </a:solidFill>
                <a:latin typeface="Arial" pitchFamily="34" charset="0"/>
                <a:ea typeface="Arial" pitchFamily="34" charset="-122"/>
                <a:cs typeface="Arial" pitchFamily="34" charset="-120"/>
              </a:rPr>
              <a:t>Your data stays yours</a:t>
            </a:r>
            <a:endParaRPr lang="en-US" sz="1550" dirty="0"/>
          </a:p>
        </p:txBody>
      </p:sp>
      <p:sp>
        <p:nvSpPr>
          <p:cNvPr id="23" name="Text 17"/>
          <p:cNvSpPr/>
          <p:nvPr/>
        </p:nvSpPr>
        <p:spPr>
          <a:xfrm>
            <a:off x="7424928" y="4791456"/>
            <a:ext cx="4224528" cy="914400"/>
          </a:xfrm>
          <a:prstGeom prst="rect">
            <a:avLst/>
          </a:prstGeom>
          <a:noFill/>
          <a:ln/>
        </p:spPr>
        <p:txBody>
          <a:bodyPr wrap="square" lIns="0" tIns="0" rIns="0" bIns="0" rtlCol="0" anchor="t"/>
          <a:lstStyle/>
          <a:p>
            <a:pPr indent="0" marL="0">
              <a:lnSpc>
                <a:spcPts val="1500"/>
              </a:lnSpc>
              <a:buNone/>
            </a:pPr>
            <a:r>
              <a:rPr lang="en-US" sz="1150" dirty="0">
                <a:solidFill>
                  <a:srgbClr val="3E5C76"/>
                </a:solidFill>
                <a:latin typeface="Calibri" pitchFamily="34" charset="0"/>
                <a:ea typeface="Calibri" pitchFamily="34" charset="-122"/>
                <a:cs typeface="Calibri" pitchFamily="34" charset="-120"/>
              </a:rPr>
              <a:t>Scoring happens in-session. Nothing is written to disk or sent anywhere — the only output is the JSON report you choose to download.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820095" cy="658368"/>
          </a:xfrm>
          <a:prstGeom prst="rect">
            <a:avLst/>
          </a:prstGeom>
          <a:noFill/>
          <a:ln/>
        </p:spPr>
        <p:txBody>
          <a:bodyPr wrap="square" lIns="0" tIns="0" rIns="0" bIns="0" rtlCol="0" anchor="ctr"/>
          <a:lstStyle/>
          <a:p>
            <a:pPr algn="l" indent="0" marL="0">
              <a:buNone/>
            </a:pPr>
            <a:r>
              <a:rPr lang="en-US" sz="3800" b="1" dirty="0">
                <a:solidFill>
                  <a:srgbClr val="0D1B2A"/>
                </a:solidFill>
                <a:latin typeface="Arial" pitchFamily="34" charset="0"/>
                <a:ea typeface="Arial" pitchFamily="34" charset="-122"/>
                <a:cs typeface="Arial" pitchFamily="34" charset="-120"/>
              </a:rPr>
              <a:t>Built and Tested</a:t>
            </a:r>
            <a:endParaRPr lang="en-US" sz="3800" dirty="0"/>
          </a:p>
        </p:txBody>
      </p:sp>
      <p:sp>
        <p:nvSpPr>
          <p:cNvPr id="3" name="Text 1"/>
          <p:cNvSpPr/>
          <p:nvPr/>
        </p:nvSpPr>
        <p:spPr>
          <a:xfrm>
            <a:off x="685800" y="1133856"/>
            <a:ext cx="10820095" cy="365760"/>
          </a:xfrm>
          <a:prstGeom prst="rect">
            <a:avLst/>
          </a:prstGeom>
          <a:noFill/>
          <a:ln/>
        </p:spPr>
        <p:txBody>
          <a:bodyPr wrap="square" lIns="0" tIns="0" rIns="0" bIns="0" rtlCol="0" anchor="ctr"/>
          <a:lstStyle/>
          <a:p>
            <a:pPr algn="l" indent="0" marL="0">
              <a:buNone/>
            </a:pPr>
            <a:r>
              <a:rPr lang="en-US" sz="1500" i="1" dirty="0">
                <a:solidFill>
                  <a:srgbClr val="3E5C76"/>
                </a:solidFill>
                <a:latin typeface="Calibri" pitchFamily="34" charset="0"/>
                <a:ea typeface="Calibri" pitchFamily="34" charset="-122"/>
                <a:cs typeface="Calibri" pitchFamily="34" charset="-120"/>
              </a:rPr>
              <a:t>A complete, reproducible Python stack — not a notebook.</a:t>
            </a:r>
            <a:endParaRPr lang="en-US" sz="1500" dirty="0"/>
          </a:p>
        </p:txBody>
      </p:sp>
      <p:sp>
        <p:nvSpPr>
          <p:cNvPr id="4" name="Shape 2"/>
          <p:cNvSpPr/>
          <p:nvPr/>
        </p:nvSpPr>
        <p:spPr>
          <a:xfrm>
            <a:off x="685800" y="1810512"/>
            <a:ext cx="3511296" cy="1572768"/>
          </a:xfrm>
          <a:prstGeom prst="roundRect">
            <a:avLst>
              <a:gd name="adj" fmla="val 6977"/>
            </a:avLst>
          </a:prstGeom>
          <a:solidFill>
            <a:srgbClr val="0D1B2A"/>
          </a:solidFill>
          <a:ln/>
        </p:spPr>
      </p:sp>
      <p:sp>
        <p:nvSpPr>
          <p:cNvPr id="5" name="Text 3"/>
          <p:cNvSpPr/>
          <p:nvPr/>
        </p:nvSpPr>
        <p:spPr>
          <a:xfrm>
            <a:off x="960120" y="1975104"/>
            <a:ext cx="2962656" cy="749808"/>
          </a:xfrm>
          <a:prstGeom prst="rect">
            <a:avLst/>
          </a:prstGeom>
          <a:noFill/>
          <a:ln/>
        </p:spPr>
        <p:txBody>
          <a:bodyPr wrap="square" lIns="0" tIns="0" rIns="0" bIns="0" rtlCol="0" anchor="ctr"/>
          <a:lstStyle/>
          <a:p>
            <a:pPr indent="0" marL="0">
              <a:buNone/>
            </a:pPr>
            <a:r>
              <a:rPr lang="en-US" sz="4400" b="1" dirty="0">
                <a:solidFill>
                  <a:srgbClr val="E39A1C"/>
                </a:solidFill>
                <a:latin typeface="Arial" pitchFamily="34" charset="0"/>
                <a:ea typeface="Arial" pitchFamily="34" charset="-122"/>
                <a:cs typeface="Arial" pitchFamily="34" charset="-120"/>
              </a:rPr>
              <a:t>82</a:t>
            </a:r>
            <a:endParaRPr lang="en-US" sz="4400" dirty="0"/>
          </a:p>
        </p:txBody>
      </p:sp>
      <p:sp>
        <p:nvSpPr>
          <p:cNvPr id="6" name="Text 4"/>
          <p:cNvSpPr/>
          <p:nvPr/>
        </p:nvSpPr>
        <p:spPr>
          <a:xfrm>
            <a:off x="960120" y="2706624"/>
            <a:ext cx="2962656"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automated tests</a:t>
            </a:r>
            <a:endParaRPr lang="en-US" sz="1400" dirty="0"/>
          </a:p>
        </p:txBody>
      </p:sp>
      <p:sp>
        <p:nvSpPr>
          <p:cNvPr id="7" name="Text 5"/>
          <p:cNvSpPr/>
          <p:nvPr/>
        </p:nvSpPr>
        <p:spPr>
          <a:xfrm>
            <a:off x="960120" y="2999232"/>
            <a:ext cx="2962656" cy="274320"/>
          </a:xfrm>
          <a:prstGeom prst="rect">
            <a:avLst/>
          </a:prstGeom>
          <a:noFill/>
          <a:ln/>
        </p:spPr>
        <p:txBody>
          <a:bodyPr wrap="square" lIns="0" tIns="0" rIns="0" bIns="0" rtlCol="0" anchor="ctr"/>
          <a:lstStyle/>
          <a:p>
            <a:pPr indent="0" marL="0">
              <a:buNone/>
            </a:pPr>
            <a:r>
              <a:rPr lang="en-US" sz="1100" dirty="0">
                <a:solidFill>
                  <a:srgbClr val="93A7BC"/>
                </a:solidFill>
                <a:latin typeface="Calibri" pitchFamily="34" charset="0"/>
                <a:ea typeface="Calibri" pitchFamily="34" charset="-122"/>
                <a:cs typeface="Calibri" pitchFamily="34" charset="-120"/>
              </a:rPr>
              <a:t>across 11 suites</a:t>
            </a:r>
            <a:endParaRPr lang="en-US" sz="1100" dirty="0"/>
          </a:p>
        </p:txBody>
      </p:sp>
      <p:sp>
        <p:nvSpPr>
          <p:cNvPr id="8" name="Shape 6"/>
          <p:cNvSpPr/>
          <p:nvPr/>
        </p:nvSpPr>
        <p:spPr>
          <a:xfrm>
            <a:off x="4462272" y="1810512"/>
            <a:ext cx="3511296" cy="1572768"/>
          </a:xfrm>
          <a:prstGeom prst="roundRect">
            <a:avLst>
              <a:gd name="adj" fmla="val 6977"/>
            </a:avLst>
          </a:prstGeom>
          <a:solidFill>
            <a:srgbClr val="0D1B2A"/>
          </a:solidFill>
          <a:ln/>
        </p:spPr>
      </p:sp>
      <p:sp>
        <p:nvSpPr>
          <p:cNvPr id="9" name="Text 7"/>
          <p:cNvSpPr/>
          <p:nvPr/>
        </p:nvSpPr>
        <p:spPr>
          <a:xfrm>
            <a:off x="4736592" y="1975104"/>
            <a:ext cx="2962656" cy="749808"/>
          </a:xfrm>
          <a:prstGeom prst="rect">
            <a:avLst/>
          </a:prstGeom>
          <a:noFill/>
          <a:ln/>
        </p:spPr>
        <p:txBody>
          <a:bodyPr wrap="square" lIns="0" tIns="0" rIns="0" bIns="0" rtlCol="0" anchor="ctr"/>
          <a:lstStyle/>
          <a:p>
            <a:pPr indent="0" marL="0">
              <a:buNone/>
            </a:pPr>
            <a:r>
              <a:rPr lang="en-US" sz="4400" b="1" dirty="0">
                <a:solidFill>
                  <a:srgbClr val="E39A1C"/>
                </a:solidFill>
                <a:latin typeface="Arial" pitchFamily="34" charset="0"/>
                <a:ea typeface="Arial" pitchFamily="34" charset="-122"/>
                <a:cs typeface="Arial" pitchFamily="34" charset="-120"/>
              </a:rPr>
              <a:t>7</a:t>
            </a:r>
            <a:endParaRPr lang="en-US" sz="4400" dirty="0"/>
          </a:p>
        </p:txBody>
      </p:sp>
      <p:sp>
        <p:nvSpPr>
          <p:cNvPr id="10" name="Text 8"/>
          <p:cNvSpPr/>
          <p:nvPr/>
        </p:nvSpPr>
        <p:spPr>
          <a:xfrm>
            <a:off x="4736592" y="2706624"/>
            <a:ext cx="2962656"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dashboard pages</a:t>
            </a:r>
            <a:endParaRPr lang="en-US" sz="1400" dirty="0"/>
          </a:p>
        </p:txBody>
      </p:sp>
      <p:sp>
        <p:nvSpPr>
          <p:cNvPr id="11" name="Text 9"/>
          <p:cNvSpPr/>
          <p:nvPr/>
        </p:nvSpPr>
        <p:spPr>
          <a:xfrm>
            <a:off x="4736592" y="2999232"/>
            <a:ext cx="2962656" cy="274320"/>
          </a:xfrm>
          <a:prstGeom prst="rect">
            <a:avLst/>
          </a:prstGeom>
          <a:noFill/>
          <a:ln/>
        </p:spPr>
        <p:txBody>
          <a:bodyPr wrap="square" lIns="0" tIns="0" rIns="0" bIns="0" rtlCol="0" anchor="ctr"/>
          <a:lstStyle/>
          <a:p>
            <a:pPr indent="0" marL="0">
              <a:buNone/>
            </a:pPr>
            <a:r>
              <a:rPr lang="en-US" sz="1100" dirty="0">
                <a:solidFill>
                  <a:srgbClr val="93A7BC"/>
                </a:solidFill>
                <a:latin typeface="Calibri" pitchFamily="34" charset="0"/>
                <a:ea typeface="Calibri" pitchFamily="34" charset="-122"/>
                <a:cs typeface="Calibri" pitchFamily="34" charset="-120"/>
              </a:rPr>
              <a:t>every one smoke-tested</a:t>
            </a:r>
            <a:endParaRPr lang="en-US" sz="1100" dirty="0"/>
          </a:p>
        </p:txBody>
      </p:sp>
      <p:sp>
        <p:nvSpPr>
          <p:cNvPr id="12" name="Shape 10"/>
          <p:cNvSpPr/>
          <p:nvPr/>
        </p:nvSpPr>
        <p:spPr>
          <a:xfrm>
            <a:off x="8238744" y="1810512"/>
            <a:ext cx="3511296" cy="1572768"/>
          </a:xfrm>
          <a:prstGeom prst="roundRect">
            <a:avLst>
              <a:gd name="adj" fmla="val 6977"/>
            </a:avLst>
          </a:prstGeom>
          <a:solidFill>
            <a:srgbClr val="0D1B2A"/>
          </a:solidFill>
          <a:ln/>
        </p:spPr>
      </p:sp>
      <p:sp>
        <p:nvSpPr>
          <p:cNvPr id="13" name="Text 11"/>
          <p:cNvSpPr/>
          <p:nvPr/>
        </p:nvSpPr>
        <p:spPr>
          <a:xfrm>
            <a:off x="8513064" y="1975104"/>
            <a:ext cx="2962656" cy="749808"/>
          </a:xfrm>
          <a:prstGeom prst="rect">
            <a:avLst/>
          </a:prstGeom>
          <a:noFill/>
          <a:ln/>
        </p:spPr>
        <p:txBody>
          <a:bodyPr wrap="square" lIns="0" tIns="0" rIns="0" bIns="0" rtlCol="0" anchor="ctr"/>
          <a:lstStyle/>
          <a:p>
            <a:pPr indent="0" marL="0">
              <a:buNone/>
            </a:pPr>
            <a:r>
              <a:rPr lang="en-US" sz="4400" b="1" dirty="0">
                <a:solidFill>
                  <a:srgbClr val="E39A1C"/>
                </a:solidFill>
                <a:latin typeface="Arial" pitchFamily="34" charset="0"/>
                <a:ea typeface="Arial" pitchFamily="34" charset="-122"/>
                <a:cs typeface="Arial" pitchFamily="34" charset="-120"/>
              </a:rPr>
              <a:t>&lt; 1s</a:t>
            </a:r>
            <a:endParaRPr lang="en-US" sz="4400" dirty="0"/>
          </a:p>
        </p:txBody>
      </p:sp>
      <p:sp>
        <p:nvSpPr>
          <p:cNvPr id="14" name="Text 12"/>
          <p:cNvSpPr/>
          <p:nvPr/>
        </p:nvSpPr>
        <p:spPr>
          <a:xfrm>
            <a:off x="8513064" y="2706624"/>
            <a:ext cx="2962656"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to score a company</a:t>
            </a:r>
            <a:endParaRPr lang="en-US" sz="1400" dirty="0"/>
          </a:p>
        </p:txBody>
      </p:sp>
      <p:sp>
        <p:nvSpPr>
          <p:cNvPr id="15" name="Text 13"/>
          <p:cNvSpPr/>
          <p:nvPr/>
        </p:nvSpPr>
        <p:spPr>
          <a:xfrm>
            <a:off x="8513064" y="2999232"/>
            <a:ext cx="2962656" cy="274320"/>
          </a:xfrm>
          <a:prstGeom prst="rect">
            <a:avLst/>
          </a:prstGeom>
          <a:noFill/>
          <a:ln/>
        </p:spPr>
        <p:txBody>
          <a:bodyPr wrap="square" lIns="0" tIns="0" rIns="0" bIns="0" rtlCol="0" anchor="ctr"/>
          <a:lstStyle/>
          <a:p>
            <a:pPr indent="0" marL="0">
              <a:buNone/>
            </a:pPr>
            <a:r>
              <a:rPr lang="en-US" sz="1100" dirty="0">
                <a:solidFill>
                  <a:srgbClr val="93A7BC"/>
                </a:solidFill>
                <a:latin typeface="Calibri" pitchFamily="34" charset="0"/>
                <a:ea typeface="Calibri" pitchFamily="34" charset="-122"/>
                <a:cs typeface="Calibri" pitchFamily="34" charset="-120"/>
              </a:rPr>
              <a:t>models cached on load</a:t>
            </a:r>
            <a:endParaRPr lang="en-US" sz="1100" dirty="0"/>
          </a:p>
        </p:txBody>
      </p:sp>
      <p:sp>
        <p:nvSpPr>
          <p:cNvPr id="16" name="Text 14"/>
          <p:cNvSpPr/>
          <p:nvPr/>
        </p:nvSpPr>
        <p:spPr>
          <a:xfrm>
            <a:off x="685800" y="3675888"/>
            <a:ext cx="1920240" cy="457200"/>
          </a:xfrm>
          <a:prstGeom prst="rect">
            <a:avLst/>
          </a:prstGeom>
          <a:noFill/>
          <a:ln/>
        </p:spPr>
        <p:txBody>
          <a:bodyPr wrap="square" lIns="0" tIns="0" rIns="0" bIns="0" rtlCol="0" anchor="ctr"/>
          <a:lstStyle/>
          <a:p>
            <a:pPr indent="0" marL="0">
              <a:buNone/>
            </a:pPr>
            <a:r>
              <a:rPr lang="en-US" sz="1300" b="1" dirty="0">
                <a:solidFill>
                  <a:srgbClr val="16324F"/>
                </a:solidFill>
                <a:latin typeface="Arial" pitchFamily="34" charset="0"/>
                <a:ea typeface="Arial" pitchFamily="34" charset="-122"/>
                <a:cs typeface="Arial" pitchFamily="34" charset="-120"/>
              </a:rPr>
              <a:t>Models</a:t>
            </a:r>
            <a:endParaRPr lang="en-US" sz="1300" dirty="0"/>
          </a:p>
        </p:txBody>
      </p:sp>
      <p:sp>
        <p:nvSpPr>
          <p:cNvPr id="17" name="Shape 15"/>
          <p:cNvSpPr/>
          <p:nvPr/>
        </p:nvSpPr>
        <p:spPr>
          <a:xfrm>
            <a:off x="2651760" y="3739896"/>
            <a:ext cx="863194" cy="329184"/>
          </a:xfrm>
          <a:prstGeom prst="roundRect">
            <a:avLst>
              <a:gd name="adj" fmla="val 50000"/>
            </a:avLst>
          </a:prstGeom>
          <a:solidFill>
            <a:srgbClr val="F1F5F9"/>
          </a:solidFill>
          <a:ln/>
        </p:spPr>
      </p:sp>
      <p:sp>
        <p:nvSpPr>
          <p:cNvPr id="18" name="Text 16"/>
          <p:cNvSpPr/>
          <p:nvPr/>
        </p:nvSpPr>
        <p:spPr>
          <a:xfrm>
            <a:off x="2651760" y="3739896"/>
            <a:ext cx="863194" cy="329184"/>
          </a:xfrm>
          <a:prstGeom prst="rect">
            <a:avLst/>
          </a:prstGeom>
          <a:noFill/>
          <a:ln/>
        </p:spPr>
        <p:txBody>
          <a:bodyPr wrap="square" lIns="0" tIns="0" rIns="0" bIns="0" rtlCol="0" anchor="ctr"/>
          <a:lstStyle/>
          <a:p>
            <a:pPr algn="ctr" indent="0" marL="0">
              <a:buNone/>
            </a:pPr>
            <a:r>
              <a:rPr lang="en-US" sz="1100" dirty="0">
                <a:solidFill>
                  <a:srgbClr val="2B3A4A"/>
                </a:solidFill>
                <a:latin typeface="Calibri" pitchFamily="34" charset="0"/>
                <a:ea typeface="Calibri" pitchFamily="34" charset="-122"/>
                <a:cs typeface="Calibri" pitchFamily="34" charset="-120"/>
              </a:rPr>
              <a:t>LightGBM</a:t>
            </a:r>
            <a:endParaRPr lang="en-US" sz="1100" dirty="0"/>
          </a:p>
        </p:txBody>
      </p:sp>
      <p:sp>
        <p:nvSpPr>
          <p:cNvPr id="19" name="Shape 17"/>
          <p:cNvSpPr/>
          <p:nvPr/>
        </p:nvSpPr>
        <p:spPr>
          <a:xfrm>
            <a:off x="3642970" y="3739896"/>
            <a:ext cx="773582" cy="329184"/>
          </a:xfrm>
          <a:prstGeom prst="roundRect">
            <a:avLst>
              <a:gd name="adj" fmla="val 50000"/>
            </a:avLst>
          </a:prstGeom>
          <a:solidFill>
            <a:srgbClr val="F1F5F9"/>
          </a:solidFill>
          <a:ln/>
        </p:spPr>
      </p:sp>
      <p:sp>
        <p:nvSpPr>
          <p:cNvPr id="20" name="Text 18"/>
          <p:cNvSpPr/>
          <p:nvPr/>
        </p:nvSpPr>
        <p:spPr>
          <a:xfrm>
            <a:off x="3642970" y="3739896"/>
            <a:ext cx="773582" cy="329184"/>
          </a:xfrm>
          <a:prstGeom prst="rect">
            <a:avLst/>
          </a:prstGeom>
          <a:noFill/>
          <a:ln/>
        </p:spPr>
        <p:txBody>
          <a:bodyPr wrap="square" lIns="0" tIns="0" rIns="0" bIns="0" rtlCol="0" anchor="ctr"/>
          <a:lstStyle/>
          <a:p>
            <a:pPr algn="ctr" indent="0" marL="0">
              <a:buNone/>
            </a:pPr>
            <a:r>
              <a:rPr lang="en-US" sz="1100" dirty="0">
                <a:solidFill>
                  <a:srgbClr val="2B3A4A"/>
                </a:solidFill>
                <a:latin typeface="Calibri" pitchFamily="34" charset="0"/>
                <a:ea typeface="Calibri" pitchFamily="34" charset="-122"/>
                <a:cs typeface="Calibri" pitchFamily="34" charset="-120"/>
              </a:rPr>
              <a:t>XGBoost</a:t>
            </a:r>
            <a:endParaRPr lang="en-US" sz="1100" dirty="0"/>
          </a:p>
        </p:txBody>
      </p:sp>
      <p:sp>
        <p:nvSpPr>
          <p:cNvPr id="21" name="Shape 19"/>
          <p:cNvSpPr/>
          <p:nvPr/>
        </p:nvSpPr>
        <p:spPr>
          <a:xfrm>
            <a:off x="4544568" y="3739896"/>
            <a:ext cx="1221638" cy="329184"/>
          </a:xfrm>
          <a:prstGeom prst="roundRect">
            <a:avLst>
              <a:gd name="adj" fmla="val 50000"/>
            </a:avLst>
          </a:prstGeom>
          <a:solidFill>
            <a:srgbClr val="F1F5F9"/>
          </a:solidFill>
          <a:ln/>
        </p:spPr>
      </p:sp>
      <p:sp>
        <p:nvSpPr>
          <p:cNvPr id="22" name="Text 20"/>
          <p:cNvSpPr/>
          <p:nvPr/>
        </p:nvSpPr>
        <p:spPr>
          <a:xfrm>
            <a:off x="4544568" y="3739896"/>
            <a:ext cx="1221638" cy="329184"/>
          </a:xfrm>
          <a:prstGeom prst="rect">
            <a:avLst/>
          </a:prstGeom>
          <a:noFill/>
          <a:ln/>
        </p:spPr>
        <p:txBody>
          <a:bodyPr wrap="square" lIns="0" tIns="0" rIns="0" bIns="0" rtlCol="0" anchor="ctr"/>
          <a:lstStyle/>
          <a:p>
            <a:pPr algn="ctr" indent="0" marL="0">
              <a:buNone/>
            </a:pPr>
            <a:r>
              <a:rPr lang="en-US" sz="1100" dirty="0">
                <a:solidFill>
                  <a:srgbClr val="2B3A4A"/>
                </a:solidFill>
                <a:latin typeface="Calibri" pitchFamily="34" charset="0"/>
                <a:ea typeface="Calibri" pitchFamily="34" charset="-122"/>
                <a:cs typeface="Calibri" pitchFamily="34" charset="-120"/>
              </a:rPr>
              <a:t>scikit-learn</a:t>
            </a:r>
            <a:endParaRPr lang="en-US" sz="1100" dirty="0"/>
          </a:p>
        </p:txBody>
      </p:sp>
      <p:sp>
        <p:nvSpPr>
          <p:cNvPr id="23" name="Shape 21"/>
          <p:cNvSpPr/>
          <p:nvPr/>
        </p:nvSpPr>
        <p:spPr>
          <a:xfrm>
            <a:off x="5894222" y="3739896"/>
            <a:ext cx="773582" cy="329184"/>
          </a:xfrm>
          <a:prstGeom prst="roundRect">
            <a:avLst>
              <a:gd name="adj" fmla="val 50000"/>
            </a:avLst>
          </a:prstGeom>
          <a:solidFill>
            <a:srgbClr val="F1F5F9"/>
          </a:solidFill>
          <a:ln/>
        </p:spPr>
      </p:sp>
      <p:sp>
        <p:nvSpPr>
          <p:cNvPr id="24" name="Text 22"/>
          <p:cNvSpPr/>
          <p:nvPr/>
        </p:nvSpPr>
        <p:spPr>
          <a:xfrm>
            <a:off x="5894222" y="3739896"/>
            <a:ext cx="773582" cy="329184"/>
          </a:xfrm>
          <a:prstGeom prst="rect">
            <a:avLst/>
          </a:prstGeom>
          <a:noFill/>
          <a:ln/>
        </p:spPr>
        <p:txBody>
          <a:bodyPr wrap="square" lIns="0" tIns="0" rIns="0" bIns="0" rtlCol="0" anchor="ctr"/>
          <a:lstStyle/>
          <a:p>
            <a:pPr algn="ctr" indent="0" marL="0">
              <a:buNone/>
            </a:pPr>
            <a:r>
              <a:rPr lang="en-US" sz="1100" dirty="0">
                <a:solidFill>
                  <a:srgbClr val="2B3A4A"/>
                </a:solidFill>
                <a:latin typeface="Calibri" pitchFamily="34" charset="0"/>
                <a:ea typeface="Calibri" pitchFamily="34" charset="-122"/>
                <a:cs typeface="Calibri" pitchFamily="34" charset="-120"/>
              </a:rPr>
              <a:t>Prophet</a:t>
            </a:r>
            <a:endParaRPr lang="en-US" sz="1100" dirty="0"/>
          </a:p>
        </p:txBody>
      </p:sp>
      <p:sp>
        <p:nvSpPr>
          <p:cNvPr id="25" name="Shape 23"/>
          <p:cNvSpPr/>
          <p:nvPr/>
        </p:nvSpPr>
        <p:spPr>
          <a:xfrm>
            <a:off x="6795821" y="3739896"/>
            <a:ext cx="1132027" cy="329184"/>
          </a:xfrm>
          <a:prstGeom prst="roundRect">
            <a:avLst>
              <a:gd name="adj" fmla="val 50000"/>
            </a:avLst>
          </a:prstGeom>
          <a:solidFill>
            <a:srgbClr val="F1F5F9"/>
          </a:solidFill>
          <a:ln/>
        </p:spPr>
      </p:sp>
      <p:sp>
        <p:nvSpPr>
          <p:cNvPr id="26" name="Text 24"/>
          <p:cNvSpPr/>
          <p:nvPr/>
        </p:nvSpPr>
        <p:spPr>
          <a:xfrm>
            <a:off x="6795821" y="3739896"/>
            <a:ext cx="1132027" cy="329184"/>
          </a:xfrm>
          <a:prstGeom prst="rect">
            <a:avLst/>
          </a:prstGeom>
          <a:noFill/>
          <a:ln/>
        </p:spPr>
        <p:txBody>
          <a:bodyPr wrap="square" lIns="0" tIns="0" rIns="0" bIns="0" rtlCol="0" anchor="ctr"/>
          <a:lstStyle/>
          <a:p>
            <a:pPr algn="ctr" indent="0" marL="0">
              <a:buNone/>
            </a:pPr>
            <a:r>
              <a:rPr lang="en-US" sz="1100" dirty="0">
                <a:solidFill>
                  <a:srgbClr val="2B3A4A"/>
                </a:solidFill>
                <a:latin typeface="Calibri" pitchFamily="34" charset="0"/>
                <a:ea typeface="Calibri" pitchFamily="34" charset="-122"/>
                <a:cs typeface="Calibri" pitchFamily="34" charset="-120"/>
              </a:rPr>
              <a:t>statsmodels</a:t>
            </a:r>
            <a:endParaRPr lang="en-US" sz="1100" dirty="0"/>
          </a:p>
        </p:txBody>
      </p:sp>
      <p:sp>
        <p:nvSpPr>
          <p:cNvPr id="27" name="Shape 25"/>
          <p:cNvSpPr/>
          <p:nvPr/>
        </p:nvSpPr>
        <p:spPr>
          <a:xfrm>
            <a:off x="8055864" y="3739896"/>
            <a:ext cx="504749" cy="329184"/>
          </a:xfrm>
          <a:prstGeom prst="roundRect">
            <a:avLst>
              <a:gd name="adj" fmla="val 50000"/>
            </a:avLst>
          </a:prstGeom>
          <a:solidFill>
            <a:srgbClr val="F1F5F9"/>
          </a:solidFill>
          <a:ln/>
        </p:spPr>
      </p:sp>
      <p:sp>
        <p:nvSpPr>
          <p:cNvPr id="28" name="Text 26"/>
          <p:cNvSpPr/>
          <p:nvPr/>
        </p:nvSpPr>
        <p:spPr>
          <a:xfrm>
            <a:off x="8055864" y="3739896"/>
            <a:ext cx="504749" cy="329184"/>
          </a:xfrm>
          <a:prstGeom prst="rect">
            <a:avLst/>
          </a:prstGeom>
          <a:noFill/>
          <a:ln/>
        </p:spPr>
        <p:txBody>
          <a:bodyPr wrap="square" lIns="0" tIns="0" rIns="0" bIns="0" rtlCol="0" anchor="ctr"/>
          <a:lstStyle/>
          <a:p>
            <a:pPr algn="ctr" indent="0" marL="0">
              <a:buNone/>
            </a:pPr>
            <a:r>
              <a:rPr lang="en-US" sz="1100" dirty="0">
                <a:solidFill>
                  <a:srgbClr val="2B3A4A"/>
                </a:solidFill>
                <a:latin typeface="Calibri" pitchFamily="34" charset="0"/>
                <a:ea typeface="Calibri" pitchFamily="34" charset="-122"/>
                <a:cs typeface="Calibri" pitchFamily="34" charset="-120"/>
              </a:rPr>
              <a:t>SHAP</a:t>
            </a:r>
            <a:endParaRPr lang="en-US" sz="1100" dirty="0"/>
          </a:p>
        </p:txBody>
      </p:sp>
      <p:sp>
        <p:nvSpPr>
          <p:cNvPr id="29" name="Text 27"/>
          <p:cNvSpPr/>
          <p:nvPr/>
        </p:nvSpPr>
        <p:spPr>
          <a:xfrm>
            <a:off x="685800" y="4242816"/>
            <a:ext cx="1920240" cy="457200"/>
          </a:xfrm>
          <a:prstGeom prst="rect">
            <a:avLst/>
          </a:prstGeom>
          <a:noFill/>
          <a:ln/>
        </p:spPr>
        <p:txBody>
          <a:bodyPr wrap="square" lIns="0" tIns="0" rIns="0" bIns="0" rtlCol="0" anchor="ctr"/>
          <a:lstStyle/>
          <a:p>
            <a:pPr indent="0" marL="0">
              <a:buNone/>
            </a:pPr>
            <a:r>
              <a:rPr lang="en-US" sz="1300" b="1" dirty="0">
                <a:solidFill>
                  <a:srgbClr val="16324F"/>
                </a:solidFill>
                <a:latin typeface="Arial" pitchFamily="34" charset="0"/>
                <a:ea typeface="Arial" pitchFamily="34" charset="-122"/>
                <a:cs typeface="Arial" pitchFamily="34" charset="-120"/>
              </a:rPr>
              <a:t>Interface</a:t>
            </a:r>
            <a:endParaRPr lang="en-US" sz="1300" dirty="0"/>
          </a:p>
        </p:txBody>
      </p:sp>
      <p:sp>
        <p:nvSpPr>
          <p:cNvPr id="30" name="Shape 28"/>
          <p:cNvSpPr/>
          <p:nvPr/>
        </p:nvSpPr>
        <p:spPr>
          <a:xfrm>
            <a:off x="2651760" y="4306824"/>
            <a:ext cx="952805" cy="329184"/>
          </a:xfrm>
          <a:prstGeom prst="roundRect">
            <a:avLst>
              <a:gd name="adj" fmla="val 50000"/>
            </a:avLst>
          </a:prstGeom>
          <a:solidFill>
            <a:srgbClr val="F1F5F9"/>
          </a:solidFill>
          <a:ln/>
        </p:spPr>
      </p:sp>
      <p:sp>
        <p:nvSpPr>
          <p:cNvPr id="31" name="Text 29"/>
          <p:cNvSpPr/>
          <p:nvPr/>
        </p:nvSpPr>
        <p:spPr>
          <a:xfrm>
            <a:off x="2651760" y="4306824"/>
            <a:ext cx="952805" cy="329184"/>
          </a:xfrm>
          <a:prstGeom prst="rect">
            <a:avLst/>
          </a:prstGeom>
          <a:noFill/>
          <a:ln/>
        </p:spPr>
        <p:txBody>
          <a:bodyPr wrap="square" lIns="0" tIns="0" rIns="0" bIns="0" rtlCol="0" anchor="ctr"/>
          <a:lstStyle/>
          <a:p>
            <a:pPr algn="ctr" indent="0" marL="0">
              <a:buNone/>
            </a:pPr>
            <a:r>
              <a:rPr lang="en-US" sz="1100" dirty="0">
                <a:solidFill>
                  <a:srgbClr val="2B3A4A"/>
                </a:solidFill>
                <a:latin typeface="Calibri" pitchFamily="34" charset="0"/>
                <a:ea typeface="Calibri" pitchFamily="34" charset="-122"/>
                <a:cs typeface="Calibri" pitchFamily="34" charset="-120"/>
              </a:rPr>
              <a:t>Streamlit</a:t>
            </a:r>
            <a:endParaRPr lang="en-US" sz="1100" dirty="0"/>
          </a:p>
        </p:txBody>
      </p:sp>
      <p:sp>
        <p:nvSpPr>
          <p:cNvPr id="32" name="Shape 30"/>
          <p:cNvSpPr/>
          <p:nvPr/>
        </p:nvSpPr>
        <p:spPr>
          <a:xfrm>
            <a:off x="3732581" y="4306824"/>
            <a:ext cx="683971" cy="329184"/>
          </a:xfrm>
          <a:prstGeom prst="roundRect">
            <a:avLst>
              <a:gd name="adj" fmla="val 50000"/>
            </a:avLst>
          </a:prstGeom>
          <a:solidFill>
            <a:srgbClr val="F1F5F9"/>
          </a:solidFill>
          <a:ln/>
        </p:spPr>
      </p:sp>
      <p:sp>
        <p:nvSpPr>
          <p:cNvPr id="33" name="Text 31"/>
          <p:cNvSpPr/>
          <p:nvPr/>
        </p:nvSpPr>
        <p:spPr>
          <a:xfrm>
            <a:off x="3732581" y="4306824"/>
            <a:ext cx="683971" cy="329184"/>
          </a:xfrm>
          <a:prstGeom prst="rect">
            <a:avLst/>
          </a:prstGeom>
          <a:noFill/>
          <a:ln/>
        </p:spPr>
        <p:txBody>
          <a:bodyPr wrap="square" lIns="0" tIns="0" rIns="0" bIns="0" rtlCol="0" anchor="ctr"/>
          <a:lstStyle/>
          <a:p>
            <a:pPr algn="ctr" indent="0" marL="0">
              <a:buNone/>
            </a:pPr>
            <a:r>
              <a:rPr lang="en-US" sz="1100" dirty="0">
                <a:solidFill>
                  <a:srgbClr val="2B3A4A"/>
                </a:solidFill>
                <a:latin typeface="Calibri" pitchFamily="34" charset="0"/>
                <a:ea typeface="Calibri" pitchFamily="34" charset="-122"/>
                <a:cs typeface="Calibri" pitchFamily="34" charset="-120"/>
              </a:rPr>
              <a:t>pandas</a:t>
            </a:r>
            <a:endParaRPr lang="en-US" sz="1100" dirty="0"/>
          </a:p>
        </p:txBody>
      </p:sp>
      <p:sp>
        <p:nvSpPr>
          <p:cNvPr id="34" name="Shape 32"/>
          <p:cNvSpPr/>
          <p:nvPr/>
        </p:nvSpPr>
        <p:spPr>
          <a:xfrm>
            <a:off x="4544568" y="4306824"/>
            <a:ext cx="594360" cy="329184"/>
          </a:xfrm>
          <a:prstGeom prst="roundRect">
            <a:avLst>
              <a:gd name="adj" fmla="val 50000"/>
            </a:avLst>
          </a:prstGeom>
          <a:solidFill>
            <a:srgbClr val="F1F5F9"/>
          </a:solidFill>
          <a:ln/>
        </p:spPr>
      </p:sp>
      <p:sp>
        <p:nvSpPr>
          <p:cNvPr id="35" name="Text 33"/>
          <p:cNvSpPr/>
          <p:nvPr/>
        </p:nvSpPr>
        <p:spPr>
          <a:xfrm>
            <a:off x="4544568" y="4306824"/>
            <a:ext cx="594360" cy="329184"/>
          </a:xfrm>
          <a:prstGeom prst="rect">
            <a:avLst/>
          </a:prstGeom>
          <a:noFill/>
          <a:ln/>
        </p:spPr>
        <p:txBody>
          <a:bodyPr wrap="square" lIns="0" tIns="0" rIns="0" bIns="0" rtlCol="0" anchor="ctr"/>
          <a:lstStyle/>
          <a:p>
            <a:pPr algn="ctr" indent="0" marL="0">
              <a:buNone/>
            </a:pPr>
            <a:r>
              <a:rPr lang="en-US" sz="1100" dirty="0">
                <a:solidFill>
                  <a:srgbClr val="2B3A4A"/>
                </a:solidFill>
                <a:latin typeface="Calibri" pitchFamily="34" charset="0"/>
                <a:ea typeface="Calibri" pitchFamily="34" charset="-122"/>
                <a:cs typeface="Calibri" pitchFamily="34" charset="-120"/>
              </a:rPr>
              <a:t>NumPy</a:t>
            </a:r>
            <a:endParaRPr lang="en-US" sz="1100" dirty="0"/>
          </a:p>
        </p:txBody>
      </p:sp>
      <p:sp>
        <p:nvSpPr>
          <p:cNvPr id="36" name="Shape 34"/>
          <p:cNvSpPr/>
          <p:nvPr/>
        </p:nvSpPr>
        <p:spPr>
          <a:xfrm>
            <a:off x="5266944" y="4306824"/>
            <a:ext cx="1042416" cy="329184"/>
          </a:xfrm>
          <a:prstGeom prst="roundRect">
            <a:avLst>
              <a:gd name="adj" fmla="val 50000"/>
            </a:avLst>
          </a:prstGeom>
          <a:solidFill>
            <a:srgbClr val="F1F5F9"/>
          </a:solidFill>
          <a:ln/>
        </p:spPr>
      </p:sp>
      <p:sp>
        <p:nvSpPr>
          <p:cNvPr id="37" name="Text 35"/>
          <p:cNvSpPr/>
          <p:nvPr/>
        </p:nvSpPr>
        <p:spPr>
          <a:xfrm>
            <a:off x="5266944" y="4306824"/>
            <a:ext cx="1042416" cy="329184"/>
          </a:xfrm>
          <a:prstGeom prst="rect">
            <a:avLst/>
          </a:prstGeom>
          <a:noFill/>
          <a:ln/>
        </p:spPr>
        <p:txBody>
          <a:bodyPr wrap="square" lIns="0" tIns="0" rIns="0" bIns="0" rtlCol="0" anchor="ctr"/>
          <a:lstStyle/>
          <a:p>
            <a:pPr algn="ctr" indent="0" marL="0">
              <a:buNone/>
            </a:pPr>
            <a:r>
              <a:rPr lang="en-US" sz="1100" dirty="0">
                <a:solidFill>
                  <a:srgbClr val="2B3A4A"/>
                </a:solidFill>
                <a:latin typeface="Calibri" pitchFamily="34" charset="0"/>
                <a:ea typeface="Calibri" pitchFamily="34" charset="-122"/>
                <a:cs typeface="Calibri" pitchFamily="34" charset="-120"/>
              </a:rPr>
              <a:t>Matplotlib</a:t>
            </a:r>
            <a:endParaRPr lang="en-US" sz="1100" dirty="0"/>
          </a:p>
        </p:txBody>
      </p:sp>
      <p:sp>
        <p:nvSpPr>
          <p:cNvPr id="38" name="Text 36"/>
          <p:cNvSpPr/>
          <p:nvPr/>
        </p:nvSpPr>
        <p:spPr>
          <a:xfrm>
            <a:off x="685800" y="4809744"/>
            <a:ext cx="1920240" cy="457200"/>
          </a:xfrm>
          <a:prstGeom prst="rect">
            <a:avLst/>
          </a:prstGeom>
          <a:noFill/>
          <a:ln/>
        </p:spPr>
        <p:txBody>
          <a:bodyPr wrap="square" lIns="0" tIns="0" rIns="0" bIns="0" rtlCol="0" anchor="ctr"/>
          <a:lstStyle/>
          <a:p>
            <a:pPr indent="0" marL="0">
              <a:buNone/>
            </a:pPr>
            <a:r>
              <a:rPr lang="en-US" sz="1300" b="1" dirty="0">
                <a:solidFill>
                  <a:srgbClr val="16324F"/>
                </a:solidFill>
                <a:latin typeface="Arial" pitchFamily="34" charset="0"/>
                <a:ea typeface="Arial" pitchFamily="34" charset="-122"/>
                <a:cs typeface="Arial" pitchFamily="34" charset="-120"/>
              </a:rPr>
              <a:t>Reproducibility</a:t>
            </a:r>
            <a:endParaRPr lang="en-US" sz="1300" dirty="0"/>
          </a:p>
        </p:txBody>
      </p:sp>
      <p:sp>
        <p:nvSpPr>
          <p:cNvPr id="39" name="Shape 37"/>
          <p:cNvSpPr/>
          <p:nvPr/>
        </p:nvSpPr>
        <p:spPr>
          <a:xfrm>
            <a:off x="2651760" y="4873752"/>
            <a:ext cx="683971" cy="329184"/>
          </a:xfrm>
          <a:prstGeom prst="roundRect">
            <a:avLst>
              <a:gd name="adj" fmla="val 50000"/>
            </a:avLst>
          </a:prstGeom>
          <a:solidFill>
            <a:srgbClr val="F1F5F9"/>
          </a:solidFill>
          <a:ln/>
        </p:spPr>
      </p:sp>
      <p:sp>
        <p:nvSpPr>
          <p:cNvPr id="40" name="Text 38"/>
          <p:cNvSpPr/>
          <p:nvPr/>
        </p:nvSpPr>
        <p:spPr>
          <a:xfrm>
            <a:off x="2651760" y="4873752"/>
            <a:ext cx="683971" cy="329184"/>
          </a:xfrm>
          <a:prstGeom prst="rect">
            <a:avLst/>
          </a:prstGeom>
          <a:noFill/>
          <a:ln/>
        </p:spPr>
        <p:txBody>
          <a:bodyPr wrap="square" lIns="0" tIns="0" rIns="0" bIns="0" rtlCol="0" anchor="ctr"/>
          <a:lstStyle/>
          <a:p>
            <a:pPr algn="ctr" indent="0" marL="0">
              <a:buNone/>
            </a:pPr>
            <a:r>
              <a:rPr lang="en-US" sz="1100" dirty="0">
                <a:solidFill>
                  <a:srgbClr val="2B3A4A"/>
                </a:solidFill>
                <a:latin typeface="Calibri" pitchFamily="34" charset="0"/>
                <a:ea typeface="Calibri" pitchFamily="34" charset="-122"/>
                <a:cs typeface="Calibri" pitchFamily="34" charset="-120"/>
              </a:rPr>
              <a:t>pytest</a:t>
            </a:r>
            <a:endParaRPr lang="en-US" sz="1100" dirty="0"/>
          </a:p>
        </p:txBody>
      </p:sp>
      <p:sp>
        <p:nvSpPr>
          <p:cNvPr id="41" name="Shape 39"/>
          <p:cNvSpPr/>
          <p:nvPr/>
        </p:nvSpPr>
        <p:spPr>
          <a:xfrm>
            <a:off x="3463747" y="4873752"/>
            <a:ext cx="1311250" cy="329184"/>
          </a:xfrm>
          <a:prstGeom prst="roundRect">
            <a:avLst>
              <a:gd name="adj" fmla="val 50000"/>
            </a:avLst>
          </a:prstGeom>
          <a:solidFill>
            <a:srgbClr val="F1F5F9"/>
          </a:solidFill>
          <a:ln/>
        </p:spPr>
      </p:sp>
      <p:sp>
        <p:nvSpPr>
          <p:cNvPr id="42" name="Text 40"/>
          <p:cNvSpPr/>
          <p:nvPr/>
        </p:nvSpPr>
        <p:spPr>
          <a:xfrm>
            <a:off x="3463747" y="4873752"/>
            <a:ext cx="1311250" cy="329184"/>
          </a:xfrm>
          <a:prstGeom prst="rect">
            <a:avLst/>
          </a:prstGeom>
          <a:noFill/>
          <a:ln/>
        </p:spPr>
        <p:txBody>
          <a:bodyPr wrap="square" lIns="0" tIns="0" rIns="0" bIns="0" rtlCol="0" anchor="ctr"/>
          <a:lstStyle/>
          <a:p>
            <a:pPr algn="ctr" indent="0" marL="0">
              <a:buNone/>
            </a:pPr>
            <a:r>
              <a:rPr lang="en-US" sz="1100" dirty="0">
                <a:solidFill>
                  <a:srgbClr val="2B3A4A"/>
                </a:solidFill>
                <a:latin typeface="Calibri" pitchFamily="34" charset="0"/>
                <a:ea typeface="Calibri" pitchFamily="34" charset="-122"/>
                <a:cs typeface="Calibri" pitchFamily="34" charset="-120"/>
              </a:rPr>
              <a:t>PyYAML config</a:t>
            </a:r>
            <a:endParaRPr lang="en-US" sz="1100" dirty="0"/>
          </a:p>
        </p:txBody>
      </p:sp>
      <p:sp>
        <p:nvSpPr>
          <p:cNvPr id="43" name="Shape 41"/>
          <p:cNvSpPr/>
          <p:nvPr/>
        </p:nvSpPr>
        <p:spPr>
          <a:xfrm>
            <a:off x="4903013" y="4873752"/>
            <a:ext cx="683971" cy="329184"/>
          </a:xfrm>
          <a:prstGeom prst="roundRect">
            <a:avLst>
              <a:gd name="adj" fmla="val 50000"/>
            </a:avLst>
          </a:prstGeom>
          <a:solidFill>
            <a:srgbClr val="F1F5F9"/>
          </a:solidFill>
          <a:ln/>
        </p:spPr>
      </p:sp>
      <p:sp>
        <p:nvSpPr>
          <p:cNvPr id="44" name="Text 42"/>
          <p:cNvSpPr/>
          <p:nvPr/>
        </p:nvSpPr>
        <p:spPr>
          <a:xfrm>
            <a:off x="4903013" y="4873752"/>
            <a:ext cx="683971" cy="329184"/>
          </a:xfrm>
          <a:prstGeom prst="rect">
            <a:avLst/>
          </a:prstGeom>
          <a:noFill/>
          <a:ln/>
        </p:spPr>
        <p:txBody>
          <a:bodyPr wrap="square" lIns="0" tIns="0" rIns="0" bIns="0" rtlCol="0" anchor="ctr"/>
          <a:lstStyle/>
          <a:p>
            <a:pPr algn="ctr" indent="0" marL="0">
              <a:buNone/>
            </a:pPr>
            <a:r>
              <a:rPr lang="en-US" sz="1100" dirty="0">
                <a:solidFill>
                  <a:srgbClr val="2B3A4A"/>
                </a:solidFill>
                <a:latin typeface="Calibri" pitchFamily="34" charset="0"/>
                <a:ea typeface="Calibri" pitchFamily="34" charset="-122"/>
                <a:cs typeface="Calibri" pitchFamily="34" charset="-120"/>
              </a:rPr>
              <a:t>joblib</a:t>
            </a:r>
            <a:endParaRPr lang="en-US" sz="1100" dirty="0"/>
          </a:p>
        </p:txBody>
      </p:sp>
      <p:sp>
        <p:nvSpPr>
          <p:cNvPr id="45" name="Shape 43"/>
          <p:cNvSpPr/>
          <p:nvPr/>
        </p:nvSpPr>
        <p:spPr>
          <a:xfrm>
            <a:off x="5715000" y="4873752"/>
            <a:ext cx="1311250" cy="329184"/>
          </a:xfrm>
          <a:prstGeom prst="roundRect">
            <a:avLst>
              <a:gd name="adj" fmla="val 50000"/>
            </a:avLst>
          </a:prstGeom>
          <a:solidFill>
            <a:srgbClr val="F1F5F9"/>
          </a:solidFill>
          <a:ln/>
        </p:spPr>
      </p:sp>
      <p:sp>
        <p:nvSpPr>
          <p:cNvPr id="46" name="Text 44"/>
          <p:cNvSpPr/>
          <p:nvPr/>
        </p:nvSpPr>
        <p:spPr>
          <a:xfrm>
            <a:off x="5715000" y="4873752"/>
            <a:ext cx="1311250" cy="329184"/>
          </a:xfrm>
          <a:prstGeom prst="rect">
            <a:avLst/>
          </a:prstGeom>
          <a:noFill/>
          <a:ln/>
        </p:spPr>
        <p:txBody>
          <a:bodyPr wrap="square" lIns="0" tIns="0" rIns="0" bIns="0" rtlCol="0" anchor="ctr"/>
          <a:lstStyle/>
          <a:p>
            <a:pPr algn="ctr" indent="0" marL="0">
              <a:buNone/>
            </a:pPr>
            <a:r>
              <a:rPr lang="en-US" sz="1100" dirty="0">
                <a:solidFill>
                  <a:srgbClr val="2B3A4A"/>
                </a:solidFill>
                <a:latin typeface="Calibri" pitchFamily="34" charset="0"/>
                <a:ea typeface="Calibri" pitchFamily="34" charset="-122"/>
                <a:cs typeface="Calibri" pitchFamily="34" charset="-120"/>
              </a:rPr>
              <a:t>seeded splits</a:t>
            </a:r>
            <a:endParaRPr lang="en-US" sz="1100" dirty="0"/>
          </a:p>
        </p:txBody>
      </p:sp>
      <p:sp>
        <p:nvSpPr>
          <p:cNvPr id="47" name="Shape 45"/>
          <p:cNvSpPr/>
          <p:nvPr/>
        </p:nvSpPr>
        <p:spPr>
          <a:xfrm>
            <a:off x="685800" y="5422392"/>
            <a:ext cx="10820095" cy="603504"/>
          </a:xfrm>
          <a:prstGeom prst="roundRect">
            <a:avLst>
              <a:gd name="adj" fmla="val 15152"/>
            </a:avLst>
          </a:prstGeom>
          <a:solidFill>
            <a:srgbClr val="F1F5F9"/>
          </a:solidFill>
          <a:ln/>
        </p:spPr>
      </p:sp>
      <p:sp>
        <p:nvSpPr>
          <p:cNvPr id="48" name="Text 46"/>
          <p:cNvSpPr/>
          <p:nvPr/>
        </p:nvSpPr>
        <p:spPr>
          <a:xfrm>
            <a:off x="941832" y="5422392"/>
            <a:ext cx="4846320" cy="603504"/>
          </a:xfrm>
          <a:prstGeom prst="rect">
            <a:avLst/>
          </a:prstGeom>
          <a:noFill/>
          <a:ln/>
        </p:spPr>
        <p:txBody>
          <a:bodyPr wrap="square" lIns="0" tIns="0" rIns="0" bIns="0" rtlCol="0" anchor="ctr"/>
          <a:lstStyle/>
          <a:p>
            <a:pPr indent="0" marL="0">
              <a:buNone/>
            </a:pPr>
            <a:r>
              <a:rPr lang="en-US" sz="1200" dirty="0">
                <a:solidFill>
                  <a:srgbClr val="3E5C76"/>
                </a:solidFill>
                <a:latin typeface="Calibri" pitchFamily="34" charset="0"/>
                <a:ea typeface="Calibri" pitchFamily="34" charset="-122"/>
                <a:cs typeface="Calibri" pitchFamily="34" charset="-120"/>
              </a:rPr>
              <a:t>Every model rebuilds from a fresh clone with one command:</a:t>
            </a:r>
            <a:endParaRPr lang="en-US" sz="1200" dirty="0"/>
          </a:p>
        </p:txBody>
      </p:sp>
      <p:sp>
        <p:nvSpPr>
          <p:cNvPr id="49" name="Text 47"/>
          <p:cNvSpPr/>
          <p:nvPr/>
        </p:nvSpPr>
        <p:spPr>
          <a:xfrm>
            <a:off x="5824728" y="5422392"/>
            <a:ext cx="3657600" cy="603504"/>
          </a:xfrm>
          <a:prstGeom prst="rect">
            <a:avLst/>
          </a:prstGeom>
          <a:noFill/>
          <a:ln/>
        </p:spPr>
        <p:txBody>
          <a:bodyPr wrap="square" lIns="0" tIns="0" rIns="0" bIns="0" rtlCol="0" anchor="ctr"/>
          <a:lstStyle/>
          <a:p>
            <a:pPr indent="0" marL="0">
              <a:buNone/>
            </a:pPr>
            <a:r>
              <a:rPr lang="en-US" sz="1300" b="1" dirty="0">
                <a:solidFill>
                  <a:srgbClr val="16324F"/>
                </a:solidFill>
                <a:latin typeface="Courier New" pitchFamily="34" charset="0"/>
                <a:ea typeface="Courier New" pitchFamily="34" charset="-122"/>
                <a:cs typeface="Courier New" pitchFamily="34" charset="-120"/>
              </a:rPr>
              <a:t>python -m src.train_all</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820095" cy="658368"/>
          </a:xfrm>
          <a:prstGeom prst="rect">
            <a:avLst/>
          </a:prstGeom>
          <a:noFill/>
          <a:ln/>
        </p:spPr>
        <p:txBody>
          <a:bodyPr wrap="square" lIns="0" tIns="0" rIns="0" bIns="0" rtlCol="0" anchor="ctr"/>
          <a:lstStyle/>
          <a:p>
            <a:pPr algn="l" indent="0" marL="0">
              <a:buNone/>
            </a:pPr>
            <a:r>
              <a:rPr lang="en-US" sz="3800" b="1" dirty="0">
                <a:solidFill>
                  <a:srgbClr val="0D1B2A"/>
                </a:solidFill>
                <a:latin typeface="Arial" pitchFamily="34" charset="0"/>
                <a:ea typeface="Arial" pitchFamily="34" charset="-122"/>
                <a:cs typeface="Arial" pitchFamily="34" charset="-120"/>
              </a:rPr>
              <a:t>Scaling It</a:t>
            </a:r>
            <a:endParaRPr lang="en-US" sz="3800" dirty="0"/>
          </a:p>
        </p:txBody>
      </p:sp>
      <p:sp>
        <p:nvSpPr>
          <p:cNvPr id="3" name="Text 1"/>
          <p:cNvSpPr/>
          <p:nvPr/>
        </p:nvSpPr>
        <p:spPr>
          <a:xfrm>
            <a:off x="685800" y="1133856"/>
            <a:ext cx="10820095" cy="365760"/>
          </a:xfrm>
          <a:prstGeom prst="rect">
            <a:avLst/>
          </a:prstGeom>
          <a:noFill/>
          <a:ln/>
        </p:spPr>
        <p:txBody>
          <a:bodyPr wrap="square" lIns="0" tIns="0" rIns="0" bIns="0" rtlCol="0" anchor="ctr"/>
          <a:lstStyle/>
          <a:p>
            <a:pPr algn="l" indent="0" marL="0">
              <a:buNone/>
            </a:pPr>
            <a:r>
              <a:rPr lang="en-US" sz="1500" i="1" dirty="0">
                <a:solidFill>
                  <a:srgbClr val="3E5C76"/>
                </a:solidFill>
                <a:latin typeface="Calibri" pitchFamily="34" charset="0"/>
                <a:ea typeface="Calibri" pitchFamily="34" charset="-122"/>
                <a:cs typeface="Calibri" pitchFamily="34" charset="-120"/>
              </a:rPr>
              <a:t>Designed so that adding a company costs almost nothing.</a:t>
            </a:r>
            <a:endParaRPr lang="en-US" sz="1500" dirty="0"/>
          </a:p>
        </p:txBody>
      </p:sp>
      <p:sp>
        <p:nvSpPr>
          <p:cNvPr id="4" name="Shape 2"/>
          <p:cNvSpPr/>
          <p:nvPr/>
        </p:nvSpPr>
        <p:spPr>
          <a:xfrm>
            <a:off x="685800" y="1847088"/>
            <a:ext cx="5504688" cy="2176272"/>
          </a:xfrm>
          <a:prstGeom prst="roundRect">
            <a:avLst>
              <a:gd name="adj" fmla="val 5042"/>
            </a:avLst>
          </a:prstGeom>
          <a:solidFill>
            <a:srgbClr val="FFFFFF"/>
          </a:solidFill>
          <a:ln w="12700">
            <a:solidFill>
              <a:srgbClr val="DCE4EC"/>
            </a:solidFill>
            <a:prstDash val="solid"/>
          </a:ln>
          <a:effectLst>
            <a:outerShdw sx="100000" sy="100000" kx="0" ky="0" algn="bl" rotWithShape="0" blurRad="127000" dist="25400" dir="5400000">
              <a:srgbClr val="8FA3B8">
                <a:alpha val="22000"/>
              </a:srgbClr>
            </a:outerShdw>
          </a:effectLst>
        </p:spPr>
      </p:sp>
      <p:sp>
        <p:nvSpPr>
          <p:cNvPr id="5" name="Shape 3"/>
          <p:cNvSpPr/>
          <p:nvPr/>
        </p:nvSpPr>
        <p:spPr>
          <a:xfrm>
            <a:off x="978408" y="2194560"/>
            <a:ext cx="182880" cy="182880"/>
          </a:xfrm>
          <a:prstGeom prst="ellipse">
            <a:avLst/>
          </a:prstGeom>
          <a:solidFill>
            <a:srgbClr val="2E9E6B"/>
          </a:solidFill>
          <a:ln/>
        </p:spPr>
      </p:sp>
      <p:sp>
        <p:nvSpPr>
          <p:cNvPr id="6" name="Text 4"/>
          <p:cNvSpPr/>
          <p:nvPr/>
        </p:nvSpPr>
        <p:spPr>
          <a:xfrm>
            <a:off x="1271016" y="2066544"/>
            <a:ext cx="4636008" cy="420624"/>
          </a:xfrm>
          <a:prstGeom prst="rect">
            <a:avLst/>
          </a:prstGeom>
          <a:noFill/>
          <a:ln/>
        </p:spPr>
        <p:txBody>
          <a:bodyPr wrap="square" lIns="0" tIns="0" rIns="0" bIns="0" rtlCol="0" anchor="ctr"/>
          <a:lstStyle/>
          <a:p>
            <a:pPr indent="0" marL="0">
              <a:buNone/>
            </a:pPr>
            <a:r>
              <a:rPr lang="en-US" sz="1600" b="1" dirty="0">
                <a:solidFill>
                  <a:srgbClr val="0D1B2A"/>
                </a:solidFill>
                <a:latin typeface="Arial" pitchFamily="34" charset="0"/>
                <a:ea typeface="Arial" pitchFamily="34" charset="-122"/>
                <a:cs typeface="Arial" pitchFamily="34" charset="-120"/>
              </a:rPr>
              <a:t>Pretrained — inference only</a:t>
            </a:r>
            <a:endParaRPr lang="en-US" sz="1600" dirty="0"/>
          </a:p>
        </p:txBody>
      </p:sp>
      <p:sp>
        <p:nvSpPr>
          <p:cNvPr id="7" name="Text 5"/>
          <p:cNvSpPr/>
          <p:nvPr/>
        </p:nvSpPr>
        <p:spPr>
          <a:xfrm>
            <a:off x="996696" y="2615184"/>
            <a:ext cx="4882896" cy="128016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2B3A4A"/>
                </a:solidFill>
                <a:latin typeface="Calibri" pitchFamily="34" charset="0"/>
                <a:ea typeface="Calibri" pitchFamily="34" charset="-122"/>
                <a:cs typeface="Calibri" pitchFamily="34" charset="-120"/>
              </a:rPr>
              <a:t>Churn and sentiment are customer- and text-level classifiers.</a:t>
            </a:r>
            <a:endParaRPr lang="en-US" sz="1150" dirty="0"/>
          </a:p>
          <a:p>
            <a:pPr marL="342900" indent="-342900">
              <a:spcAft>
                <a:spcPts val="900"/>
              </a:spcAft>
              <a:buSzPct val="100000"/>
              <a:buChar char="•"/>
            </a:pPr>
            <a:r>
              <a:rPr lang="en-US" sz="1150" dirty="0">
                <a:solidFill>
                  <a:srgbClr val="2B3A4A"/>
                </a:solidFill>
                <a:latin typeface="Calibri" pitchFamily="34" charset="0"/>
                <a:ea typeface="Calibri" pitchFamily="34" charset="-122"/>
                <a:cs typeface="Calibri" pitchFamily="34" charset="-120"/>
              </a:rPr>
              <a:t>A pattern learned on one company's history is a reasonable prior for another's.</a:t>
            </a:r>
            <a:endParaRPr lang="en-US" sz="1150" dirty="0"/>
          </a:p>
          <a:p>
            <a:pPr marL="342900" indent="-342900">
              <a:spcAft>
                <a:spcPts val="900"/>
              </a:spcAft>
              <a:buSzPct val="100000"/>
              <a:buChar char="•"/>
            </a:pPr>
            <a:r>
              <a:rPr lang="en-US" sz="1150" dirty="0">
                <a:solidFill>
                  <a:srgbClr val="2B3A4A"/>
                </a:solidFill>
                <a:latin typeface="Calibri" pitchFamily="34" charset="0"/>
                <a:ea typeface="Calibri" pitchFamily="34" charset="-122"/>
                <a:cs typeface="Calibri" pitchFamily="34" charset="-120"/>
              </a:rPr>
              <a:t>New companies need no retraining — and unseen plan types are handled safely.</a:t>
            </a:r>
            <a:endParaRPr lang="en-US" sz="1150" dirty="0"/>
          </a:p>
        </p:txBody>
      </p:sp>
      <p:sp>
        <p:nvSpPr>
          <p:cNvPr id="8" name="Shape 6"/>
          <p:cNvSpPr/>
          <p:nvPr/>
        </p:nvSpPr>
        <p:spPr>
          <a:xfrm>
            <a:off x="6455664" y="1847088"/>
            <a:ext cx="5504688" cy="2176272"/>
          </a:xfrm>
          <a:prstGeom prst="roundRect">
            <a:avLst>
              <a:gd name="adj" fmla="val 5042"/>
            </a:avLst>
          </a:prstGeom>
          <a:solidFill>
            <a:srgbClr val="FFFFFF"/>
          </a:solidFill>
          <a:ln w="12700">
            <a:solidFill>
              <a:srgbClr val="DCE4EC"/>
            </a:solidFill>
            <a:prstDash val="solid"/>
          </a:ln>
          <a:effectLst>
            <a:outerShdw sx="100000" sy="100000" kx="0" ky="0" algn="bl" rotWithShape="0" blurRad="127000" dist="25400" dir="5400000">
              <a:srgbClr val="8FA3B8">
                <a:alpha val="22000"/>
              </a:srgbClr>
            </a:outerShdw>
          </a:effectLst>
        </p:spPr>
      </p:sp>
      <p:sp>
        <p:nvSpPr>
          <p:cNvPr id="9" name="Shape 7"/>
          <p:cNvSpPr/>
          <p:nvPr/>
        </p:nvSpPr>
        <p:spPr>
          <a:xfrm>
            <a:off x="6748272" y="2194560"/>
            <a:ext cx="182880" cy="182880"/>
          </a:xfrm>
          <a:prstGeom prst="ellipse">
            <a:avLst/>
          </a:prstGeom>
          <a:solidFill>
            <a:srgbClr val="5B8DEF"/>
          </a:solidFill>
          <a:ln/>
        </p:spPr>
      </p:sp>
      <p:sp>
        <p:nvSpPr>
          <p:cNvPr id="10" name="Text 8"/>
          <p:cNvSpPr/>
          <p:nvPr/>
        </p:nvSpPr>
        <p:spPr>
          <a:xfrm>
            <a:off x="7040880" y="2066544"/>
            <a:ext cx="4636008" cy="420624"/>
          </a:xfrm>
          <a:prstGeom prst="rect">
            <a:avLst/>
          </a:prstGeom>
          <a:noFill/>
          <a:ln/>
        </p:spPr>
        <p:txBody>
          <a:bodyPr wrap="square" lIns="0" tIns="0" rIns="0" bIns="0" rtlCol="0" anchor="ctr"/>
          <a:lstStyle/>
          <a:p>
            <a:pPr indent="0" marL="0">
              <a:buNone/>
            </a:pPr>
            <a:r>
              <a:rPr lang="en-US" sz="1600" b="1" dirty="0">
                <a:solidFill>
                  <a:srgbClr val="0D1B2A"/>
                </a:solidFill>
                <a:latin typeface="Arial" pitchFamily="34" charset="0"/>
                <a:ea typeface="Arial" pitchFamily="34" charset="-122"/>
                <a:cs typeface="Arial" pitchFamily="34" charset="-120"/>
              </a:rPr>
              <a:t>Fit fresh, per company</a:t>
            </a:r>
            <a:endParaRPr lang="en-US" sz="1600" dirty="0"/>
          </a:p>
        </p:txBody>
      </p:sp>
      <p:sp>
        <p:nvSpPr>
          <p:cNvPr id="11" name="Text 9"/>
          <p:cNvSpPr/>
          <p:nvPr/>
        </p:nvSpPr>
        <p:spPr>
          <a:xfrm>
            <a:off x="6766560" y="2615184"/>
            <a:ext cx="4882896" cy="128016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2B3A4A"/>
                </a:solidFill>
                <a:latin typeface="Calibri" pitchFamily="34" charset="0"/>
                <a:ea typeface="Calibri" pitchFamily="34" charset="-122"/>
                <a:cs typeface="Calibri" pitchFamily="34" charset="-120"/>
              </a:rPr>
              <a:t>Anomaly detection and forecasting are fit on your own time series, on the spot.</a:t>
            </a:r>
            <a:endParaRPr lang="en-US" sz="1150" dirty="0"/>
          </a:p>
          <a:p>
            <a:pPr marL="342900" indent="-342900">
              <a:spcAft>
                <a:spcPts val="900"/>
              </a:spcAft>
              <a:buSzPct val="100000"/>
              <a:buChar char="•"/>
            </a:pPr>
            <a:r>
              <a:rPr lang="en-US" sz="1150" dirty="0">
                <a:solidFill>
                  <a:srgbClr val="2B3A4A"/>
                </a:solidFill>
                <a:latin typeface="Calibri" pitchFamily="34" charset="0"/>
                <a:ea typeface="Calibri" pitchFamily="34" charset="-122"/>
                <a:cs typeface="Calibri" pitchFamily="34" charset="-120"/>
              </a:rPr>
              <a:t>There is no useful pretrained notion of a normal day — every baseline is its own.</a:t>
            </a:r>
            <a:endParaRPr lang="en-US" sz="1150" dirty="0"/>
          </a:p>
          <a:p>
            <a:pPr marL="342900" indent="-342900">
              <a:spcAft>
                <a:spcPts val="900"/>
              </a:spcAft>
              <a:buSzPct val="100000"/>
              <a:buChar char="•"/>
            </a:pPr>
            <a:r>
              <a:rPr lang="en-US" sz="1150" dirty="0">
                <a:solidFill>
                  <a:srgbClr val="2B3A4A"/>
                </a:solidFill>
                <a:latin typeface="Calibri" pitchFamily="34" charset="0"/>
                <a:ea typeface="Calibri" pitchFamily="34" charset="-122"/>
                <a:cs typeface="Calibri" pitchFamily="34" charset="-120"/>
              </a:rPr>
              <a:t>Fits take under a fifth of a second, so this stays cheap at scale.</a:t>
            </a:r>
            <a:endParaRPr lang="en-US" sz="1150" dirty="0"/>
          </a:p>
        </p:txBody>
      </p:sp>
      <p:sp>
        <p:nvSpPr>
          <p:cNvPr id="12" name="Text 10"/>
          <p:cNvSpPr/>
          <p:nvPr/>
        </p:nvSpPr>
        <p:spPr>
          <a:xfrm>
            <a:off x="685800" y="4224528"/>
            <a:ext cx="10820095" cy="310896"/>
          </a:xfrm>
          <a:prstGeom prst="rect">
            <a:avLst/>
          </a:prstGeom>
          <a:noFill/>
          <a:ln/>
        </p:spPr>
        <p:txBody>
          <a:bodyPr wrap="square" lIns="0" tIns="0" rIns="0" bIns="0" rtlCol="0" anchor="ctr"/>
          <a:lstStyle/>
          <a:p>
            <a:pPr indent="0" marL="0">
              <a:buNone/>
            </a:pPr>
            <a:r>
              <a:rPr lang="en-US" sz="1250" i="1" dirty="0">
                <a:solidFill>
                  <a:srgbClr val="3E5C76"/>
                </a:solidFill>
                <a:latin typeface="Calibri" pitchFamily="34" charset="0"/>
                <a:ea typeface="Calibri" pitchFamily="34" charset="-122"/>
                <a:cs typeface="Calibri" pitchFamily="34" charset="-120"/>
              </a:rPr>
              <a:t>Stateless scoring — so horizontal scaling is a matter of adding processes, not redesigning anything.</a:t>
            </a:r>
            <a:endParaRPr lang="en-US" sz="1250" dirty="0"/>
          </a:p>
        </p:txBody>
      </p:sp>
      <p:sp>
        <p:nvSpPr>
          <p:cNvPr id="13" name="Text 11"/>
          <p:cNvSpPr/>
          <p:nvPr/>
        </p:nvSpPr>
        <p:spPr>
          <a:xfrm>
            <a:off x="685800" y="4663440"/>
            <a:ext cx="3657600" cy="310896"/>
          </a:xfrm>
          <a:prstGeom prst="rect">
            <a:avLst/>
          </a:prstGeom>
          <a:noFill/>
          <a:ln/>
        </p:spPr>
        <p:txBody>
          <a:bodyPr wrap="square" lIns="0" tIns="0" rIns="0" bIns="0" rtlCol="0" anchor="ctr"/>
          <a:lstStyle/>
          <a:p>
            <a:pPr indent="0" marL="0">
              <a:buNone/>
            </a:pPr>
            <a:r>
              <a:rPr lang="en-US" sz="1500" b="1" dirty="0">
                <a:solidFill>
                  <a:srgbClr val="0D1B2A"/>
                </a:solidFill>
                <a:latin typeface="Arial" pitchFamily="34" charset="0"/>
                <a:ea typeface="Arial" pitchFamily="34" charset="-122"/>
                <a:cs typeface="Arial" pitchFamily="34" charset="-120"/>
              </a:rPr>
              <a:t>What comes next</a:t>
            </a:r>
            <a:endParaRPr lang="en-US" sz="1500" dirty="0"/>
          </a:p>
        </p:txBody>
      </p:sp>
      <p:sp>
        <p:nvSpPr>
          <p:cNvPr id="14" name="Shape 12"/>
          <p:cNvSpPr/>
          <p:nvPr/>
        </p:nvSpPr>
        <p:spPr>
          <a:xfrm>
            <a:off x="685800" y="5065776"/>
            <a:ext cx="3511296" cy="859536"/>
          </a:xfrm>
          <a:prstGeom prst="roundRect">
            <a:avLst>
              <a:gd name="adj" fmla="val 10638"/>
            </a:avLst>
          </a:prstGeom>
          <a:solidFill>
            <a:srgbClr val="F1F5F9"/>
          </a:solidFill>
          <a:ln/>
        </p:spPr>
      </p:sp>
      <p:sp>
        <p:nvSpPr>
          <p:cNvPr id="15" name="Text 13"/>
          <p:cNvSpPr/>
          <p:nvPr/>
        </p:nvSpPr>
        <p:spPr>
          <a:xfrm>
            <a:off x="923544" y="5157216"/>
            <a:ext cx="3054096" cy="237744"/>
          </a:xfrm>
          <a:prstGeom prst="rect">
            <a:avLst/>
          </a:prstGeom>
          <a:noFill/>
          <a:ln/>
        </p:spPr>
        <p:txBody>
          <a:bodyPr wrap="square" lIns="0" tIns="0" rIns="0" bIns="0" rtlCol="0" anchor="ctr"/>
          <a:lstStyle/>
          <a:p>
            <a:pPr indent="0" marL="0">
              <a:buNone/>
            </a:pPr>
            <a:r>
              <a:rPr lang="en-US" sz="950" b="1" spc="200" kern="0" dirty="0">
                <a:solidFill>
                  <a:srgbClr val="E39A1C"/>
                </a:solidFill>
                <a:latin typeface="Calibri" pitchFamily="34" charset="0"/>
                <a:ea typeface="Calibri" pitchFamily="34" charset="-122"/>
                <a:cs typeface="Calibri" pitchFamily="34" charset="-120"/>
              </a:rPr>
              <a:t>NEAR</a:t>
            </a:r>
            <a:endParaRPr lang="en-US" sz="950" dirty="0"/>
          </a:p>
        </p:txBody>
      </p:sp>
      <p:sp>
        <p:nvSpPr>
          <p:cNvPr id="16" name="Text 14"/>
          <p:cNvSpPr/>
          <p:nvPr/>
        </p:nvSpPr>
        <p:spPr>
          <a:xfrm>
            <a:off x="923544" y="5394960"/>
            <a:ext cx="3054096" cy="457200"/>
          </a:xfrm>
          <a:prstGeom prst="rect">
            <a:avLst/>
          </a:prstGeom>
          <a:noFill/>
          <a:ln/>
        </p:spPr>
        <p:txBody>
          <a:bodyPr wrap="square" lIns="0" tIns="0" rIns="0" bIns="0" rtlCol="0" anchor="t"/>
          <a:lstStyle/>
          <a:p>
            <a:pPr indent="0" marL="0">
              <a:lnSpc>
                <a:spcPts val="1400"/>
              </a:lnSpc>
              <a:buNone/>
            </a:pPr>
            <a:r>
              <a:rPr lang="en-US" sz="1100" dirty="0">
                <a:solidFill>
                  <a:srgbClr val="2B3A4A"/>
                </a:solidFill>
                <a:latin typeface="Calibri" pitchFamily="34" charset="0"/>
                <a:ea typeface="Calibri" pitchFamily="34" charset="-122"/>
                <a:cs typeface="Calibri" pitchFamily="34" charset="-120"/>
              </a:rPr>
              <a:t>FastAPI service + Docker packaging, so the score is callable from anywhere</a:t>
            </a:r>
            <a:endParaRPr lang="en-US" sz="1100" dirty="0"/>
          </a:p>
        </p:txBody>
      </p:sp>
      <p:sp>
        <p:nvSpPr>
          <p:cNvPr id="17" name="Shape 15"/>
          <p:cNvSpPr/>
          <p:nvPr/>
        </p:nvSpPr>
        <p:spPr>
          <a:xfrm>
            <a:off x="4462272" y="5065776"/>
            <a:ext cx="3511296" cy="859536"/>
          </a:xfrm>
          <a:prstGeom prst="roundRect">
            <a:avLst>
              <a:gd name="adj" fmla="val 10638"/>
            </a:avLst>
          </a:prstGeom>
          <a:solidFill>
            <a:srgbClr val="F1F5F9"/>
          </a:solidFill>
          <a:ln/>
        </p:spPr>
      </p:sp>
      <p:sp>
        <p:nvSpPr>
          <p:cNvPr id="18" name="Text 16"/>
          <p:cNvSpPr/>
          <p:nvPr/>
        </p:nvSpPr>
        <p:spPr>
          <a:xfrm>
            <a:off x="4700016" y="5157216"/>
            <a:ext cx="3054096" cy="237744"/>
          </a:xfrm>
          <a:prstGeom prst="rect">
            <a:avLst/>
          </a:prstGeom>
          <a:noFill/>
          <a:ln/>
        </p:spPr>
        <p:txBody>
          <a:bodyPr wrap="square" lIns="0" tIns="0" rIns="0" bIns="0" rtlCol="0" anchor="ctr"/>
          <a:lstStyle/>
          <a:p>
            <a:pPr indent="0" marL="0">
              <a:buNone/>
            </a:pPr>
            <a:r>
              <a:rPr lang="en-US" sz="950" b="1" spc="200" kern="0" dirty="0">
                <a:solidFill>
                  <a:srgbClr val="E39A1C"/>
                </a:solidFill>
                <a:latin typeface="Calibri" pitchFamily="34" charset="0"/>
                <a:ea typeface="Calibri" pitchFamily="34" charset="-122"/>
                <a:cs typeface="Calibri" pitchFamily="34" charset="-120"/>
              </a:rPr>
              <a:t>THEN</a:t>
            </a:r>
            <a:endParaRPr lang="en-US" sz="950" dirty="0"/>
          </a:p>
        </p:txBody>
      </p:sp>
      <p:sp>
        <p:nvSpPr>
          <p:cNvPr id="19" name="Text 17"/>
          <p:cNvSpPr/>
          <p:nvPr/>
        </p:nvSpPr>
        <p:spPr>
          <a:xfrm>
            <a:off x="4700016" y="5394960"/>
            <a:ext cx="3054096" cy="457200"/>
          </a:xfrm>
          <a:prstGeom prst="rect">
            <a:avLst/>
          </a:prstGeom>
          <a:noFill/>
          <a:ln/>
        </p:spPr>
        <p:txBody>
          <a:bodyPr wrap="square" lIns="0" tIns="0" rIns="0" bIns="0" rtlCol="0" anchor="t"/>
          <a:lstStyle/>
          <a:p>
            <a:pPr indent="0" marL="0">
              <a:lnSpc>
                <a:spcPts val="1400"/>
              </a:lnSpc>
              <a:buNone/>
            </a:pPr>
            <a:r>
              <a:rPr lang="en-US" sz="1100" dirty="0">
                <a:solidFill>
                  <a:srgbClr val="2B3A4A"/>
                </a:solidFill>
                <a:latin typeface="Calibri" pitchFamily="34" charset="0"/>
                <a:ea typeface="Calibri" pitchFamily="34" charset="-122"/>
                <a:cs typeface="Calibri" pitchFamily="34" charset="-120"/>
              </a:rPr>
              <a:t>CI pipeline running the full suite on every push</a:t>
            </a:r>
            <a:endParaRPr lang="en-US" sz="1100" dirty="0"/>
          </a:p>
        </p:txBody>
      </p:sp>
      <p:sp>
        <p:nvSpPr>
          <p:cNvPr id="20" name="Shape 18"/>
          <p:cNvSpPr/>
          <p:nvPr/>
        </p:nvSpPr>
        <p:spPr>
          <a:xfrm>
            <a:off x="8238744" y="5065776"/>
            <a:ext cx="3511296" cy="859536"/>
          </a:xfrm>
          <a:prstGeom prst="roundRect">
            <a:avLst>
              <a:gd name="adj" fmla="val 10638"/>
            </a:avLst>
          </a:prstGeom>
          <a:solidFill>
            <a:srgbClr val="F1F5F9"/>
          </a:solidFill>
          <a:ln/>
        </p:spPr>
      </p:sp>
      <p:sp>
        <p:nvSpPr>
          <p:cNvPr id="21" name="Text 19"/>
          <p:cNvSpPr/>
          <p:nvPr/>
        </p:nvSpPr>
        <p:spPr>
          <a:xfrm>
            <a:off x="8476488" y="5157216"/>
            <a:ext cx="3054096" cy="237744"/>
          </a:xfrm>
          <a:prstGeom prst="rect">
            <a:avLst/>
          </a:prstGeom>
          <a:noFill/>
          <a:ln/>
        </p:spPr>
        <p:txBody>
          <a:bodyPr wrap="square" lIns="0" tIns="0" rIns="0" bIns="0" rtlCol="0" anchor="ctr"/>
          <a:lstStyle/>
          <a:p>
            <a:pPr indent="0" marL="0">
              <a:buNone/>
            </a:pPr>
            <a:r>
              <a:rPr lang="en-US" sz="950" b="1" spc="200" kern="0" dirty="0">
                <a:solidFill>
                  <a:srgbClr val="E39A1C"/>
                </a:solidFill>
                <a:latin typeface="Calibri" pitchFamily="34" charset="0"/>
                <a:ea typeface="Calibri" pitchFamily="34" charset="-122"/>
                <a:cs typeface="Calibri" pitchFamily="34" charset="-120"/>
              </a:rPr>
              <a:t>LATER</a:t>
            </a:r>
            <a:endParaRPr lang="en-US" sz="950" dirty="0"/>
          </a:p>
        </p:txBody>
      </p:sp>
      <p:sp>
        <p:nvSpPr>
          <p:cNvPr id="22" name="Text 20"/>
          <p:cNvSpPr/>
          <p:nvPr/>
        </p:nvSpPr>
        <p:spPr>
          <a:xfrm>
            <a:off x="8476488" y="5394960"/>
            <a:ext cx="3054096" cy="457200"/>
          </a:xfrm>
          <a:prstGeom prst="rect">
            <a:avLst/>
          </a:prstGeom>
          <a:noFill/>
          <a:ln/>
        </p:spPr>
        <p:txBody>
          <a:bodyPr wrap="square" lIns="0" tIns="0" rIns="0" bIns="0" rtlCol="0" anchor="t"/>
          <a:lstStyle/>
          <a:p>
            <a:pPr indent="0" marL="0">
              <a:lnSpc>
                <a:spcPts val="1400"/>
              </a:lnSpc>
              <a:buNone/>
            </a:pPr>
            <a:r>
              <a:rPr lang="en-US" sz="1100" dirty="0">
                <a:solidFill>
                  <a:srgbClr val="2B3A4A"/>
                </a:solidFill>
                <a:latin typeface="Calibri" pitchFamily="34" charset="0"/>
                <a:ea typeface="Calibri" pitchFamily="34" charset="-122"/>
                <a:cs typeface="Calibri" pitchFamily="34" charset="-120"/>
              </a:rPr>
              <a:t>Real labelled outcomes — replacing the weighted formula with a learned model</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85800" y="1371600"/>
            <a:ext cx="6858000" cy="2103120"/>
          </a:xfrm>
          <a:prstGeom prst="rect">
            <a:avLst/>
          </a:prstGeom>
          <a:noFill/>
          <a:ln/>
        </p:spPr>
        <p:txBody>
          <a:bodyPr wrap="square" lIns="0" tIns="0" rIns="0" bIns="0" rtlCol="0" anchor="ctr"/>
          <a:lstStyle/>
          <a:p>
            <a:pPr indent="0" marL="0">
              <a:lnSpc>
                <a:spcPts val="4600"/>
              </a:lnSpc>
              <a:buNone/>
            </a:pPr>
            <a:r>
              <a:rPr lang="en-US" sz="3300" b="1" dirty="0">
                <a:solidFill>
                  <a:srgbClr val="FFFFFF"/>
                </a:solidFill>
                <a:latin typeface="Arial" pitchFamily="34" charset="0"/>
                <a:ea typeface="Arial" pitchFamily="34" charset="-122"/>
                <a:cs typeface="Arial" pitchFamily="34" charset="-120"/>
              </a:rPr>
              <a:t>Four disconnected dashboards</a:t>
            </a:r>
            <a:endParaRPr lang="en-US" sz="3300" dirty="0"/>
          </a:p>
          <a:p>
            <a:pPr indent="0" marL="0">
              <a:lnSpc>
                <a:spcPts val="4600"/>
              </a:lnSpc>
              <a:buNone/>
            </a:pPr>
            <a:r>
              <a:rPr lang="en-US" sz="3300" b="1" dirty="0">
                <a:solidFill>
                  <a:srgbClr val="FFFFFF"/>
                </a:solidFill>
                <a:latin typeface="Arial" pitchFamily="34" charset="0"/>
                <a:ea typeface="Arial" pitchFamily="34" charset="-122"/>
                <a:cs typeface="Arial" pitchFamily="34" charset="-120"/>
              </a:rPr>
              <a:t>become one number, one reason,</a:t>
            </a:r>
            <a:endParaRPr lang="en-US" sz="3300" dirty="0"/>
          </a:p>
          <a:p>
            <a:pPr indent="0" marL="0">
              <a:lnSpc>
                <a:spcPts val="4600"/>
              </a:lnSpc>
              <a:buNone/>
            </a:pPr>
            <a:r>
              <a:rPr lang="en-US" sz="3300" b="1" dirty="0">
                <a:solidFill>
                  <a:srgbClr val="FFFFFF"/>
                </a:solidFill>
                <a:latin typeface="Arial" pitchFamily="34" charset="0"/>
                <a:ea typeface="Arial" pitchFamily="34" charset="-122"/>
                <a:cs typeface="Arial" pitchFamily="34" charset="-120"/>
              </a:rPr>
              <a:t>and three things to do.</a:t>
            </a:r>
            <a:endParaRPr lang="en-US" sz="3300" dirty="0"/>
          </a:p>
        </p:txBody>
      </p:sp>
      <p:sp>
        <p:nvSpPr>
          <p:cNvPr id="3" name="Shape 1"/>
          <p:cNvSpPr/>
          <p:nvPr/>
        </p:nvSpPr>
        <p:spPr>
          <a:xfrm>
            <a:off x="704088" y="3941064"/>
            <a:ext cx="137160" cy="137160"/>
          </a:xfrm>
          <a:prstGeom prst="ellipse">
            <a:avLst/>
          </a:prstGeom>
          <a:solidFill>
            <a:srgbClr val="E39A1C"/>
          </a:solidFill>
          <a:ln/>
        </p:spPr>
      </p:sp>
      <p:sp>
        <p:nvSpPr>
          <p:cNvPr id="4" name="Text 2"/>
          <p:cNvSpPr/>
          <p:nvPr/>
        </p:nvSpPr>
        <p:spPr>
          <a:xfrm>
            <a:off x="1014984" y="3794760"/>
            <a:ext cx="310896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Working end to end today</a:t>
            </a:r>
            <a:endParaRPr lang="en-US" sz="1400" dirty="0"/>
          </a:p>
        </p:txBody>
      </p:sp>
      <p:sp>
        <p:nvSpPr>
          <p:cNvPr id="5" name="Text 3"/>
          <p:cNvSpPr/>
          <p:nvPr/>
        </p:nvSpPr>
        <p:spPr>
          <a:xfrm>
            <a:off x="1014984" y="4087368"/>
            <a:ext cx="6035040" cy="292608"/>
          </a:xfrm>
          <a:prstGeom prst="rect">
            <a:avLst/>
          </a:prstGeom>
          <a:noFill/>
          <a:ln/>
        </p:spPr>
        <p:txBody>
          <a:bodyPr wrap="square" lIns="0" tIns="0" rIns="0" bIns="0" rtlCol="0" anchor="ctr"/>
          <a:lstStyle/>
          <a:p>
            <a:pPr indent="0" marL="0">
              <a:buNone/>
            </a:pPr>
            <a:r>
              <a:rPr lang="en-US" sz="1150" dirty="0">
                <a:solidFill>
                  <a:srgbClr val="93A7BC"/>
                </a:solidFill>
                <a:latin typeface="Calibri" pitchFamily="34" charset="0"/>
                <a:ea typeface="Calibri" pitchFamily="34" charset="-122"/>
                <a:cs typeface="Calibri" pitchFamily="34" charset="-120"/>
              </a:rPr>
              <a:t>Upload real data and get scored right now — not a mockup.</a:t>
            </a:r>
            <a:endParaRPr lang="en-US" sz="1150" dirty="0"/>
          </a:p>
        </p:txBody>
      </p:sp>
      <p:sp>
        <p:nvSpPr>
          <p:cNvPr id="6" name="Shape 4"/>
          <p:cNvSpPr/>
          <p:nvPr/>
        </p:nvSpPr>
        <p:spPr>
          <a:xfrm>
            <a:off x="704088" y="4654296"/>
            <a:ext cx="137160" cy="137160"/>
          </a:xfrm>
          <a:prstGeom prst="ellipse">
            <a:avLst/>
          </a:prstGeom>
          <a:solidFill>
            <a:srgbClr val="E39A1C"/>
          </a:solidFill>
          <a:ln/>
        </p:spPr>
      </p:sp>
      <p:sp>
        <p:nvSpPr>
          <p:cNvPr id="7" name="Text 5"/>
          <p:cNvSpPr/>
          <p:nvPr/>
        </p:nvSpPr>
        <p:spPr>
          <a:xfrm>
            <a:off x="1014984" y="4507992"/>
            <a:ext cx="310896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Validated, not asserted</a:t>
            </a:r>
            <a:endParaRPr lang="en-US" sz="1400" dirty="0"/>
          </a:p>
        </p:txBody>
      </p:sp>
      <p:sp>
        <p:nvSpPr>
          <p:cNvPr id="8" name="Text 6"/>
          <p:cNvSpPr/>
          <p:nvPr/>
        </p:nvSpPr>
        <p:spPr>
          <a:xfrm>
            <a:off x="1014984" y="4800600"/>
            <a:ext cx="6035040" cy="292608"/>
          </a:xfrm>
          <a:prstGeom prst="rect">
            <a:avLst/>
          </a:prstGeom>
          <a:noFill/>
          <a:ln/>
        </p:spPr>
        <p:txBody>
          <a:bodyPr wrap="square" lIns="0" tIns="0" rIns="0" bIns="0" rtlCol="0" anchor="ctr"/>
          <a:lstStyle/>
          <a:p>
            <a:pPr indent="0" marL="0">
              <a:buNone/>
            </a:pPr>
            <a:r>
              <a:rPr lang="en-US" sz="1150" dirty="0">
                <a:solidFill>
                  <a:srgbClr val="93A7BC"/>
                </a:solidFill>
                <a:latin typeface="Calibri" pitchFamily="34" charset="0"/>
                <a:ea typeface="Calibri" pitchFamily="34" charset="-122"/>
                <a:cs typeface="Calibri" pitchFamily="34" charset="-120"/>
              </a:rPr>
              <a:t>82 tests, published reports, one-command reproduction.</a:t>
            </a:r>
            <a:endParaRPr lang="en-US" sz="1150" dirty="0"/>
          </a:p>
        </p:txBody>
      </p:sp>
      <p:sp>
        <p:nvSpPr>
          <p:cNvPr id="9" name="Shape 7"/>
          <p:cNvSpPr/>
          <p:nvPr/>
        </p:nvSpPr>
        <p:spPr>
          <a:xfrm>
            <a:off x="704088" y="5367528"/>
            <a:ext cx="137160" cy="137160"/>
          </a:xfrm>
          <a:prstGeom prst="ellipse">
            <a:avLst/>
          </a:prstGeom>
          <a:solidFill>
            <a:srgbClr val="E39A1C"/>
          </a:solidFill>
          <a:ln/>
        </p:spPr>
      </p:sp>
      <p:sp>
        <p:nvSpPr>
          <p:cNvPr id="10" name="Text 8"/>
          <p:cNvSpPr/>
          <p:nvPr/>
        </p:nvSpPr>
        <p:spPr>
          <a:xfrm>
            <a:off x="1014984" y="5221224"/>
            <a:ext cx="310896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Built honestly</a:t>
            </a:r>
            <a:endParaRPr lang="en-US" sz="1400" dirty="0"/>
          </a:p>
        </p:txBody>
      </p:sp>
      <p:sp>
        <p:nvSpPr>
          <p:cNvPr id="11" name="Text 9"/>
          <p:cNvSpPr/>
          <p:nvPr/>
        </p:nvSpPr>
        <p:spPr>
          <a:xfrm>
            <a:off x="1014984" y="5513832"/>
            <a:ext cx="6035040" cy="292608"/>
          </a:xfrm>
          <a:prstGeom prst="rect">
            <a:avLst/>
          </a:prstGeom>
          <a:noFill/>
          <a:ln/>
        </p:spPr>
        <p:txBody>
          <a:bodyPr wrap="square" lIns="0" tIns="0" rIns="0" bIns="0" rtlCol="0" anchor="ctr"/>
          <a:lstStyle/>
          <a:p>
            <a:pPr indent="0" marL="0">
              <a:buNone/>
            </a:pPr>
            <a:r>
              <a:rPr lang="en-US" sz="1150" dirty="0">
                <a:solidFill>
                  <a:srgbClr val="93A7BC"/>
                </a:solidFill>
                <a:latin typeface="Calibri" pitchFamily="34" charset="0"/>
                <a:ea typeface="Calibri" pitchFamily="34" charset="-122"/>
                <a:cs typeface="Calibri" pitchFamily="34" charset="-120"/>
              </a:rPr>
              <a:t>Every limitation is documented rather than hidden.</a:t>
            </a:r>
            <a:endParaRPr lang="en-US" sz="1150" dirty="0"/>
          </a:p>
        </p:txBody>
      </p:sp>
      <p:sp>
        <p:nvSpPr>
          <p:cNvPr id="12" name="Shape 10"/>
          <p:cNvSpPr/>
          <p:nvPr/>
        </p:nvSpPr>
        <p:spPr>
          <a:xfrm>
            <a:off x="7818120" y="1371600"/>
            <a:ext cx="3685032" cy="4160520"/>
          </a:xfrm>
          <a:prstGeom prst="roundRect">
            <a:avLst>
              <a:gd name="adj" fmla="val 3970"/>
            </a:avLst>
          </a:prstGeom>
          <a:solidFill>
            <a:srgbClr val="16324F"/>
          </a:solidFill>
          <a:ln/>
        </p:spPr>
      </p:sp>
      <p:sp>
        <p:nvSpPr>
          <p:cNvPr id="13" name="Text 11"/>
          <p:cNvSpPr/>
          <p:nvPr/>
        </p:nvSpPr>
        <p:spPr>
          <a:xfrm>
            <a:off x="8202168" y="1737360"/>
            <a:ext cx="2916936" cy="402336"/>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StartupShield AI</a:t>
            </a:r>
            <a:endParaRPr lang="en-US" sz="2000" dirty="0"/>
          </a:p>
        </p:txBody>
      </p:sp>
      <p:sp>
        <p:nvSpPr>
          <p:cNvPr id="14" name="Text 12"/>
          <p:cNvSpPr/>
          <p:nvPr/>
        </p:nvSpPr>
        <p:spPr>
          <a:xfrm>
            <a:off x="8202168" y="2157984"/>
            <a:ext cx="2916936" cy="566928"/>
          </a:xfrm>
          <a:prstGeom prst="rect">
            <a:avLst/>
          </a:prstGeom>
          <a:noFill/>
          <a:ln/>
        </p:spPr>
        <p:txBody>
          <a:bodyPr wrap="square" lIns="0" tIns="0" rIns="0" bIns="0" rtlCol="0" anchor="t"/>
          <a:lstStyle/>
          <a:p>
            <a:pPr indent="0" marL="0">
              <a:lnSpc>
                <a:spcPts val="1700"/>
              </a:lnSpc>
              <a:buNone/>
            </a:pPr>
            <a:r>
              <a:rPr lang="en-US" sz="1250" dirty="0">
                <a:solidFill>
                  <a:srgbClr val="93A7BC"/>
                </a:solidFill>
                <a:latin typeface="Calibri" pitchFamily="34" charset="0"/>
                <a:ea typeface="Calibri" pitchFamily="34" charset="-122"/>
                <a:cs typeface="Calibri" pitchFamily="34" charset="-120"/>
              </a:rPr>
              <a:t>Risk monitoring for startups</a:t>
            </a:r>
            <a:endParaRPr lang="en-US" sz="1250" dirty="0"/>
          </a:p>
          <a:p>
            <a:pPr indent="0" marL="0">
              <a:lnSpc>
                <a:spcPts val="1700"/>
              </a:lnSpc>
              <a:buNone/>
            </a:pPr>
            <a:r>
              <a:rPr lang="en-US" sz="1250" dirty="0">
                <a:solidFill>
                  <a:srgbClr val="93A7BC"/>
                </a:solidFill>
                <a:latin typeface="Calibri" pitchFamily="34" charset="0"/>
                <a:ea typeface="Calibri" pitchFamily="34" charset="-122"/>
                <a:cs typeface="Calibri" pitchFamily="34" charset="-120"/>
              </a:rPr>
              <a:t>and SaaS companies</a:t>
            </a:r>
            <a:endParaRPr lang="en-US" sz="1250" dirty="0"/>
          </a:p>
        </p:txBody>
      </p:sp>
      <p:sp>
        <p:nvSpPr>
          <p:cNvPr id="15" name="Text 13"/>
          <p:cNvSpPr/>
          <p:nvPr/>
        </p:nvSpPr>
        <p:spPr>
          <a:xfrm>
            <a:off x="8202168" y="2926080"/>
            <a:ext cx="2916936" cy="237744"/>
          </a:xfrm>
          <a:prstGeom prst="rect">
            <a:avLst/>
          </a:prstGeom>
          <a:noFill/>
          <a:ln/>
        </p:spPr>
        <p:txBody>
          <a:bodyPr wrap="square" lIns="0" tIns="0" rIns="0" bIns="0" rtlCol="0" anchor="ctr"/>
          <a:lstStyle/>
          <a:p>
            <a:pPr indent="0" marL="0">
              <a:buNone/>
            </a:pPr>
            <a:r>
              <a:rPr lang="en-US" sz="1000" b="1" spc="150" kern="0" dirty="0">
                <a:solidFill>
                  <a:srgbClr val="E39A1C"/>
                </a:solidFill>
                <a:latin typeface="Calibri" pitchFamily="34" charset="0"/>
                <a:ea typeface="Calibri" pitchFamily="34" charset="-122"/>
                <a:cs typeface="Calibri" pitchFamily="34" charset="-120"/>
              </a:rPr>
              <a:t>Run the dashboard</a:t>
            </a:r>
            <a:endParaRPr lang="en-US" sz="1000" dirty="0"/>
          </a:p>
        </p:txBody>
      </p:sp>
      <p:sp>
        <p:nvSpPr>
          <p:cNvPr id="16" name="Shape 14"/>
          <p:cNvSpPr/>
          <p:nvPr/>
        </p:nvSpPr>
        <p:spPr>
          <a:xfrm>
            <a:off x="8202168" y="3182112"/>
            <a:ext cx="2916936" cy="384048"/>
          </a:xfrm>
          <a:prstGeom prst="roundRect">
            <a:avLst>
              <a:gd name="adj" fmla="val 19048"/>
            </a:avLst>
          </a:prstGeom>
          <a:solidFill>
            <a:srgbClr val="0D1B2A"/>
          </a:solidFill>
          <a:ln/>
        </p:spPr>
      </p:sp>
      <p:sp>
        <p:nvSpPr>
          <p:cNvPr id="17" name="Text 15"/>
          <p:cNvSpPr/>
          <p:nvPr/>
        </p:nvSpPr>
        <p:spPr>
          <a:xfrm>
            <a:off x="8330184" y="3182112"/>
            <a:ext cx="2660904" cy="384048"/>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streamlit run app/app.py</a:t>
            </a:r>
            <a:endParaRPr lang="en-US" sz="1050" dirty="0"/>
          </a:p>
        </p:txBody>
      </p:sp>
      <p:sp>
        <p:nvSpPr>
          <p:cNvPr id="18" name="Text 16"/>
          <p:cNvSpPr/>
          <p:nvPr/>
        </p:nvSpPr>
        <p:spPr>
          <a:xfrm>
            <a:off x="8202168" y="3730752"/>
            <a:ext cx="2916936" cy="237744"/>
          </a:xfrm>
          <a:prstGeom prst="rect">
            <a:avLst/>
          </a:prstGeom>
          <a:noFill/>
          <a:ln/>
        </p:spPr>
        <p:txBody>
          <a:bodyPr wrap="square" lIns="0" tIns="0" rIns="0" bIns="0" rtlCol="0" anchor="ctr"/>
          <a:lstStyle/>
          <a:p>
            <a:pPr indent="0" marL="0">
              <a:buNone/>
            </a:pPr>
            <a:r>
              <a:rPr lang="en-US" sz="1000" b="1" spc="150" kern="0" dirty="0">
                <a:solidFill>
                  <a:srgbClr val="E39A1C"/>
                </a:solidFill>
                <a:latin typeface="Calibri" pitchFamily="34" charset="0"/>
                <a:ea typeface="Calibri" pitchFamily="34" charset="-122"/>
                <a:cs typeface="Calibri" pitchFamily="34" charset="-120"/>
              </a:rPr>
              <a:t>Run the full demo</a:t>
            </a:r>
            <a:endParaRPr lang="en-US" sz="1000" dirty="0"/>
          </a:p>
        </p:txBody>
      </p:sp>
      <p:sp>
        <p:nvSpPr>
          <p:cNvPr id="19" name="Shape 17"/>
          <p:cNvSpPr/>
          <p:nvPr/>
        </p:nvSpPr>
        <p:spPr>
          <a:xfrm>
            <a:off x="8202168" y="3986784"/>
            <a:ext cx="2916936" cy="384048"/>
          </a:xfrm>
          <a:prstGeom prst="roundRect">
            <a:avLst>
              <a:gd name="adj" fmla="val 19048"/>
            </a:avLst>
          </a:prstGeom>
          <a:solidFill>
            <a:srgbClr val="0D1B2A"/>
          </a:solidFill>
          <a:ln/>
        </p:spPr>
      </p:sp>
      <p:sp>
        <p:nvSpPr>
          <p:cNvPr id="20" name="Text 18"/>
          <p:cNvSpPr/>
          <p:nvPr/>
        </p:nvSpPr>
        <p:spPr>
          <a:xfrm>
            <a:off x="8330184" y="3986784"/>
            <a:ext cx="2660904" cy="384048"/>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python run_full_pipeline_demo.py</a:t>
            </a:r>
            <a:endParaRPr lang="en-US" sz="1050" dirty="0"/>
          </a:p>
        </p:txBody>
      </p:sp>
      <p:sp>
        <p:nvSpPr>
          <p:cNvPr id="21" name="Text 19"/>
          <p:cNvSpPr/>
          <p:nvPr/>
        </p:nvSpPr>
        <p:spPr>
          <a:xfrm>
            <a:off x="8202168" y="4535424"/>
            <a:ext cx="2916936" cy="237744"/>
          </a:xfrm>
          <a:prstGeom prst="rect">
            <a:avLst/>
          </a:prstGeom>
          <a:noFill/>
          <a:ln/>
        </p:spPr>
        <p:txBody>
          <a:bodyPr wrap="square" lIns="0" tIns="0" rIns="0" bIns="0" rtlCol="0" anchor="ctr"/>
          <a:lstStyle/>
          <a:p>
            <a:pPr indent="0" marL="0">
              <a:buNone/>
            </a:pPr>
            <a:r>
              <a:rPr lang="en-US" sz="1000" b="1" spc="150" kern="0" dirty="0">
                <a:solidFill>
                  <a:srgbClr val="E39A1C"/>
                </a:solidFill>
                <a:latin typeface="Calibri" pitchFamily="34" charset="0"/>
                <a:ea typeface="Calibri" pitchFamily="34" charset="-122"/>
                <a:cs typeface="Calibri" pitchFamily="34" charset="-120"/>
              </a:rPr>
              <a:t>Rebuild the models</a:t>
            </a:r>
            <a:endParaRPr lang="en-US" sz="1000" dirty="0"/>
          </a:p>
        </p:txBody>
      </p:sp>
      <p:sp>
        <p:nvSpPr>
          <p:cNvPr id="22" name="Shape 20"/>
          <p:cNvSpPr/>
          <p:nvPr/>
        </p:nvSpPr>
        <p:spPr>
          <a:xfrm>
            <a:off x="8202168" y="4791456"/>
            <a:ext cx="2916936" cy="384048"/>
          </a:xfrm>
          <a:prstGeom prst="roundRect">
            <a:avLst>
              <a:gd name="adj" fmla="val 19048"/>
            </a:avLst>
          </a:prstGeom>
          <a:solidFill>
            <a:srgbClr val="0D1B2A"/>
          </a:solidFill>
          <a:ln/>
        </p:spPr>
      </p:sp>
      <p:sp>
        <p:nvSpPr>
          <p:cNvPr id="23" name="Text 21"/>
          <p:cNvSpPr/>
          <p:nvPr/>
        </p:nvSpPr>
        <p:spPr>
          <a:xfrm>
            <a:off x="8330184" y="4791456"/>
            <a:ext cx="2660904" cy="384048"/>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python -m src.train_all</a:t>
            </a:r>
            <a:endParaRPr lang="en-US" sz="1050" dirty="0"/>
          </a:p>
        </p:txBody>
      </p:sp>
      <p:sp>
        <p:nvSpPr>
          <p:cNvPr id="24" name="Text 22"/>
          <p:cNvSpPr/>
          <p:nvPr/>
        </p:nvSpPr>
        <p:spPr>
          <a:xfrm>
            <a:off x="685800" y="5897880"/>
            <a:ext cx="6858000" cy="365760"/>
          </a:xfrm>
          <a:prstGeom prst="rect">
            <a:avLst/>
          </a:prstGeom>
          <a:noFill/>
          <a:ln/>
        </p:spPr>
        <p:txBody>
          <a:bodyPr wrap="square" lIns="0" tIns="0" rIns="0" bIns="0" rtlCol="0" anchor="ctr"/>
          <a:lstStyle/>
          <a:p>
            <a:pPr indent="0" marL="0">
              <a:buNone/>
            </a:pPr>
            <a:r>
              <a:rPr lang="en-US" sz="1400" i="1" dirty="0">
                <a:solidFill>
                  <a:srgbClr val="93A7BC"/>
                </a:solidFill>
                <a:latin typeface="Calibri" pitchFamily="34" charset="0"/>
                <a:ea typeface="Calibri" pitchFamily="34" charset="-122"/>
                <a:cs typeface="Calibri" pitchFamily="34" charset="-120"/>
              </a:rPr>
              <a:t>Thank you — questions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StartupShield AI — Project Submission</dc:title>
  <dc:subject>PptxGenJS Presentation</dc:subject>
  <dc:creator>StartupShield AI</dc:creator>
  <cp:lastModifiedBy>StartupShield AI</cp:lastModifiedBy>
  <cp:revision>1</cp:revision>
  <dcterms:created xsi:type="dcterms:W3CDTF">2026-08-21T17:14:37Z</dcterms:created>
  <dcterms:modified xsi:type="dcterms:W3CDTF">2026-08-21T17:14:37Z</dcterms:modified>
</cp:coreProperties>
</file>