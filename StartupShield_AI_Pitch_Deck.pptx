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6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move the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0E3A14E-DB83-458E-B21A-0354E8FE975A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75C405-8ED3-466B-9AA8-31AFF12CDDC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AA375-48CA-4199-9C4C-AD711F215C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3B470-286A-4B91-A679-0A13410DE10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1F5675-A00B-4E7F-A3E8-7A9DA008BEF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B9D5D9-429E-490A-BF72-9EB688A1A5C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6B76F4-1D78-410D-90A6-7EDDC69BA2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8877A0-D29B-4204-8675-599048DFF6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2E1048-AEF9-46C2-B2FF-B8BFCBFAC3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B9E49-FDA2-4D1E-BEA6-1EE4040039D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edit the title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14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2103120" y="-2103120"/>
            <a:ext cx="5943240" cy="594324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9692640" y="4206240"/>
            <a:ext cx="5120280" cy="512028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5410080" y="1005840"/>
            <a:ext cx="1371240" cy="137124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Image 0" descr="/home/claude/ppt_build/icons/shield.png"/>
          <p:cNvPicPr/>
          <p:nvPr/>
        </p:nvPicPr>
        <p:blipFill>
          <a:blip r:embed="rId1"/>
          <a:stretch/>
        </p:blipFill>
        <p:spPr>
          <a:xfrm>
            <a:off x="5752800" y="1348920"/>
            <a:ext cx="685440" cy="685440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0" y="2788920"/>
            <a:ext cx="121914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pc="97" strike="noStrike">
                <a:solidFill>
                  <a:srgbClr val="ffffff"/>
                </a:solidFill>
                <a:latin typeface="Cambria"/>
                <a:ea typeface="Cambria"/>
              </a:rPr>
              <a:t>STARTUPSHIELD AI</a:t>
            </a:r>
            <a:endParaRPr b="0" lang="en-IN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1371600" y="3611880"/>
            <a:ext cx="9448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An AI-powered early-warning risk dashboard for startups and SaaS teams</a:t>
            </a: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1371600" y="4114800"/>
            <a:ext cx="9448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9fb3e0"/>
                </a:solidFill>
                <a:latin typeface="Calibri"/>
                <a:ea typeface="Calibri"/>
              </a:rPr>
              <a:t>One explainable Risk Score. Built from churn, sentiment, anomalies and forecasts.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5546880" y="5806440"/>
            <a:ext cx="1097280" cy="360"/>
          </a:xfrm>
          <a:prstGeom prst="line">
            <a:avLst/>
          </a:prstGeom>
          <a:ln w="1905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0" y="598932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f2a65a"/>
                </a:solidFill>
                <a:latin typeface="Calibri"/>
                <a:ea typeface="Calibri"/>
              </a:rPr>
              <a:t>SUBMISSION  ·  UNSTOP INNOVATION CHALLENGE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THE PROBLEM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Startups lose customers long before anyone notices why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1371600"/>
            <a:ext cx="10881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478"/>
                </a:solidFill>
                <a:latin typeface="Calibri"/>
                <a:ea typeface="Calibri"/>
              </a:rPr>
              <a:t>Churn signals, unhappy reviews, revenue anomalies and slowing growth usually live in four different tools. By the time a founder connects the dots, the damage is already done.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548640" y="2331720"/>
            <a:ext cx="2550960" cy="324576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1389960" y="258336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Image 0" descr="/home/claude/ppt_build/icons/eye_off.png"/>
          <p:cNvPicPr/>
          <p:nvPr/>
        </p:nvPicPr>
        <p:blipFill>
          <a:blip r:embed="rId1"/>
          <a:stretch/>
        </p:blipFill>
        <p:spPr>
          <a:xfrm>
            <a:off x="1607040" y="2800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713160" y="3630240"/>
            <a:ext cx="222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Fragmented signals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749880" y="4160520"/>
            <a:ext cx="21484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8"/>
                </a:solidFill>
                <a:latin typeface="Calibri"/>
                <a:ea typeface="Calibri"/>
              </a:rPr>
              <a:t>Customer data, support tickets, reviews and revenue metrics sit in separate spreadsheets and tools, never in one view.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7"/>
          <p:cNvSpPr/>
          <p:nvPr/>
        </p:nvSpPr>
        <p:spPr>
          <a:xfrm>
            <a:off x="3383280" y="2331720"/>
            <a:ext cx="2550960" cy="324576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4224600" y="258336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" name="Image 1" descr="/home/claude/ppt_build/icons/clock.png"/>
          <p:cNvPicPr/>
          <p:nvPr/>
        </p:nvPicPr>
        <p:blipFill>
          <a:blip r:embed="rId2"/>
          <a:stretch/>
        </p:blipFill>
        <p:spPr>
          <a:xfrm>
            <a:off x="4441680" y="2800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8" name="Text 9"/>
          <p:cNvSpPr/>
          <p:nvPr/>
        </p:nvSpPr>
        <p:spPr>
          <a:xfrm>
            <a:off x="3547800" y="3630240"/>
            <a:ext cx="222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Reactive, not proactive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3584520" y="4160520"/>
            <a:ext cx="21484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8"/>
                </a:solidFill>
                <a:latin typeface="Calibri"/>
                <a:ea typeface="Calibri"/>
              </a:rPr>
              <a:t>Most founders learn about churn or a revenue dip only after it shows up on the monthly report.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6217920" y="2331720"/>
            <a:ext cx="2550960" cy="324576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>
            <a:off x="7059240" y="258336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" name="Image 2" descr="/home/claude/ppt_build/icons/alert_triangle.png"/>
          <p:cNvPicPr/>
          <p:nvPr/>
        </p:nvPicPr>
        <p:blipFill>
          <a:blip r:embed="rId3"/>
          <a:stretch/>
        </p:blipFill>
        <p:spPr>
          <a:xfrm>
            <a:off x="7276320" y="2800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3" name="Text 13"/>
          <p:cNvSpPr/>
          <p:nvPr/>
        </p:nvSpPr>
        <p:spPr>
          <a:xfrm>
            <a:off x="6382440" y="3630240"/>
            <a:ext cx="222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No clear "why"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6419160" y="4160520"/>
            <a:ext cx="21484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8"/>
                </a:solidFill>
                <a:latin typeface="Calibri"/>
                <a:ea typeface="Calibri"/>
              </a:rPr>
              <a:t>Even when a dashboard flags a problem, it rarely explains which factor is really driving the risk.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9052560" y="2331720"/>
            <a:ext cx="2550960" cy="324576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6"/>
          <p:cNvSpPr/>
          <p:nvPr/>
        </p:nvSpPr>
        <p:spPr>
          <a:xfrm>
            <a:off x="9893880" y="258336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" name="Image 3" descr="/home/claude/ppt_build/icons/user_x.png"/>
          <p:cNvPicPr/>
          <p:nvPr/>
        </p:nvPicPr>
        <p:blipFill>
          <a:blip r:embed="rId4"/>
          <a:stretch/>
        </p:blipFill>
        <p:spPr>
          <a:xfrm>
            <a:off x="10110960" y="280044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38" name="Text 17"/>
          <p:cNvSpPr/>
          <p:nvPr/>
        </p:nvSpPr>
        <p:spPr>
          <a:xfrm>
            <a:off x="9217080" y="3630240"/>
            <a:ext cx="2221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Single-purpose tools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8"/>
          <p:cNvSpPr/>
          <p:nvPr/>
        </p:nvSpPr>
        <p:spPr>
          <a:xfrm>
            <a:off x="9253800" y="4160520"/>
            <a:ext cx="214848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b6478"/>
                </a:solidFill>
                <a:latin typeface="Calibri"/>
                <a:ea typeface="Calibri"/>
              </a:rPr>
              <a:t>Existing tools predict churn, OR analyse sentiment, OR flag anomalies — never combine them into one risk view.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9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THE SOLUTION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One AI engine that turns four signals into one answer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48640" y="137160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478"/>
                </a:solidFill>
                <a:latin typeface="Calibri"/>
                <a:ea typeface="Calibri"/>
              </a:rPr>
              <a:t>StartupShield AI ingests customer, text and business-metric data, runs it through four purpose-built models, and fuses the outputs into a single explainable Risk Score with recommended next steps.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320040" y="219456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f2a65a"/>
                </a:solidFill>
                <a:latin typeface="Calibri"/>
                <a:ea typeface="Calibri"/>
              </a:rPr>
              <a:t>INPUTS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4"/>
          <p:cNvSpPr/>
          <p:nvPr/>
        </p:nvSpPr>
        <p:spPr>
          <a:xfrm>
            <a:off x="540000" y="246852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" name="Image 0" descr="/home/claude/ppt_build/icons/users.png"/>
          <p:cNvPicPr/>
          <p:nvPr/>
        </p:nvPicPr>
        <p:blipFill>
          <a:blip r:embed="rId1"/>
          <a:stretch/>
        </p:blipFill>
        <p:spPr>
          <a:xfrm>
            <a:off x="704160" y="2532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48" name="Text 5"/>
          <p:cNvSpPr/>
          <p:nvPr/>
        </p:nvSpPr>
        <p:spPr>
          <a:xfrm>
            <a:off x="91440" y="3081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Customer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data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6"/>
          <p:cNvSpPr/>
          <p:nvPr/>
        </p:nvSpPr>
        <p:spPr>
          <a:xfrm>
            <a:off x="539640" y="351144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1" descr="/home/claude/ppt_build/icons/message.png"/>
          <p:cNvPicPr/>
          <p:nvPr/>
        </p:nvPicPr>
        <p:blipFill>
          <a:blip r:embed="rId2"/>
          <a:stretch/>
        </p:blipFill>
        <p:spPr>
          <a:xfrm>
            <a:off x="704160" y="3675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1" name="Text 7"/>
          <p:cNvSpPr/>
          <p:nvPr/>
        </p:nvSpPr>
        <p:spPr>
          <a:xfrm>
            <a:off x="91440" y="4224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Reviews &amp;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tickets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39640" y="465444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3" name="Image 2" descr="/home/claude/ppt_build/icons/trending_up.png"/>
          <p:cNvPicPr/>
          <p:nvPr/>
        </p:nvPicPr>
        <p:blipFill>
          <a:blip r:embed="rId3"/>
          <a:stretch/>
        </p:blipFill>
        <p:spPr>
          <a:xfrm>
            <a:off x="704160" y="481896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54" name="Text 9"/>
          <p:cNvSpPr/>
          <p:nvPr/>
        </p:nvSpPr>
        <p:spPr>
          <a:xfrm>
            <a:off x="91440" y="53676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Revenue &amp;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b6478"/>
                </a:solidFill>
                <a:latin typeface="Calibri"/>
                <a:ea typeface="Calibri"/>
              </a:rPr>
              <a:t>usage metrics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1417320" y="3712320"/>
            <a:ext cx="68544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11"/>
          <p:cNvSpPr/>
          <p:nvPr/>
        </p:nvSpPr>
        <p:spPr>
          <a:xfrm>
            <a:off x="2423160" y="2148840"/>
            <a:ext cx="3245760" cy="324576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 w="0">
            <a:noFill/>
          </a:ln>
          <a:effectLst>
            <a:outerShdw algn="bl" blurRad="127080" dir="5400000" dist="38160" kx="0" ky="0" rotWithShape="0" sx="100000" sy="100000">
              <a:srgbClr val="1e2761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2560320" y="23043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48" strike="noStrike">
                <a:solidFill>
                  <a:srgbClr val="f2a65a"/>
                </a:solidFill>
                <a:latin typeface="Calibri"/>
                <a:ea typeface="Calibri"/>
              </a:rPr>
              <a:t>AI RISK ENGINE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2679120" y="2670120"/>
            <a:ext cx="456840" cy="456840"/>
          </a:xfrm>
          <a:prstGeom prst="ellipse">
            <a:avLst/>
          </a:prstGeom>
          <a:solidFill>
            <a:srgbClr val="33408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Image 3" descr="/home/claude/ppt_build/icons/user_check.png"/>
          <p:cNvPicPr/>
          <p:nvPr/>
        </p:nvPicPr>
        <p:blipFill>
          <a:blip r:embed="rId4"/>
          <a:stretch/>
        </p:blipFill>
        <p:spPr>
          <a:xfrm>
            <a:off x="2782080" y="277308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60" name="Text 14"/>
          <p:cNvSpPr/>
          <p:nvPr/>
        </p:nvSpPr>
        <p:spPr>
          <a:xfrm>
            <a:off x="3200400" y="271584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Churn prediction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15"/>
          <p:cNvSpPr/>
          <p:nvPr/>
        </p:nvSpPr>
        <p:spPr>
          <a:xfrm>
            <a:off x="2679120" y="3310200"/>
            <a:ext cx="456840" cy="456840"/>
          </a:xfrm>
          <a:prstGeom prst="ellipse">
            <a:avLst/>
          </a:prstGeom>
          <a:solidFill>
            <a:srgbClr val="33408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Image 4" descr="/home/claude/ppt_build/icons/message_circle.png"/>
          <p:cNvPicPr/>
          <p:nvPr/>
        </p:nvPicPr>
        <p:blipFill>
          <a:blip r:embed="rId5"/>
          <a:stretch/>
        </p:blipFill>
        <p:spPr>
          <a:xfrm>
            <a:off x="2782080" y="341316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63" name="Text 16"/>
          <p:cNvSpPr/>
          <p:nvPr/>
        </p:nvSpPr>
        <p:spPr>
          <a:xfrm>
            <a:off x="3200400" y="335592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Sentiment analysis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7"/>
          <p:cNvSpPr/>
          <p:nvPr/>
        </p:nvSpPr>
        <p:spPr>
          <a:xfrm>
            <a:off x="2679120" y="3950280"/>
            <a:ext cx="456840" cy="456840"/>
          </a:xfrm>
          <a:prstGeom prst="ellipse">
            <a:avLst/>
          </a:prstGeom>
          <a:solidFill>
            <a:srgbClr val="33408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Image 5" descr="/home/claude/ppt_build/icons/activity.png"/>
          <p:cNvPicPr/>
          <p:nvPr/>
        </p:nvPicPr>
        <p:blipFill>
          <a:blip r:embed="rId6"/>
          <a:stretch/>
        </p:blipFill>
        <p:spPr>
          <a:xfrm>
            <a:off x="2782080" y="405324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66" name="Text 18"/>
          <p:cNvSpPr/>
          <p:nvPr/>
        </p:nvSpPr>
        <p:spPr>
          <a:xfrm>
            <a:off x="3200400" y="399600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Anomaly detection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2679120" y="4590360"/>
            <a:ext cx="456840" cy="456840"/>
          </a:xfrm>
          <a:prstGeom prst="ellipse">
            <a:avLst/>
          </a:prstGeom>
          <a:solidFill>
            <a:srgbClr val="33408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" name="Image 6" descr="/home/claude/ppt_build/icons/trending_up.png"/>
          <p:cNvPicPr/>
          <p:nvPr/>
        </p:nvPicPr>
        <p:blipFill>
          <a:blip r:embed="rId7"/>
          <a:stretch/>
        </p:blipFill>
        <p:spPr>
          <a:xfrm>
            <a:off x="2782080" y="4693320"/>
            <a:ext cx="251280" cy="251280"/>
          </a:xfrm>
          <a:prstGeom prst="rect">
            <a:avLst/>
          </a:prstGeom>
          <a:ln w="0">
            <a:noFill/>
          </a:ln>
        </p:spPr>
      </p:pic>
      <p:sp>
        <p:nvSpPr>
          <p:cNvPr id="69" name="Text 20"/>
          <p:cNvSpPr/>
          <p:nvPr/>
        </p:nvSpPr>
        <p:spPr>
          <a:xfrm>
            <a:off x="3200400" y="4636080"/>
            <a:ext cx="2331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Revenue forecasting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21"/>
          <p:cNvSpPr/>
          <p:nvPr/>
        </p:nvSpPr>
        <p:spPr>
          <a:xfrm>
            <a:off x="5806440" y="3712320"/>
            <a:ext cx="59400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22"/>
          <p:cNvSpPr/>
          <p:nvPr/>
        </p:nvSpPr>
        <p:spPr>
          <a:xfrm>
            <a:off x="6537960" y="2148840"/>
            <a:ext cx="2331360" cy="3245760"/>
          </a:xfrm>
          <a:prstGeom prst="roundRect">
            <a:avLst>
              <a:gd name="adj" fmla="val 3922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23"/>
          <p:cNvSpPr/>
          <p:nvPr/>
        </p:nvSpPr>
        <p:spPr>
          <a:xfrm>
            <a:off x="7310520" y="2583360"/>
            <a:ext cx="776880" cy="77688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3" name="Image 7" descr="/home/claude/ppt_build/icons/target.png"/>
          <p:cNvPicPr/>
          <p:nvPr/>
        </p:nvPicPr>
        <p:blipFill>
          <a:blip r:embed="rId8"/>
          <a:stretch/>
        </p:blipFill>
        <p:spPr>
          <a:xfrm>
            <a:off x="7504920" y="2777400"/>
            <a:ext cx="388440" cy="388440"/>
          </a:xfrm>
          <a:prstGeom prst="rect">
            <a:avLst/>
          </a:prstGeom>
          <a:ln w="0">
            <a:noFill/>
          </a:ln>
        </p:spPr>
      </p:pic>
      <p:sp>
        <p:nvSpPr>
          <p:cNvPr id="74" name="Text 24"/>
          <p:cNvSpPr/>
          <p:nvPr/>
        </p:nvSpPr>
        <p:spPr>
          <a:xfrm>
            <a:off x="6675120" y="342900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2761"/>
                </a:solidFill>
                <a:latin typeface="Cambria"/>
                <a:ea typeface="Cambria"/>
              </a:rPr>
              <a:t>Risk Score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5"/>
          <p:cNvSpPr/>
          <p:nvPr/>
        </p:nvSpPr>
        <p:spPr>
          <a:xfrm>
            <a:off x="6720840" y="3794760"/>
            <a:ext cx="1965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0 – 100, with SHAP-based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top contributing factors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and recommended actions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6"/>
          <p:cNvSpPr/>
          <p:nvPr/>
        </p:nvSpPr>
        <p:spPr>
          <a:xfrm>
            <a:off x="9006840" y="3712320"/>
            <a:ext cx="5025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27"/>
          <p:cNvSpPr/>
          <p:nvPr/>
        </p:nvSpPr>
        <p:spPr>
          <a:xfrm>
            <a:off x="9646920" y="2148840"/>
            <a:ext cx="1965600" cy="3245760"/>
          </a:xfrm>
          <a:prstGeom prst="roundRect">
            <a:avLst>
              <a:gd name="adj" fmla="val 465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Shape 28"/>
          <p:cNvSpPr/>
          <p:nvPr/>
        </p:nvSpPr>
        <p:spPr>
          <a:xfrm>
            <a:off x="10259640" y="2606040"/>
            <a:ext cx="731160" cy="73116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Image 8" descr="/home/claude/ppt_build/icons/monitor.png"/>
          <p:cNvPicPr/>
          <p:nvPr/>
        </p:nvPicPr>
        <p:blipFill>
          <a:blip r:embed="rId9"/>
          <a:stretch/>
        </p:blipFill>
        <p:spPr>
          <a:xfrm>
            <a:off x="10442520" y="278892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80" name="Text 29"/>
          <p:cNvSpPr/>
          <p:nvPr/>
        </p:nvSpPr>
        <p:spPr>
          <a:xfrm>
            <a:off x="9738360" y="34290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mbria"/>
                <a:ea typeface="Cambria"/>
              </a:rPr>
              <a:t>Live Dashboard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30"/>
          <p:cNvSpPr/>
          <p:nvPr/>
        </p:nvSpPr>
        <p:spPr>
          <a:xfrm>
            <a:off x="9738360" y="3977640"/>
            <a:ext cx="17827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Per-company view,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updated on demand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32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KEY FEATURES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Eight capabilities, one connected system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54864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722520" y="177408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" name="Image 0" descr="/home/claude/ppt_build/icons/user_check.png"/>
          <p:cNvPicPr/>
          <p:nvPr/>
        </p:nvPicPr>
        <p:blipFill>
          <a:blip r:embed="rId1"/>
          <a:stretch/>
        </p:blipFill>
        <p:spPr>
          <a:xfrm>
            <a:off x="887040" y="1938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1417320" y="176472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Churn Prediction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731520" y="253296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Flags customers likely to leave, using tenure, usage and support-ticket patterns.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338328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3557160" y="177408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Image 1" descr="/home/claude/ppt_build/icons/message_circle.png"/>
          <p:cNvPicPr/>
          <p:nvPr/>
        </p:nvPicPr>
        <p:blipFill>
          <a:blip r:embed="rId2"/>
          <a:stretch/>
        </p:blipFill>
        <p:spPr>
          <a:xfrm>
            <a:off x="3721680" y="1938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94" name="Text 8"/>
          <p:cNvSpPr/>
          <p:nvPr/>
        </p:nvSpPr>
        <p:spPr>
          <a:xfrm>
            <a:off x="4251960" y="176472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Sentiment Analysis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9"/>
          <p:cNvSpPr/>
          <p:nvPr/>
        </p:nvSpPr>
        <p:spPr>
          <a:xfrm>
            <a:off x="3566160" y="253296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Scores reviews and support tickets to surface how customers really feel.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621792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6391800" y="177408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Image 2" descr="/home/claude/ppt_build/icons/activity.png"/>
          <p:cNvPicPr/>
          <p:nvPr/>
        </p:nvPicPr>
        <p:blipFill>
          <a:blip r:embed="rId3"/>
          <a:stretch/>
        </p:blipFill>
        <p:spPr>
          <a:xfrm>
            <a:off x="6556320" y="1938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99" name="Text 12"/>
          <p:cNvSpPr/>
          <p:nvPr/>
        </p:nvSpPr>
        <p:spPr>
          <a:xfrm>
            <a:off x="7086600" y="176472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Anomaly Detection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3"/>
          <p:cNvSpPr/>
          <p:nvPr/>
        </p:nvSpPr>
        <p:spPr>
          <a:xfrm>
            <a:off x="6400800" y="253296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Catches unusual dips or spikes in revenue and active users automatically.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905256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15"/>
          <p:cNvSpPr/>
          <p:nvPr/>
        </p:nvSpPr>
        <p:spPr>
          <a:xfrm>
            <a:off x="9226440" y="177408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Image 3" descr="/home/claude/ppt_build/icons/trending_up.png"/>
          <p:cNvPicPr/>
          <p:nvPr/>
        </p:nvPicPr>
        <p:blipFill>
          <a:blip r:embed="rId4"/>
          <a:stretch/>
        </p:blipFill>
        <p:spPr>
          <a:xfrm>
            <a:off x="9390960" y="193860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04" name="Text 16"/>
          <p:cNvSpPr/>
          <p:nvPr/>
        </p:nvSpPr>
        <p:spPr>
          <a:xfrm>
            <a:off x="9921240" y="176472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Revenue Forecasting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7"/>
          <p:cNvSpPr/>
          <p:nvPr/>
        </p:nvSpPr>
        <p:spPr>
          <a:xfrm>
            <a:off x="9235440" y="253296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Projects future revenue and DAU with a confidence range, not just a point guess.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8"/>
          <p:cNvSpPr/>
          <p:nvPr/>
        </p:nvSpPr>
        <p:spPr>
          <a:xfrm>
            <a:off x="54864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9"/>
          <p:cNvSpPr/>
          <p:nvPr/>
        </p:nvSpPr>
        <p:spPr>
          <a:xfrm>
            <a:off x="722520" y="399600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4" descr="/home/claude/ppt_build/icons/target.png"/>
          <p:cNvPicPr/>
          <p:nvPr/>
        </p:nvPicPr>
        <p:blipFill>
          <a:blip r:embed="rId5"/>
          <a:stretch/>
        </p:blipFill>
        <p:spPr>
          <a:xfrm>
            <a:off x="887040" y="41605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09" name="Text 20"/>
          <p:cNvSpPr/>
          <p:nvPr/>
        </p:nvSpPr>
        <p:spPr>
          <a:xfrm>
            <a:off x="1417320" y="398664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Composite Risk Score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1"/>
          <p:cNvSpPr/>
          <p:nvPr/>
        </p:nvSpPr>
        <p:spPr>
          <a:xfrm>
            <a:off x="731520" y="475488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Combines all four signals into one 0-100 score per company.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22"/>
          <p:cNvSpPr/>
          <p:nvPr/>
        </p:nvSpPr>
        <p:spPr>
          <a:xfrm>
            <a:off x="338328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23"/>
          <p:cNvSpPr/>
          <p:nvPr/>
        </p:nvSpPr>
        <p:spPr>
          <a:xfrm>
            <a:off x="3557160" y="399600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3" name="Image 5" descr="/home/claude/ppt_build/icons/eye.png"/>
          <p:cNvPicPr/>
          <p:nvPr/>
        </p:nvPicPr>
        <p:blipFill>
          <a:blip r:embed="rId6"/>
          <a:stretch/>
        </p:blipFill>
        <p:spPr>
          <a:xfrm>
            <a:off x="3721680" y="41605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14" name="Text 24"/>
          <p:cNvSpPr/>
          <p:nvPr/>
        </p:nvSpPr>
        <p:spPr>
          <a:xfrm>
            <a:off x="4251960" y="398664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Explainable AI (SHAP)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5"/>
          <p:cNvSpPr/>
          <p:nvPr/>
        </p:nvSpPr>
        <p:spPr>
          <a:xfrm>
            <a:off x="3566160" y="475488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Shows exactly which factors are driving the score — never a black box.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26"/>
          <p:cNvSpPr/>
          <p:nvPr/>
        </p:nvSpPr>
        <p:spPr>
          <a:xfrm>
            <a:off x="621792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27"/>
          <p:cNvSpPr/>
          <p:nvPr/>
        </p:nvSpPr>
        <p:spPr>
          <a:xfrm>
            <a:off x="6391800" y="399600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8" name="Image 6" descr="/home/claude/ppt_build/icons/check_square.png"/>
          <p:cNvPicPr/>
          <p:nvPr/>
        </p:nvPicPr>
        <p:blipFill>
          <a:blip r:embed="rId7"/>
          <a:stretch/>
        </p:blipFill>
        <p:spPr>
          <a:xfrm>
            <a:off x="6556320" y="41605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19" name="Text 28"/>
          <p:cNvSpPr/>
          <p:nvPr/>
        </p:nvSpPr>
        <p:spPr>
          <a:xfrm>
            <a:off x="7086600" y="398664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Recommendations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6400800" y="475488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Turns risk drivers into concrete, rule-based next actions for the team.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Shape 30"/>
          <p:cNvSpPr/>
          <p:nvPr/>
        </p:nvSpPr>
        <p:spPr>
          <a:xfrm>
            <a:off x="905256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31"/>
          <p:cNvSpPr/>
          <p:nvPr/>
        </p:nvSpPr>
        <p:spPr>
          <a:xfrm>
            <a:off x="9226440" y="3996000"/>
            <a:ext cx="658080" cy="65808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3" name="Image 7" descr="/home/claude/ppt_build/icons/upload.png"/>
          <p:cNvPicPr/>
          <p:nvPr/>
        </p:nvPicPr>
        <p:blipFill>
          <a:blip r:embed="rId8"/>
          <a:stretch/>
        </p:blipFill>
        <p:spPr>
          <a:xfrm>
            <a:off x="9390960" y="4160520"/>
            <a:ext cx="328680" cy="328680"/>
          </a:xfrm>
          <a:prstGeom prst="rect">
            <a:avLst/>
          </a:prstGeom>
          <a:ln w="0">
            <a:noFill/>
          </a:ln>
        </p:spPr>
      </p:pic>
      <p:sp>
        <p:nvSpPr>
          <p:cNvPr id="124" name="Text 32"/>
          <p:cNvSpPr/>
          <p:nvPr/>
        </p:nvSpPr>
        <p:spPr>
          <a:xfrm>
            <a:off x="9921240" y="3986640"/>
            <a:ext cx="15631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1e2761"/>
                </a:solidFill>
                <a:latin typeface="Cambria"/>
                <a:ea typeface="Cambria"/>
              </a:rPr>
              <a:t>Self-Serve Upload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3"/>
          <p:cNvSpPr/>
          <p:nvPr/>
        </p:nvSpPr>
        <p:spPr>
          <a:xfrm>
            <a:off x="9235440" y="4754880"/>
            <a:ext cx="2185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Upload a CSV and get a full company risk view back in seconds.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4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5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TECHNOLOGY STACK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Proven, production-grade tools at every layer</a:t>
            </a:r>
            <a:endParaRPr b="0" lang="en-IN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54864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1467720" y="181044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Image 0" descr="/home/claude/ppt_build/icons/database.png"/>
          <p:cNvPicPr/>
          <p:nvPr/>
        </p:nvPicPr>
        <p:blipFill>
          <a:blip r:embed="rId1"/>
          <a:stretch/>
        </p:blipFill>
        <p:spPr>
          <a:xfrm>
            <a:off x="1645920" y="198900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33" name="Text 4"/>
          <p:cNvSpPr/>
          <p:nvPr/>
        </p:nvSpPr>
        <p:spPr>
          <a:xfrm>
            <a:off x="694800" y="264276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Data &amp; Core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694800" y="301752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Python · Pandas · NumPy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6"/>
          <p:cNvSpPr/>
          <p:nvPr/>
        </p:nvSpPr>
        <p:spPr>
          <a:xfrm>
            <a:off x="338328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4302360" y="181044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Image 1" descr="/home/claude/ppt_build/icons/cpu.png"/>
          <p:cNvPicPr/>
          <p:nvPr/>
        </p:nvPicPr>
        <p:blipFill>
          <a:blip r:embed="rId2"/>
          <a:stretch/>
        </p:blipFill>
        <p:spPr>
          <a:xfrm>
            <a:off x="4480560" y="198900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38" name="Text 8"/>
          <p:cNvSpPr/>
          <p:nvPr/>
        </p:nvSpPr>
        <p:spPr>
          <a:xfrm>
            <a:off x="3529440" y="264276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Machine Learning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3529440" y="301752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scikit-learn · XGBoost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10"/>
          <p:cNvSpPr/>
          <p:nvPr/>
        </p:nvSpPr>
        <p:spPr>
          <a:xfrm>
            <a:off x="621792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7137000" y="181044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2" descr="/home/claude/ppt_build/icons/message.png"/>
          <p:cNvPicPr/>
          <p:nvPr/>
        </p:nvPicPr>
        <p:blipFill>
          <a:blip r:embed="rId3"/>
          <a:stretch/>
        </p:blipFill>
        <p:spPr>
          <a:xfrm>
            <a:off x="7315200" y="198900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43" name="Text 12"/>
          <p:cNvSpPr/>
          <p:nvPr/>
        </p:nvSpPr>
        <p:spPr>
          <a:xfrm>
            <a:off x="6364080" y="264276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NLP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6364080" y="301752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HuggingFace DistilBERT · TF-IDF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14"/>
          <p:cNvSpPr/>
          <p:nvPr/>
        </p:nvSpPr>
        <p:spPr>
          <a:xfrm>
            <a:off x="9052560" y="160020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15"/>
          <p:cNvSpPr/>
          <p:nvPr/>
        </p:nvSpPr>
        <p:spPr>
          <a:xfrm>
            <a:off x="9971640" y="181044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Image 3" descr="/home/claude/ppt_build/icons/activity.png"/>
          <p:cNvPicPr/>
          <p:nvPr/>
        </p:nvPicPr>
        <p:blipFill>
          <a:blip r:embed="rId4"/>
          <a:stretch/>
        </p:blipFill>
        <p:spPr>
          <a:xfrm>
            <a:off x="10149840" y="198900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48" name="Text 16"/>
          <p:cNvSpPr/>
          <p:nvPr/>
        </p:nvSpPr>
        <p:spPr>
          <a:xfrm>
            <a:off x="9198720" y="264276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Anomaly &amp; Forecasting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17"/>
          <p:cNvSpPr/>
          <p:nvPr/>
        </p:nvSpPr>
        <p:spPr>
          <a:xfrm>
            <a:off x="9198720" y="301752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Isolation Forest · Prophet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18"/>
          <p:cNvSpPr/>
          <p:nvPr/>
        </p:nvSpPr>
        <p:spPr>
          <a:xfrm>
            <a:off x="54864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19"/>
          <p:cNvSpPr/>
          <p:nvPr/>
        </p:nvSpPr>
        <p:spPr>
          <a:xfrm>
            <a:off x="1467720" y="403236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2" name="Image 4" descr="/home/claude/ppt_build/icons/eye.png"/>
          <p:cNvPicPr/>
          <p:nvPr/>
        </p:nvPicPr>
        <p:blipFill>
          <a:blip r:embed="rId5"/>
          <a:stretch/>
        </p:blipFill>
        <p:spPr>
          <a:xfrm>
            <a:off x="1645920" y="421092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53" name="Text 20"/>
          <p:cNvSpPr/>
          <p:nvPr/>
        </p:nvSpPr>
        <p:spPr>
          <a:xfrm>
            <a:off x="694800" y="486468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Explainable AI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694800" y="523944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SHAP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338328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23"/>
          <p:cNvSpPr/>
          <p:nvPr/>
        </p:nvSpPr>
        <p:spPr>
          <a:xfrm>
            <a:off x="4302360" y="403236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5" descr="/home/claude/ppt_build/icons/monitor.png"/>
          <p:cNvPicPr/>
          <p:nvPr/>
        </p:nvPicPr>
        <p:blipFill>
          <a:blip r:embed="rId6"/>
          <a:stretch/>
        </p:blipFill>
        <p:spPr>
          <a:xfrm>
            <a:off x="4480560" y="421092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58" name="Text 24"/>
          <p:cNvSpPr/>
          <p:nvPr/>
        </p:nvSpPr>
        <p:spPr>
          <a:xfrm>
            <a:off x="3529440" y="486468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Dashboard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3529440" y="523944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Streamlit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621792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7137000" y="403236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6" descr="/home/claude/ppt_build/icons/server.png"/>
          <p:cNvPicPr/>
          <p:nvPr/>
        </p:nvPicPr>
        <p:blipFill>
          <a:blip r:embed="rId7"/>
          <a:stretch/>
        </p:blipFill>
        <p:spPr>
          <a:xfrm>
            <a:off x="7315200" y="421092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63" name="Text 28"/>
          <p:cNvSpPr/>
          <p:nvPr/>
        </p:nvSpPr>
        <p:spPr>
          <a:xfrm>
            <a:off x="6364080" y="486468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Scale-Ready Backend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29"/>
          <p:cNvSpPr/>
          <p:nvPr/>
        </p:nvSpPr>
        <p:spPr>
          <a:xfrm>
            <a:off x="6364080" y="523944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FastAPI · PostgreSQL · MLflow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30"/>
          <p:cNvSpPr/>
          <p:nvPr/>
        </p:nvSpPr>
        <p:spPr>
          <a:xfrm>
            <a:off x="9052560" y="3822120"/>
            <a:ext cx="2550960" cy="196560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31"/>
          <p:cNvSpPr/>
          <p:nvPr/>
        </p:nvSpPr>
        <p:spPr>
          <a:xfrm>
            <a:off x="9971640" y="4032360"/>
            <a:ext cx="712800" cy="71280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7" descr="/home/claude/ppt_build/icons/layout.png"/>
          <p:cNvPicPr/>
          <p:nvPr/>
        </p:nvPicPr>
        <p:blipFill>
          <a:blip r:embed="rId8"/>
          <a:stretch/>
        </p:blipFill>
        <p:spPr>
          <a:xfrm>
            <a:off x="10149840" y="4210920"/>
            <a:ext cx="356400" cy="356400"/>
          </a:xfrm>
          <a:prstGeom prst="rect">
            <a:avLst/>
          </a:prstGeom>
          <a:ln w="0">
            <a:noFill/>
          </a:ln>
        </p:spPr>
      </p:pic>
      <p:sp>
        <p:nvSpPr>
          <p:cNvPr id="168" name="Text 32"/>
          <p:cNvSpPr/>
          <p:nvPr/>
        </p:nvSpPr>
        <p:spPr>
          <a:xfrm>
            <a:off x="9198720" y="4864680"/>
            <a:ext cx="2258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mbria"/>
                <a:ea typeface="Cambria"/>
              </a:rPr>
              <a:t>Deployment</a:t>
            </a:r>
            <a:endParaRPr b="0" lang="en-IN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Text 33"/>
          <p:cNvSpPr/>
          <p:nvPr/>
        </p:nvSpPr>
        <p:spPr>
          <a:xfrm>
            <a:off x="9198720" y="5239440"/>
            <a:ext cx="225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cadcfc"/>
                </a:solidFill>
                <a:latin typeface="Calibri"/>
                <a:ea typeface="Calibri"/>
              </a:rPr>
              <a:t>Docker · GitHub Actions CI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34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5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cadcfc"/>
                </a:solidFill>
                <a:latin typeface="Calibri"/>
                <a:ea typeface="Calibri"/>
              </a:rPr>
              <a:t>5</a:t>
            </a:r>
            <a:endParaRPr b="0" lang="en-IN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EXPECTED IMPACT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Built against measurable engineering targets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548640" y="1371600"/>
            <a:ext cx="108810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5b6478"/>
                </a:solidFill>
                <a:latin typeface="Calibri"/>
                <a:ea typeface="Calibri"/>
              </a:rPr>
              <a:t>StartupShield AI is designed so every module has to clear a concrete bar before it ships — so the impact it promises is grounded, not aspirational.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548640" y="2286000"/>
            <a:ext cx="2550960" cy="173700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731520" y="283464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0" descr="/home/claude/ppt_build/icons/user_check.png"/>
          <p:cNvPicPr/>
          <p:nvPr/>
        </p:nvPicPr>
        <p:blipFill>
          <a:blip r:embed="rId1"/>
          <a:stretch/>
        </p:blipFill>
        <p:spPr>
          <a:xfrm>
            <a:off x="891720" y="29948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78" name="Text 5"/>
          <p:cNvSpPr/>
          <p:nvPr/>
        </p:nvSpPr>
        <p:spPr>
          <a:xfrm>
            <a:off x="1463040" y="2487240"/>
            <a:ext cx="149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a65a"/>
                </a:solidFill>
                <a:latin typeface="Cambria"/>
                <a:ea typeface="Cambria"/>
              </a:rPr>
              <a:t>0.80+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1463040" y="3063240"/>
            <a:ext cx="149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Churn model ROC-AUC target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3383280" y="2286000"/>
            <a:ext cx="2550960" cy="173700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3566160" y="283464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1" descr="/home/claude/ppt_build/icons/message_circle.png"/>
          <p:cNvPicPr/>
          <p:nvPr/>
        </p:nvPicPr>
        <p:blipFill>
          <a:blip r:embed="rId2"/>
          <a:stretch/>
        </p:blipFill>
        <p:spPr>
          <a:xfrm>
            <a:off x="3726360" y="29948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83" name="Text 9"/>
          <p:cNvSpPr/>
          <p:nvPr/>
        </p:nvSpPr>
        <p:spPr>
          <a:xfrm>
            <a:off x="4297680" y="2487240"/>
            <a:ext cx="149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a65a"/>
                </a:solidFill>
                <a:latin typeface="Cambria"/>
                <a:ea typeface="Cambria"/>
              </a:rPr>
              <a:t>0.75+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4297680" y="3063240"/>
            <a:ext cx="149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Sentiment model macro-F1 target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6217920" y="2286000"/>
            <a:ext cx="2550960" cy="173700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Shape 12"/>
          <p:cNvSpPr/>
          <p:nvPr/>
        </p:nvSpPr>
        <p:spPr>
          <a:xfrm>
            <a:off x="6400800" y="283464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7" name="Image 2" descr="/home/claude/ppt_build/icons/zap.png"/>
          <p:cNvPicPr/>
          <p:nvPr/>
        </p:nvPicPr>
        <p:blipFill>
          <a:blip r:embed="rId3"/>
          <a:stretch/>
        </p:blipFill>
        <p:spPr>
          <a:xfrm>
            <a:off x="6561000" y="29948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88" name="Text 13"/>
          <p:cNvSpPr/>
          <p:nvPr/>
        </p:nvSpPr>
        <p:spPr>
          <a:xfrm>
            <a:off x="7132320" y="2487240"/>
            <a:ext cx="149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a65a"/>
                </a:solidFill>
                <a:latin typeface="Cambria"/>
                <a:ea typeface="Cambria"/>
              </a:rPr>
              <a:t>&lt; 2 sec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7132320" y="3063240"/>
            <a:ext cx="149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Model inference time per prediction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9052560" y="2286000"/>
            <a:ext cx="2550960" cy="1737000"/>
          </a:xfrm>
          <a:prstGeom prst="roundRect">
            <a:avLst>
              <a:gd name="adj" fmla="val 4211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9235440" y="283464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2" name="Image 3" descr="/home/claude/ppt_build/icons/monitor.png"/>
          <p:cNvPicPr/>
          <p:nvPr/>
        </p:nvPicPr>
        <p:blipFill>
          <a:blip r:embed="rId4"/>
          <a:stretch/>
        </p:blipFill>
        <p:spPr>
          <a:xfrm>
            <a:off x="9395640" y="2994840"/>
            <a:ext cx="319680" cy="319680"/>
          </a:xfrm>
          <a:prstGeom prst="rect">
            <a:avLst/>
          </a:prstGeom>
          <a:ln w="0">
            <a:noFill/>
          </a:ln>
        </p:spPr>
      </p:pic>
      <p:sp>
        <p:nvSpPr>
          <p:cNvPr id="193" name="Text 17"/>
          <p:cNvSpPr/>
          <p:nvPr/>
        </p:nvSpPr>
        <p:spPr>
          <a:xfrm>
            <a:off x="9966960" y="2487240"/>
            <a:ext cx="14994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a65a"/>
                </a:solidFill>
                <a:latin typeface="Cambria"/>
                <a:ea typeface="Cambria"/>
              </a:rPr>
              <a:t>&lt; 5 sec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9966960" y="3063240"/>
            <a:ext cx="1499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b6478"/>
                </a:solidFill>
                <a:latin typeface="Calibri"/>
                <a:ea typeface="Calibri"/>
              </a:rPr>
              <a:t>Dashboard load time, per company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548640" y="4343400"/>
            <a:ext cx="5486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1e2761"/>
                </a:solidFill>
                <a:latin typeface="Calibri"/>
                <a:ea typeface="Calibri"/>
              </a:rPr>
              <a:t>BEYOND THE BENCHMARKS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548640" y="4809600"/>
            <a:ext cx="109440" cy="10944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868680" y="464508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478"/>
                </a:solidFill>
                <a:latin typeface="Calibri"/>
                <a:ea typeface="Calibri"/>
              </a:rPr>
              <a:t>Founders see risk building weeks before it shows up in the monthly numbers, not after.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2"/>
          <p:cNvSpPr/>
          <p:nvPr/>
        </p:nvSpPr>
        <p:spPr>
          <a:xfrm>
            <a:off x="548640" y="5376600"/>
            <a:ext cx="109440" cy="10944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868680" y="521208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478"/>
                </a:solidFill>
                <a:latin typeface="Calibri"/>
                <a:ea typeface="Calibri"/>
              </a:rPr>
              <a:t>One dashboard replaces four disconnected spreadsheets and manual review reading.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24"/>
          <p:cNvSpPr/>
          <p:nvPr/>
        </p:nvSpPr>
        <p:spPr>
          <a:xfrm>
            <a:off x="548640" y="5943600"/>
            <a:ext cx="109440" cy="109440"/>
          </a:xfrm>
          <a:prstGeom prst="ellipse">
            <a:avLst/>
          </a:prstGeom>
          <a:solidFill>
            <a:srgbClr val="f2a65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5"/>
          <p:cNvSpPr/>
          <p:nvPr/>
        </p:nvSpPr>
        <p:spPr>
          <a:xfrm>
            <a:off x="868680" y="5779080"/>
            <a:ext cx="1042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5b6478"/>
                </a:solidFill>
                <a:latin typeface="Calibri"/>
                <a:ea typeface="Calibri"/>
              </a:rPr>
              <a:t>SHAP-backed explanations mean every alert comes with a reason a team can act 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UNIQUENESS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Why this isn't just another churn predictor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548640" y="1600200"/>
            <a:ext cx="2550960" cy="397728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1389960" y="187920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8" name="Image 0" descr="/home/claude/ppt_build/icons/layers.png"/>
          <p:cNvPicPr/>
          <p:nvPr/>
        </p:nvPicPr>
        <p:blipFill>
          <a:blip r:embed="rId1"/>
          <a:stretch/>
        </p:blipFill>
        <p:spPr>
          <a:xfrm>
            <a:off x="1607040" y="209628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713160" y="2971800"/>
            <a:ext cx="222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mbria"/>
                <a:ea typeface="Cambria"/>
              </a:rPr>
              <a:t>True signal fusion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749880" y="365760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8"/>
                </a:solidFill>
                <a:latin typeface="Calibri"/>
                <a:ea typeface="Calibri"/>
              </a:rPr>
              <a:t>Most tools predict one thing. StartupShield AI fuses churn, sentiment, anomalies and forecasts into a single, weighted Risk Score.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Shape 6"/>
          <p:cNvSpPr/>
          <p:nvPr/>
        </p:nvSpPr>
        <p:spPr>
          <a:xfrm>
            <a:off x="3383280" y="1600200"/>
            <a:ext cx="2550960" cy="397728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4224600" y="187920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3" name="Image 1" descr="/home/claude/ppt_build/icons/eye.png"/>
          <p:cNvPicPr/>
          <p:nvPr/>
        </p:nvPicPr>
        <p:blipFill>
          <a:blip r:embed="rId2"/>
          <a:stretch/>
        </p:blipFill>
        <p:spPr>
          <a:xfrm>
            <a:off x="4441680" y="209628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14" name="Text 8"/>
          <p:cNvSpPr/>
          <p:nvPr/>
        </p:nvSpPr>
        <p:spPr>
          <a:xfrm>
            <a:off x="3547800" y="2971800"/>
            <a:ext cx="222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mbria"/>
                <a:ea typeface="Cambria"/>
              </a:rPr>
              <a:t>Explainability by design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3584520" y="365760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8"/>
                </a:solidFill>
                <a:latin typeface="Calibri"/>
                <a:ea typeface="Calibri"/>
              </a:rPr>
              <a:t>SHAP-based reasoning is built into the core pipeline from day one, not bolted on as an afterthought.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6217920" y="1600200"/>
            <a:ext cx="2550960" cy="397728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7059240" y="187920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8" name="Image 2" descr="/home/claude/ppt_build/icons/tool.png"/>
          <p:cNvPicPr/>
          <p:nvPr/>
        </p:nvPicPr>
        <p:blipFill>
          <a:blip r:embed="rId3"/>
          <a:stretch/>
        </p:blipFill>
        <p:spPr>
          <a:xfrm>
            <a:off x="7276320" y="209628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19" name="Text 12"/>
          <p:cNvSpPr/>
          <p:nvPr/>
        </p:nvSpPr>
        <p:spPr>
          <a:xfrm>
            <a:off x="6382440" y="2971800"/>
            <a:ext cx="222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mbria"/>
                <a:ea typeface="Cambria"/>
              </a:rPr>
              <a:t>Action, not just prediction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3"/>
          <p:cNvSpPr/>
          <p:nvPr/>
        </p:nvSpPr>
        <p:spPr>
          <a:xfrm>
            <a:off x="6419160" y="365760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8"/>
                </a:solidFill>
                <a:latin typeface="Calibri"/>
                <a:ea typeface="Calibri"/>
              </a:rPr>
              <a:t>Every risk driver maps to a concrete, rule-based recommendation — the system tells you what to do next.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9052560" y="1600200"/>
            <a:ext cx="2550960" cy="3977280"/>
          </a:xfrm>
          <a:prstGeom prst="roundRect">
            <a:avLst>
              <a:gd name="adj" fmla="val 3226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15"/>
          <p:cNvSpPr/>
          <p:nvPr/>
        </p:nvSpPr>
        <p:spPr>
          <a:xfrm>
            <a:off x="9893880" y="1879200"/>
            <a:ext cx="868320" cy="868320"/>
          </a:xfrm>
          <a:prstGeom prst="ellipse">
            <a:avLst/>
          </a:prstGeom>
          <a:solidFill>
            <a:srgbClr val="1e2761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3" name="Image 3" descr="/home/claude/ppt_build/icons/package.png"/>
          <p:cNvPicPr/>
          <p:nvPr/>
        </p:nvPicPr>
        <p:blipFill>
          <a:blip r:embed="rId4"/>
          <a:stretch/>
        </p:blipFill>
        <p:spPr>
          <a:xfrm>
            <a:off x="10110960" y="2096280"/>
            <a:ext cx="434160" cy="434160"/>
          </a:xfrm>
          <a:prstGeom prst="rect">
            <a:avLst/>
          </a:prstGeom>
          <a:ln w="0">
            <a:noFill/>
          </a:ln>
        </p:spPr>
      </p:pic>
      <p:sp>
        <p:nvSpPr>
          <p:cNvPr id="224" name="Text 16"/>
          <p:cNvSpPr/>
          <p:nvPr/>
        </p:nvSpPr>
        <p:spPr>
          <a:xfrm>
            <a:off x="9217080" y="2971800"/>
            <a:ext cx="2221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1e2761"/>
                </a:solidFill>
                <a:latin typeface="Cambria"/>
                <a:ea typeface="Cambria"/>
              </a:rPr>
              <a:t>Demo-ready on synthetic data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7"/>
          <p:cNvSpPr/>
          <p:nvPr/>
        </p:nvSpPr>
        <p:spPr>
          <a:xfrm>
            <a:off x="9253800" y="3657600"/>
            <a:ext cx="214848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b6478"/>
                </a:solidFill>
                <a:latin typeface="Calibri"/>
                <a:ea typeface="Calibri"/>
              </a:rPr>
              <a:t>Fully functional without any real customer data, so it's easy to trust, test and scale into a real deployment.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18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19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199" strike="noStrike">
                <a:solidFill>
                  <a:srgbClr val="f2a65a"/>
                </a:solidFill>
                <a:latin typeface="Calibri"/>
                <a:ea typeface="Calibri"/>
              </a:rPr>
              <a:t>PROJECT ROADMAP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658440"/>
            <a:ext cx="105152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e2761"/>
                </a:solidFill>
                <a:latin typeface="Cambria"/>
                <a:ea typeface="Cambria"/>
              </a:rPr>
              <a:t>Thirteen weeks from empty repo to live demo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548640" y="137160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5b6478"/>
                </a:solidFill>
                <a:latin typeface="Calibri"/>
                <a:ea typeface="Calibri"/>
              </a:rPr>
              <a:t>A realistic, phase-by-phase plan across four stages — each one ending in a concrete, testable deliverable.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3"/>
          <p:cNvSpPr/>
          <p:nvPr/>
        </p:nvSpPr>
        <p:spPr>
          <a:xfrm>
            <a:off x="868680" y="3429000"/>
            <a:ext cx="10469880" cy="360"/>
          </a:xfrm>
          <a:prstGeom prst="line">
            <a:avLst/>
          </a:prstGeom>
          <a:ln w="3810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1929240" y="3300840"/>
            <a:ext cx="255600" cy="2556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1929240" y="32871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7"/>
                </a:solidFill>
                <a:latin typeface="Calibri"/>
                <a:ea typeface="Calibri"/>
              </a:rPr>
              <a:t>1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6"/>
          <p:cNvSpPr/>
          <p:nvPr/>
        </p:nvSpPr>
        <p:spPr>
          <a:xfrm>
            <a:off x="868680" y="1828800"/>
            <a:ext cx="2377080" cy="127980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7"/>
          <p:cNvSpPr/>
          <p:nvPr/>
        </p:nvSpPr>
        <p:spPr>
          <a:xfrm>
            <a:off x="1033200" y="1920240"/>
            <a:ext cx="204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2a65a"/>
                </a:solidFill>
                <a:latin typeface="Calibri"/>
                <a:ea typeface="Calibri"/>
              </a:rPr>
              <a:t>WK 1-2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1033200" y="2148840"/>
            <a:ext cx="204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Foundation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1033200" y="2487240"/>
            <a:ext cx="2048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8"/>
                </a:solidFill>
                <a:latin typeface="Calibri"/>
                <a:ea typeface="Calibri"/>
              </a:rPr>
              <a:t>Repo setup, all 3 datasets ready, EDA + preprocessing pipeline.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10"/>
          <p:cNvSpPr/>
          <p:nvPr/>
        </p:nvSpPr>
        <p:spPr>
          <a:xfrm>
            <a:off x="2057400" y="3556800"/>
            <a:ext cx="360" cy="274320"/>
          </a:xfrm>
          <a:prstGeom prst="line">
            <a:avLst/>
          </a:prstGeom>
          <a:ln w="190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11"/>
          <p:cNvSpPr/>
          <p:nvPr/>
        </p:nvSpPr>
        <p:spPr>
          <a:xfrm>
            <a:off x="4626720" y="3300840"/>
            <a:ext cx="255600" cy="2556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4626720" y="32871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7"/>
                </a:solidFill>
                <a:latin typeface="Calibri"/>
                <a:ea typeface="Calibri"/>
              </a:rPr>
              <a:t>2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3"/>
          <p:cNvSpPr/>
          <p:nvPr/>
        </p:nvSpPr>
        <p:spPr>
          <a:xfrm>
            <a:off x="3566160" y="1828800"/>
            <a:ext cx="2377080" cy="127980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14"/>
          <p:cNvSpPr/>
          <p:nvPr/>
        </p:nvSpPr>
        <p:spPr>
          <a:xfrm>
            <a:off x="3730680" y="1920240"/>
            <a:ext cx="204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2a65a"/>
                </a:solidFill>
                <a:latin typeface="Calibri"/>
                <a:ea typeface="Calibri"/>
              </a:rPr>
              <a:t>WK 3-9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3730680" y="2148840"/>
            <a:ext cx="204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Core AI Modules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6"/>
          <p:cNvSpPr/>
          <p:nvPr/>
        </p:nvSpPr>
        <p:spPr>
          <a:xfrm>
            <a:off x="3730680" y="2487240"/>
            <a:ext cx="2048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8"/>
                </a:solidFill>
                <a:latin typeface="Calibri"/>
                <a:ea typeface="Calibri"/>
              </a:rPr>
              <a:t>Churn, sentiment, anomaly and forecasting models trained &amp; evaluated.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17"/>
          <p:cNvSpPr/>
          <p:nvPr/>
        </p:nvSpPr>
        <p:spPr>
          <a:xfrm>
            <a:off x="4754880" y="3556800"/>
            <a:ext cx="360" cy="274320"/>
          </a:xfrm>
          <a:prstGeom prst="line">
            <a:avLst/>
          </a:prstGeom>
          <a:ln w="190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18"/>
          <p:cNvSpPr/>
          <p:nvPr/>
        </p:nvSpPr>
        <p:spPr>
          <a:xfrm>
            <a:off x="7324200" y="3300840"/>
            <a:ext cx="255600" cy="2556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9"/>
          <p:cNvSpPr/>
          <p:nvPr/>
        </p:nvSpPr>
        <p:spPr>
          <a:xfrm>
            <a:off x="7324200" y="32871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7"/>
                </a:solidFill>
                <a:latin typeface="Calibri"/>
                <a:ea typeface="Calibri"/>
              </a:rPr>
              <a:t>3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20"/>
          <p:cNvSpPr/>
          <p:nvPr/>
        </p:nvSpPr>
        <p:spPr>
          <a:xfrm>
            <a:off x="6263640" y="1828800"/>
            <a:ext cx="2377080" cy="127980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6428160" y="1920240"/>
            <a:ext cx="204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2a65a"/>
                </a:solidFill>
                <a:latin typeface="Calibri"/>
                <a:ea typeface="Calibri"/>
              </a:rPr>
              <a:t>WK 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2"/>
          <p:cNvSpPr/>
          <p:nvPr/>
        </p:nvSpPr>
        <p:spPr>
          <a:xfrm>
            <a:off x="6428160" y="2148840"/>
            <a:ext cx="204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Intelligence Layer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23"/>
          <p:cNvSpPr/>
          <p:nvPr/>
        </p:nvSpPr>
        <p:spPr>
          <a:xfrm>
            <a:off x="6428160" y="2487240"/>
            <a:ext cx="2048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8"/>
                </a:solidFill>
                <a:latin typeface="Calibri"/>
                <a:ea typeface="Calibri"/>
              </a:rPr>
              <a:t>Risk aggregator, SHAP explanations, rule-based recommendation engine.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4"/>
          <p:cNvSpPr/>
          <p:nvPr/>
        </p:nvSpPr>
        <p:spPr>
          <a:xfrm>
            <a:off x="7452360" y="3556800"/>
            <a:ext cx="360" cy="274320"/>
          </a:xfrm>
          <a:prstGeom prst="line">
            <a:avLst/>
          </a:prstGeom>
          <a:ln w="190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5"/>
          <p:cNvSpPr/>
          <p:nvPr/>
        </p:nvSpPr>
        <p:spPr>
          <a:xfrm>
            <a:off x="10021680" y="3300840"/>
            <a:ext cx="255600" cy="255600"/>
          </a:xfrm>
          <a:prstGeom prst="ellipse">
            <a:avLst/>
          </a:prstGeom>
          <a:solidFill>
            <a:srgbClr val="f2a65a"/>
          </a:solidFill>
          <a:ln w="254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26"/>
          <p:cNvSpPr/>
          <p:nvPr/>
        </p:nvSpPr>
        <p:spPr>
          <a:xfrm>
            <a:off x="10021680" y="32871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41a47"/>
                </a:solidFill>
                <a:latin typeface="Calibri"/>
                <a:ea typeface="Calibri"/>
              </a:rPr>
              <a:t>4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27"/>
          <p:cNvSpPr/>
          <p:nvPr/>
        </p:nvSpPr>
        <p:spPr>
          <a:xfrm>
            <a:off x="8961120" y="1828800"/>
            <a:ext cx="2377080" cy="1279800"/>
          </a:xfrm>
          <a:prstGeom prst="roundRect">
            <a:avLst>
              <a:gd name="adj" fmla="val 5714"/>
            </a:avLst>
          </a:prstGeom>
          <a:solidFill>
            <a:srgbClr val="f2f5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8"/>
          <p:cNvSpPr/>
          <p:nvPr/>
        </p:nvSpPr>
        <p:spPr>
          <a:xfrm>
            <a:off x="9125640" y="1920240"/>
            <a:ext cx="204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f2a65a"/>
                </a:solidFill>
                <a:latin typeface="Calibri"/>
                <a:ea typeface="Calibri"/>
              </a:rPr>
              <a:t>WK 11-13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9"/>
          <p:cNvSpPr/>
          <p:nvPr/>
        </p:nvSpPr>
        <p:spPr>
          <a:xfrm>
            <a:off x="9125640" y="2148840"/>
            <a:ext cx="2048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e2761"/>
                </a:solidFill>
                <a:latin typeface="Cambria"/>
                <a:ea typeface="Cambria"/>
              </a:rPr>
              <a:t>Product &amp; Polish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30"/>
          <p:cNvSpPr/>
          <p:nvPr/>
        </p:nvSpPr>
        <p:spPr>
          <a:xfrm>
            <a:off x="9125640" y="2487240"/>
            <a:ext cx="20480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b6478"/>
                </a:solidFill>
                <a:latin typeface="Calibri"/>
                <a:ea typeface="Calibri"/>
              </a:rPr>
              <a:t>6-page Streamlit dashboard, end-to-end testing, README &amp; demo script.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31"/>
          <p:cNvSpPr/>
          <p:nvPr/>
        </p:nvSpPr>
        <p:spPr>
          <a:xfrm>
            <a:off x="10149840" y="3556800"/>
            <a:ext cx="360" cy="274320"/>
          </a:xfrm>
          <a:prstGeom prst="line">
            <a:avLst/>
          </a:prstGeom>
          <a:ln w="19050">
            <a:solidFill>
              <a:srgbClr val="cadc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2"/>
          <p:cNvSpPr/>
          <p:nvPr/>
        </p:nvSpPr>
        <p:spPr>
          <a:xfrm>
            <a:off x="868680" y="3813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b6478"/>
                </a:solidFill>
                <a:latin typeface="Calibri"/>
                <a:ea typeface="Calibri"/>
              </a:rPr>
              <a:t>3 datasets ready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3"/>
          <p:cNvSpPr/>
          <p:nvPr/>
        </p:nvSpPr>
        <p:spPr>
          <a:xfrm>
            <a:off x="3566160" y="3813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b6478"/>
                </a:solidFill>
                <a:latin typeface="Calibri"/>
                <a:ea typeface="Calibri"/>
              </a:rPr>
              <a:t>AUC &gt; 0.80 · F1 &gt; 0.75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4"/>
          <p:cNvSpPr/>
          <p:nvPr/>
        </p:nvSpPr>
        <p:spPr>
          <a:xfrm>
            <a:off x="6263640" y="3813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b6478"/>
                </a:solidFill>
                <a:latin typeface="Calibri"/>
                <a:ea typeface="Calibri"/>
              </a:rPr>
              <a:t>SHAP + recommendations live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5"/>
          <p:cNvSpPr/>
          <p:nvPr/>
        </p:nvSpPr>
        <p:spPr>
          <a:xfrm>
            <a:off x="8961120" y="3813120"/>
            <a:ext cx="2377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b6478"/>
                </a:solidFill>
                <a:latin typeface="Calibri"/>
                <a:ea typeface="Calibri"/>
              </a:rPr>
              <a:t>Full demo, 3 companies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6"/>
          <p:cNvSpPr/>
          <p:nvPr/>
        </p:nvSpPr>
        <p:spPr>
          <a:xfrm>
            <a:off x="868680" y="5257800"/>
            <a:ext cx="10469520" cy="86832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37"/>
          <p:cNvSpPr/>
          <p:nvPr/>
        </p:nvSpPr>
        <p:spPr>
          <a:xfrm>
            <a:off x="1188720" y="5422320"/>
            <a:ext cx="548280" cy="54828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6" name="Image 0" descr="/home/claude/ppt_build/icons/compass.png"/>
          <p:cNvPicPr/>
          <p:nvPr/>
        </p:nvPicPr>
        <p:blipFill>
          <a:blip r:embed="rId1"/>
          <a:stretch/>
        </p:blipFill>
        <p:spPr>
          <a:xfrm>
            <a:off x="1312200" y="5545800"/>
            <a:ext cx="301320" cy="301320"/>
          </a:xfrm>
          <a:prstGeom prst="rect">
            <a:avLst/>
          </a:prstGeom>
          <a:ln w="0">
            <a:noFill/>
          </a:ln>
        </p:spPr>
      </p:pic>
      <p:sp>
        <p:nvSpPr>
          <p:cNvPr id="267" name="Text 38"/>
          <p:cNvSpPr/>
          <p:nvPr/>
        </p:nvSpPr>
        <p:spPr>
          <a:xfrm>
            <a:off x="1874520" y="5376600"/>
            <a:ext cx="3931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mbria"/>
                <a:ea typeface="Cambria"/>
              </a:rPr>
              <a:t>Optional Phase 11 — API &amp; Deployment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9"/>
          <p:cNvSpPr/>
          <p:nvPr/>
        </p:nvSpPr>
        <p:spPr>
          <a:xfrm>
            <a:off x="1874520" y="5687640"/>
            <a:ext cx="9052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adcfc"/>
                </a:solidFill>
                <a:latin typeface="Calibri"/>
                <a:ea typeface="Calibri"/>
              </a:rPr>
              <a:t>FastAPI endpoints, PostgreSQL, Docker and CI — only if time allows post-competition.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40"/>
          <p:cNvSpPr/>
          <p:nvPr/>
        </p:nvSpPr>
        <p:spPr>
          <a:xfrm>
            <a:off x="548640" y="6546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StartupShield AI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41"/>
          <p:cNvSpPr/>
          <p:nvPr/>
        </p:nvSpPr>
        <p:spPr>
          <a:xfrm>
            <a:off x="11094480" y="654696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1a3"/>
                </a:solidFill>
                <a:latin typeface="Calibri"/>
                <a:ea typeface="Calibri"/>
              </a:rPr>
              <a:t>8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-2377440" y="3840480"/>
            <a:ext cx="5668920" cy="566892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Shape 1"/>
          <p:cNvSpPr/>
          <p:nvPr/>
        </p:nvSpPr>
        <p:spPr>
          <a:xfrm>
            <a:off x="9966960" y="-2377440"/>
            <a:ext cx="4937400" cy="4937400"/>
          </a:xfrm>
          <a:prstGeom prst="ellipse">
            <a:avLst/>
          </a:prstGeom>
          <a:solidFill>
            <a:srgbClr val="141a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2"/>
          <p:cNvSpPr/>
          <p:nvPr/>
        </p:nvSpPr>
        <p:spPr>
          <a:xfrm>
            <a:off x="5524200" y="1348920"/>
            <a:ext cx="1142640" cy="1142640"/>
          </a:xfrm>
          <a:prstGeom prst="ellipse">
            <a:avLst/>
          </a:prstGeom>
          <a:solidFill>
            <a:srgbClr val="f2a65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e276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4" name="Image 0" descr="/home/claude/ppt_build/icons/shield.png"/>
          <p:cNvPicPr/>
          <p:nvPr/>
        </p:nvPicPr>
        <p:blipFill>
          <a:blip r:embed="rId1"/>
          <a:stretch/>
        </p:blipFill>
        <p:spPr>
          <a:xfrm>
            <a:off x="5810040" y="1634400"/>
            <a:ext cx="571320" cy="571320"/>
          </a:xfrm>
          <a:prstGeom prst="rect">
            <a:avLst/>
          </a:prstGeom>
          <a:ln w="0">
            <a:noFill/>
          </a:ln>
        </p:spPr>
      </p:pic>
      <p:sp>
        <p:nvSpPr>
          <p:cNvPr id="275" name="Text 3"/>
          <p:cNvSpPr/>
          <p:nvPr/>
        </p:nvSpPr>
        <p:spPr>
          <a:xfrm>
            <a:off x="0" y="2880360"/>
            <a:ext cx="1219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pc="-1" strike="noStrike">
                <a:solidFill>
                  <a:srgbClr val="ffffff"/>
                </a:solidFill>
                <a:latin typeface="Cambria"/>
                <a:ea typeface="Cambria"/>
              </a:rPr>
              <a:t>Thank You</a:t>
            </a:r>
            <a:endParaRPr b="0" lang="en-IN" sz="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4"/>
          <p:cNvSpPr/>
          <p:nvPr/>
        </p:nvSpPr>
        <p:spPr>
          <a:xfrm>
            <a:off x="1645920" y="3657600"/>
            <a:ext cx="8899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adcfc"/>
                </a:solidFill>
                <a:latin typeface="Calibri"/>
                <a:ea typeface="Calibri"/>
              </a:rPr>
              <a:t>StartupShield AI — one dashboard that tells founders if they're at risk, why, and what to do about it.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5"/>
          <p:cNvSpPr/>
          <p:nvPr/>
        </p:nvSpPr>
        <p:spPr>
          <a:xfrm>
            <a:off x="5546880" y="4572000"/>
            <a:ext cx="1097280" cy="360"/>
          </a:xfrm>
          <a:prstGeom prst="line">
            <a:avLst/>
          </a:prstGeom>
          <a:ln w="19050">
            <a:solidFill>
              <a:srgbClr val="f2a6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6"/>
          <p:cNvSpPr/>
          <p:nvPr/>
        </p:nvSpPr>
        <p:spPr>
          <a:xfrm>
            <a:off x="0" y="475488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fb3e0"/>
                </a:solidFill>
                <a:latin typeface="Calibri"/>
                <a:ea typeface="Calibri"/>
              </a:rPr>
              <a:t>Questions &amp; discussion welcome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2026-08-17T11:48:44Z</dcterms:created>
  <dc:creator>PptxGenJS</dc:creator>
  <dc:description/>
  <dc:language>en-IN</dc:language>
  <cp:lastModifiedBy/>
  <dcterms:modified xsi:type="dcterms:W3CDTF">2026-08-17T17:22:22Z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